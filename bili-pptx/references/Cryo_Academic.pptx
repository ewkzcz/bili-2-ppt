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开场：今天介绍 vLLM——目前最常用的开源大模型推理与服务框架之一。重点讲两件事：它为什么快（PagedAttention 与调度），以及怎么用（部署与调参）。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目录：共六部分。前两部分讲问题与核心思想，中间讲系统和特性，最后讲评测与部署。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先讲问题。解码是逐 token 的，GPU 算力用不满，瓶颈在显存带宽；要提高吞吐就得加大 batch，而 batch 大小受限于 KV cache 能放下多少。传统做法按最大长度连续预分配，导致大量浪费——论文测得只有 20%–38% 的 KV 显存真正在用。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进入核心：PagedAttention。一句话概括——像操作系统管理内存页一样管理 KV cache。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看图：左边是请求 A 的逻辑块，连续编号；右边是显存里的物理块，A 的数据实际放在 7、1、3 号块上，中间靠块表记录映射。新 token 只写进最后一块，满了再申请，所以浪费只在最后一块。多个序列可以共享同一物理块，写的时候再复制。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架构分三层：前端进程负责 HTTP 与分词；EngineCore 是一个忙循环，调度器每一步给每个请求分配 token 数，KV cache 管理器负责块分配和前缀缓存，执行器把调度结果下发给各 GPU Worker。两个进程之间用 ZeroMQ 通信，CPU 工作和 GPU 计算可以重叠。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八个特性分四组：调度层面是连续批处理和分块预填充；缓存层面是前缀缓存；解码层面是投机解码和量化；部署层面是分布式并行、OpenAI 兼容接口和多硬件支持。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评测结论：论文中和 FasterTransformer、Orca 相比，在相同延迟下吞吐提升 2 到 4 倍；官方博客中相对 HF Transformers 最高 24 倍、相对 TGI 最高 3.5 倍。注意这些是“最高”数字，实际收益取决于模型、序列长度和硬件。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两种用法：左边是在线服务，一条命令起一个 OpenAI 兼容的 HTTP 服务，任何 OpenAI SDK 都能直接调用；右边是离线批量推理，适合跑评测集或做数据合成。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调参时记住一个核心取舍：KV cache 显存是固定的，上下文开得越长，能并发的请求就越少。最常调的是前三个参数。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总结三点，然后一句话：vLLM 等于 PagedAttention 管显存，加连续批处理管调度，再加上持续的系统工程优化。参考文献列在右侧。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感谢聆听，欢迎提问。代码、文档和论文链接在左侧。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17" y="0"/>
            <a:ext cx="5333878" cy="6857817"/>
          </a:xfrm>
          <a:prstGeom prst="roundRect">
            <a:avLst>
              <a:gd name="adj" fmla="val 2858"/>
            </a:avLst>
          </a:prstGeom>
          <a:solidFill>
            <a:srgbClr val="CFE2FF"/>
          </a:solidFill>
          <a:ln/>
        </p:spPr>
      </p:sp>
      <p:sp>
        <p:nvSpPr>
          <p:cNvPr id="3" name="Shape 1"/>
          <p:cNvSpPr/>
          <p:nvPr/>
        </p:nvSpPr>
        <p:spPr>
          <a:xfrm>
            <a:off x="7848387" y="1371600"/>
            <a:ext cx="2920959" cy="2920959"/>
          </a:xfrm>
          <a:prstGeom prst="roundRect">
            <a:avLst>
              <a:gd name="adj" fmla="val 5219"/>
            </a:avLst>
          </a:prstGeom>
          <a:solidFill>
            <a:srgbClr val="A8CCFF"/>
          </a:solidFill>
          <a:ln/>
        </p:spPr>
      </p:sp>
      <p:sp>
        <p:nvSpPr>
          <p:cNvPr id="4" name="Shape 2"/>
          <p:cNvSpPr/>
          <p:nvPr/>
        </p:nvSpPr>
        <p:spPr>
          <a:xfrm>
            <a:off x="10007376" y="3682929"/>
            <a:ext cx="1270010" cy="1270010"/>
          </a:xfrm>
          <a:prstGeom prst="roundRect">
            <a:avLst>
              <a:gd name="adj" fmla="val 7999"/>
            </a:avLst>
          </a:prstGeom>
          <a:solidFill>
            <a:srgbClr val="1F6BFF"/>
          </a:solidFill>
          <a:ln/>
        </p:spPr>
      </p:sp>
      <p:sp>
        <p:nvSpPr>
          <p:cNvPr id="5" name="Shape 3"/>
          <p:cNvSpPr/>
          <p:nvPr/>
        </p:nvSpPr>
        <p:spPr>
          <a:xfrm>
            <a:off x="7543617" y="4673498"/>
            <a:ext cx="355610" cy="355610"/>
          </a:xfrm>
          <a:prstGeom prst="roundRect">
            <a:avLst>
              <a:gd name="adj" fmla="val 49987"/>
            </a:avLst>
          </a:prstGeom>
          <a:solidFill>
            <a:srgbClr val="FFC3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017" y="6045007"/>
            <a:ext cx="5556077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4FB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EFFICIENT LLM SERVING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77970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55710" y="711220"/>
            <a:ext cx="452810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TECHNICAL SEMINAR · LLM SYSTEMS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1051469"/>
            <a:ext cx="6826087" cy="133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0"/>
              </a:lnSpc>
              <a:buNone/>
            </a:pPr>
            <a:r>
              <a:rPr lang="en-US" sz="10000" b="1" spc="-200" kern="0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vLLM</a:t>
            </a:r>
            <a:endParaRPr lang="en-US" sz="100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2511948"/>
            <a:ext cx="6826087" cy="47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23A9C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大模型高效推理与服务框架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3115178"/>
            <a:ext cx="5788518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从 PagedAttention 到 V1 引擎：显存管理、连续批处理与高吞吐 LLM Serving 的原理与实践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10" y="5269321"/>
            <a:ext cx="5460888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2810" y="5436840"/>
            <a:ext cx="8730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汇报人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63659" y="5428061"/>
            <a:ext cx="1822948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[姓名] · [职位 / 年级]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5731459"/>
            <a:ext cx="8730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单位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63659" y="5722590"/>
            <a:ext cx="1903324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[学校 / 学院 / 实验室]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2810" y="6025987"/>
            <a:ext cx="8730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日期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63659" y="6017209"/>
            <a:ext cx="2763774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[2026 年 X 月 X 日] · 组会报告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116851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目录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578529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10" y="1788109"/>
            <a:ext cx="2095439" cy="4053810"/>
          </a:xfrm>
          <a:prstGeom prst="roundRect">
            <a:avLst>
              <a:gd name="adj" fmla="val 5455"/>
            </a:avLst>
          </a:prstGeom>
          <a:solidFill>
            <a:srgbClr val="CFE2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10" y="2016709"/>
            <a:ext cx="304770" cy="304770"/>
          </a:xfrm>
          <a:prstGeom prst="roundRect">
            <a:avLst>
              <a:gd name="adj" fmla="val 20822"/>
            </a:avLst>
          </a:prstGeom>
          <a:solidFill>
            <a:srgbClr val="1F6B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1410" y="4101998"/>
            <a:ext cx="2047799" cy="1015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6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1041410" y="5117988"/>
            <a:ext cx="2047799" cy="49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个部分，约 25 分钟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预留 10 分钟讨论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3859" y="1794419"/>
            <a:ext cx="398138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63859" y="1978579"/>
            <a:ext cx="761970" cy="11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025829" y="1978579"/>
            <a:ext cx="4024183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25829" y="2273107"/>
            <a:ext cx="3412541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LLM 推理为何慢、为何贵：解码阶段的显存与带宽瓶颈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97587" y="1794419"/>
            <a:ext cx="398138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97587" y="1978579"/>
            <a:ext cx="761970" cy="11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159557" y="1978579"/>
            <a:ext cx="4024183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PagedAttention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59557" y="2273107"/>
            <a:ext cx="3412541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借鉴虚拟内存分页，重新设计 KV cache 的分配与共享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63859" y="3281782"/>
            <a:ext cx="398138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63859" y="3465942"/>
            <a:ext cx="761970" cy="11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025829" y="3465942"/>
            <a:ext cx="4024183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025829" y="3760470"/>
            <a:ext cx="3412541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V1 引擎：API Server、EngineCore、调度器与执行器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97587" y="3281782"/>
            <a:ext cx="398138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97587" y="3465942"/>
            <a:ext cx="761970" cy="11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159557" y="3465942"/>
            <a:ext cx="4024183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159557" y="3760470"/>
            <a:ext cx="3412541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连续批处理、分块预填充、前缀缓存、投机解码与量化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63859" y="4769145"/>
            <a:ext cx="398138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63859" y="4953305"/>
            <a:ext cx="761970" cy="88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4025829" y="4953305"/>
            <a:ext cx="4024183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性能评测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025829" y="5247833"/>
            <a:ext cx="4024183" cy="255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吞吐、显存利用率与延迟的对比结果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97587" y="4769145"/>
            <a:ext cx="398138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97587" y="4953305"/>
            <a:ext cx="761970" cy="88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159557" y="4953305"/>
            <a:ext cx="4024183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部署实践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159557" y="5247833"/>
            <a:ext cx="4024183" cy="255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快速上手、关键启动参数与调优建议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5" name="Shape 33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9" name="Shape 37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0" name="Shape 38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1" name="Shape 39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2" name="Shape 40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3" name="Shape 41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4" name="Shape 42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5" name="Shape 43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219108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01 — BACKGROUND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研究背景：LLM 推理的显存瓶颈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457919"/>
            <a:ext cx="13207685" cy="29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解码阶段是 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memory-bound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的：吞吐上限取决于显存中能同时容纳多少请求的 KV cache。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1962668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10" y="2172249"/>
            <a:ext cx="3386572" cy="1820936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2299" y="2381829"/>
            <a:ext cx="370935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 · 自回归解码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2299" y="2671328"/>
            <a:ext cx="3709355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每步只生成一个 token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22299" y="2991277"/>
            <a:ext cx="3145536" cy="79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每次前向都要读取全部权重与历史 KV，算术强度低，</a:t>
            </a: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瓶颈在显存带宽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；增大 batch 是摊薄开销的关键。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2562" y="2172249"/>
            <a:ext cx="3386572" cy="1820936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2051" y="2381829"/>
            <a:ext cx="370935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B · KV cache 大且动态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12051" y="2671328"/>
            <a:ext cx="3709355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单 token ≈ 800 KB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2051" y="2991277"/>
            <a:ext cx="3145536" cy="79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OPT-13B：2 × 40 层 × 5120 维 × 2 字节。2048 token 的请求可达 </a:t>
            </a: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1.6 GB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，且输出长度事先未知。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2222" y="2172249"/>
            <a:ext cx="3386572" cy="1820936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01802" y="2381829"/>
            <a:ext cx="370935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 · 连续分配造成浪费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01802" y="2671328"/>
            <a:ext cx="3709355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预留与内外碎片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01802" y="2991277"/>
            <a:ext cx="3145536" cy="79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既有系统按最大长度预分配连续显存，仅 </a:t>
            </a:r>
            <a:r>
              <a:rPr lang="en-US" sz="1300" b="1" dirty="0">
                <a:solidFill>
                  <a:srgbClr val="D4213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20.4%–38.2%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真正存放了 token 状态。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4207794"/>
            <a:ext cx="1111179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既有系统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54129" y="4196364"/>
            <a:ext cx="2832628" cy="254020"/>
          </a:xfrm>
          <a:prstGeom prst="roundRect">
            <a:avLst>
              <a:gd name="adj" fmla="val 7487"/>
            </a:avLst>
          </a:prstGeom>
          <a:solidFill>
            <a:srgbClr val="155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5868" y="4196364"/>
            <a:ext cx="3210367" cy="254020"/>
          </a:xfrm>
          <a:prstGeom prst="roundRect">
            <a:avLst>
              <a:gd name="adj" fmla="val 7487"/>
            </a:avLst>
          </a:prstGeom>
          <a:solidFill>
            <a:srgbClr val="E3EE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5255" y="4196364"/>
            <a:ext cx="2077334" cy="254020"/>
          </a:xfrm>
          <a:prstGeom prst="roundRect">
            <a:avLst>
              <a:gd name="adj" fmla="val 7487"/>
            </a:avLst>
          </a:prstGeom>
          <a:solidFill>
            <a:srgbClr val="FFC31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1517" y="4196364"/>
            <a:ext cx="1347368" cy="254020"/>
          </a:xfrm>
          <a:prstGeom prst="roundRect">
            <a:avLst>
              <a:gd name="adj" fmla="val 7487"/>
            </a:avLst>
          </a:prstGeom>
          <a:ln w="12700">
            <a:solidFill>
              <a:srgbClr val="D421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2810" y="4550694"/>
            <a:ext cx="1111179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54129" y="4539264"/>
            <a:ext cx="9125529" cy="254020"/>
          </a:xfrm>
          <a:prstGeom prst="roundRect">
            <a:avLst>
              <a:gd name="adj" fmla="val 7487"/>
            </a:avLst>
          </a:prstGeom>
          <a:solidFill>
            <a:srgbClr val="155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98678" y="4539264"/>
            <a:ext cx="380208" cy="254020"/>
          </a:xfrm>
          <a:prstGeom prst="roundRect">
            <a:avLst>
              <a:gd name="adj" fmla="val 7487"/>
            </a:avLst>
          </a:prstGeom>
          <a:solidFill>
            <a:srgbClr val="FFC31A"/>
          </a:solidFill>
          <a:ln/>
        </p:spPr>
      </p:sp>
      <p:sp>
        <p:nvSpPr>
          <p:cNvPr id="27" name="Shape 25"/>
          <p:cNvSpPr/>
          <p:nvPr/>
        </p:nvSpPr>
        <p:spPr>
          <a:xfrm>
            <a:off x="1854129" y="4931634"/>
            <a:ext cx="114300" cy="114300"/>
          </a:xfrm>
          <a:prstGeom prst="roundRect">
            <a:avLst>
              <a:gd name="adj" fmla="val 11120"/>
            </a:avLst>
          </a:prstGeom>
          <a:solidFill>
            <a:srgbClr val="1558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031980" y="4882164"/>
            <a:ext cx="90004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token 状态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80578" y="4931634"/>
            <a:ext cx="114300" cy="114300"/>
          </a:xfrm>
          <a:prstGeom prst="roundRect">
            <a:avLst>
              <a:gd name="adj" fmla="val 11120"/>
            </a:avLst>
          </a:prstGeom>
          <a:solidFill>
            <a:srgbClr val="E3EE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58338" y="4882164"/>
            <a:ext cx="38103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预留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91707" y="4931634"/>
            <a:ext cx="114300" cy="114300"/>
          </a:xfrm>
          <a:prstGeom prst="roundRect">
            <a:avLst>
              <a:gd name="adj" fmla="val 11120"/>
            </a:avLst>
          </a:prstGeom>
          <a:solidFill>
            <a:srgbClr val="FFC3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69558" y="4882164"/>
            <a:ext cx="76197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内部碎片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7697" y="4931634"/>
            <a:ext cx="114300" cy="114300"/>
          </a:xfrm>
          <a:prstGeom prst="roundRect">
            <a:avLst>
              <a:gd name="adj" fmla="val 11120"/>
            </a:avLst>
          </a:prstGeom>
          <a:ln w="12700">
            <a:solidFill>
              <a:srgbClr val="D421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85548" y="4882164"/>
            <a:ext cx="76197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外部碎片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854129" y="5184374"/>
            <a:ext cx="1190594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Fig. 1 |</a:t>
            </a: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KV cache 显存构成示意（非精确比例）。vLLM 浪费 &lt; 4%。来源：Kwon et al., SOSP 2023。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0" name="Shape 38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2" name="Shape 40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3" name="Shape 41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4" name="Shape 42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5" name="Shape 43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6" name="Shape 44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7" name="Shape 45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87" y="0"/>
            <a:ext cx="4571909" cy="6857817"/>
          </a:xfrm>
          <a:prstGeom prst="roundRect">
            <a:avLst>
              <a:gd name="adj" fmla="val 3334"/>
            </a:avLst>
          </a:prstGeom>
          <a:solidFill>
            <a:srgbClr val="CFE2FF"/>
          </a:solidFill>
          <a:ln/>
        </p:spPr>
      </p:sp>
      <p:sp>
        <p:nvSpPr>
          <p:cNvPr id="3" name="Shape 1"/>
          <p:cNvSpPr/>
          <p:nvPr/>
        </p:nvSpPr>
        <p:spPr>
          <a:xfrm>
            <a:off x="8356427" y="1523939"/>
            <a:ext cx="2539929" cy="2539929"/>
          </a:xfrm>
          <a:prstGeom prst="roundRect">
            <a:avLst>
              <a:gd name="adj" fmla="val 6001"/>
            </a:avLst>
          </a:prstGeom>
          <a:solidFill>
            <a:srgbClr val="A8CCFF"/>
          </a:solidFill>
          <a:ln/>
        </p:spPr>
      </p:sp>
      <p:sp>
        <p:nvSpPr>
          <p:cNvPr id="4" name="Shape 2"/>
          <p:cNvSpPr/>
          <p:nvPr/>
        </p:nvSpPr>
        <p:spPr>
          <a:xfrm>
            <a:off x="10210556" y="3555919"/>
            <a:ext cx="1066739" cy="1066739"/>
          </a:xfrm>
          <a:prstGeom prst="roundRect">
            <a:avLst>
              <a:gd name="adj" fmla="val 8332"/>
            </a:avLst>
          </a:prstGeom>
          <a:solidFill>
            <a:srgbClr val="1F6BFF"/>
          </a:solidFill>
          <a:ln/>
        </p:spPr>
      </p:sp>
      <p:sp>
        <p:nvSpPr>
          <p:cNvPr id="5" name="Shape 3"/>
          <p:cNvSpPr/>
          <p:nvPr/>
        </p:nvSpPr>
        <p:spPr>
          <a:xfrm>
            <a:off x="8508766" y="4444898"/>
            <a:ext cx="304770" cy="304770"/>
          </a:xfrm>
          <a:prstGeom prst="roundRect">
            <a:avLst>
              <a:gd name="adj" fmla="val 50015"/>
            </a:avLst>
          </a:prstGeom>
          <a:solidFill>
            <a:srgbClr val="7C4D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417" y="5587898"/>
            <a:ext cx="412741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4FB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LOGICAL ≠ PHYSICAL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982980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55710" y="914400"/>
            <a:ext cx="10225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PART 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1305489"/>
            <a:ext cx="13207685" cy="15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0"/>
              </a:lnSpc>
              <a:buNone/>
            </a:pPr>
            <a:r>
              <a:rPr lang="en-US" sz="13000" dirty="0">
                <a:ln w="12700">
                  <a:solidFill>
                    <a:srgbClr val="1558E8"/>
                  </a:solidFill>
                </a:ln>
                <a:solidFill>
                  <a:srgbClr val="E3EE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3051719"/>
            <a:ext cx="13207685" cy="67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PagedAttention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3900007"/>
            <a:ext cx="63270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把操作系统虚拟内存的“分页”思想引入 KV cache 管理：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按块分配、按需增长、跨请求共享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，从根源上消除显存碎片。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10" y="4706417"/>
            <a:ext cx="1209203" cy="289499"/>
          </a:xfrm>
          <a:prstGeom prst="roundRect">
            <a:avLst>
              <a:gd name="adj" fmla="val 6570"/>
            </a:avLst>
          </a:prstGeom>
          <a:solidFill>
            <a:srgbClr val="E3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744547"/>
            <a:ext cx="12575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BLOCK 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10892" y="4706417"/>
            <a:ext cx="1392083" cy="289499"/>
          </a:xfrm>
          <a:prstGeom prst="roundRect">
            <a:avLst>
              <a:gd name="adj" fmla="val 6570"/>
            </a:avLst>
          </a:prstGeom>
          <a:solidFill>
            <a:srgbClr val="E3EE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12482" y="4744547"/>
            <a:ext cx="14861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COPY-ON-WRITE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91946" y="4706417"/>
            <a:ext cx="1575054" cy="289499"/>
          </a:xfrm>
          <a:prstGeom prst="roundRect">
            <a:avLst>
              <a:gd name="adj" fmla="val 6570"/>
            </a:avLst>
          </a:prstGeom>
          <a:solidFill>
            <a:srgbClr val="E3EE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93536" y="4744547"/>
            <a:ext cx="1714866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NEAR-ZERO WASTE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7" name="Shape 25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9" name="Shape 27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33444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277529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02 — PAGEDATTENTION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PagedAttention：分页式 KV cache 管理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457919"/>
            <a:ext cx="13207685" cy="29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逻辑上连续、物理上离散：通过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块表（block table）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把每个请求的 KV cache 映射到任意空闲物理块。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1962668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2719" y="2172249"/>
            <a:ext cx="4014216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固定大小的 KV 块：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每块存放固定数量 token 的 K/V（默认 16 个），是分配与回收的最小单位。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2719" y="2741737"/>
            <a:ext cx="4014216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块表映射：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类似页表，物理块无需连续，外部碎片被消除。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2719" y="3311225"/>
            <a:ext cx="4014216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按需分配：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最后一块写满才申请新块，浪费 </a:t>
            </a:r>
            <a:r>
              <a:rPr lang="en-US" sz="13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&lt; 4%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2719" y="3880714"/>
            <a:ext cx="4014216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共享与写时复制：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并行采样、beam search 可共享物理块。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14809" y="2172249"/>
            <a:ext cx="6464168" cy="3680369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98877" y="2330988"/>
            <a:ext cx="380993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</a:t>
            </a: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逻辑 KV 块（请求 A）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35826" y="2330988"/>
            <a:ext cx="26986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</a:t>
            </a: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物理 KV 块（显存）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98877" y="2681478"/>
            <a:ext cx="37929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B0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406" y="263575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1402" y="263575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Four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0752" y="263575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1748" y="263575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81008" y="263575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02003" y="263575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1354" y="263575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72350" y="263575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seven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98877" y="3062508"/>
            <a:ext cx="37929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B1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40406" y="301678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61402" y="301678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years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10752" y="301678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1748" y="301678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ago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81008" y="301678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02003" y="301678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our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1354" y="301678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72350" y="301678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fathers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98877" y="3443539"/>
            <a:ext cx="37929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B2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40406" y="3397728"/>
            <a:ext cx="632216" cy="304770"/>
          </a:xfrm>
          <a:prstGeom prst="roundRect">
            <a:avLst>
              <a:gd name="adj" fmla="val 6241"/>
            </a:avLst>
          </a:prstGeom>
          <a:solidFill>
            <a:srgbClr val="E3EE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61402" y="3397728"/>
            <a:ext cx="79022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brought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10752" y="3397728"/>
            <a:ext cx="632216" cy="304770"/>
          </a:xfrm>
          <a:prstGeom prst="roundRect">
            <a:avLst>
              <a:gd name="adj" fmla="val 6241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781008" y="3397728"/>
            <a:ext cx="632216" cy="304770"/>
          </a:xfrm>
          <a:prstGeom prst="roundRect">
            <a:avLst>
              <a:gd name="adj" fmla="val 6241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451354" y="3397728"/>
            <a:ext cx="632216" cy="304770"/>
          </a:xfrm>
          <a:prstGeom prst="roundRect">
            <a:avLst>
              <a:gd name="adj" fmla="val 6241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098877" y="4139306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90317" y="3882908"/>
            <a:ext cx="771479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逻辑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98977" y="4139306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90417" y="3882908"/>
            <a:ext cx="771479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物理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99077" y="4139306"/>
            <a:ext cx="106673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90517" y="3882908"/>
            <a:ext cx="1104870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已填充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98877" y="4429994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90317" y="4195816"/>
            <a:ext cx="771479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98977" y="4429994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90417" y="4195816"/>
            <a:ext cx="771479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99077" y="4429994"/>
            <a:ext cx="106673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90517" y="4195816"/>
            <a:ext cx="1104870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98877" y="4720681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90317" y="4486504"/>
            <a:ext cx="771479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898977" y="4720681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90417" y="4486504"/>
            <a:ext cx="771479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99077" y="4720681"/>
            <a:ext cx="106673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90517" y="4486504"/>
            <a:ext cx="1104870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098877" y="5011369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190317" y="4777191"/>
            <a:ext cx="771479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898977" y="5011369"/>
            <a:ext cx="80010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90417" y="4777191"/>
            <a:ext cx="771479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699077" y="5011369"/>
            <a:ext cx="106673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790517" y="4777191"/>
            <a:ext cx="1104870" cy="184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9035826" y="2643439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277137" y="263575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7C4DFF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59666" y="263575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7C4DFF">
              <a:alpha val="4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242286" y="263575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7C4DFF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724906" y="263575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7C4DFF">
              <a:alpha val="40000"/>
            </a:srgbClr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035826" y="2922788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277137" y="2915199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69" name="Shape 67"/>
          <p:cNvSpPr/>
          <p:nvPr/>
        </p:nvSpPr>
        <p:spPr>
          <a:xfrm>
            <a:off x="9759666" y="2915199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70" name="Shape 68"/>
          <p:cNvSpPr/>
          <p:nvPr/>
        </p:nvSpPr>
        <p:spPr>
          <a:xfrm>
            <a:off x="10242286" y="2915199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24906" y="2915199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035826" y="3202229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277137" y="319454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9759666" y="319454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10242286" y="319454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0724906" y="319454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9035826" y="3481578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277137" y="347398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79" name="Shape 77"/>
          <p:cNvSpPr/>
          <p:nvPr/>
        </p:nvSpPr>
        <p:spPr>
          <a:xfrm>
            <a:off x="9759666" y="347398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10242286" y="347398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10724906" y="347398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2" name="Text 80"/>
          <p:cNvSpPr txBox="1"/>
          <p:nvPr/>
        </p:nvSpPr>
        <p:spPr>
          <a:xfrm>
            <a:off x="9035826" y="3761019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9277137" y="375333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9759666" y="375333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10242286" y="375333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10724906" y="375333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87" name="Text 85"/>
          <p:cNvSpPr txBox="1"/>
          <p:nvPr/>
        </p:nvSpPr>
        <p:spPr>
          <a:xfrm>
            <a:off x="9035826" y="4040368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9277137" y="403277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7C4DFF">
              <a:alpha val="4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9759666" y="403277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7C4DFF">
              <a:alpha val="4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0242286" y="403277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10724906" y="403277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9035826" y="4319808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9277137" y="431212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9759666" y="431212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10242286" y="431212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10724906" y="4312128"/>
            <a:ext cx="444490" cy="228600"/>
          </a:xfrm>
          <a:prstGeom prst="roundRect">
            <a:avLst>
              <a:gd name="adj" fmla="val 8320"/>
            </a:avLst>
          </a:prstGeom>
          <a:ln w="12700">
            <a:solidFill>
              <a:srgbClr val="93B4E8"/>
            </a:solidFill>
            <a:prstDash val="dash"/>
          </a:ln>
        </p:spPr>
      </p:sp>
      <p:sp>
        <p:nvSpPr>
          <p:cNvPr id="97" name="Text 95"/>
          <p:cNvSpPr txBox="1"/>
          <p:nvPr/>
        </p:nvSpPr>
        <p:spPr>
          <a:xfrm>
            <a:off x="9035826" y="4599158"/>
            <a:ext cx="25402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9277137" y="459156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99" name="Shape 97"/>
          <p:cNvSpPr/>
          <p:nvPr/>
        </p:nvSpPr>
        <p:spPr>
          <a:xfrm>
            <a:off x="9759666" y="459156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2286" y="459156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724906" y="4591568"/>
            <a:ext cx="444490" cy="228600"/>
          </a:xfrm>
          <a:prstGeom prst="roundRect">
            <a:avLst>
              <a:gd name="adj" fmla="val 8320"/>
            </a:avLst>
          </a:prstGeom>
          <a:solidFill>
            <a:srgbClr val="1558E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08716" y="2788188"/>
            <a:ext cx="1130290" cy="1917680"/>
          </a:xfrm>
          <a:prstGeom prst="line">
            <a:avLst/>
          </a:prstGeom>
          <a:noFill/>
          <a:ln w="19050">
            <a:solidFill>
              <a:srgbClr val="1558E8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V="1">
            <a:off x="8108716" y="3029499"/>
            <a:ext cx="1130290" cy="139720"/>
          </a:xfrm>
          <a:prstGeom prst="line">
            <a:avLst/>
          </a:prstGeom>
          <a:noFill/>
          <a:ln w="19050">
            <a:solidFill>
              <a:srgbClr val="1558E8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8108716" y="3550158"/>
            <a:ext cx="1130290" cy="38130"/>
          </a:xfrm>
          <a:prstGeom prst="line">
            <a:avLst/>
          </a:prstGeom>
          <a:noFill/>
          <a:ln w="19050">
            <a:solidFill>
              <a:srgbClr val="1558E8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5098877" y="5237958"/>
            <a:ext cx="114300" cy="114300"/>
          </a:xfrm>
          <a:prstGeom prst="roundRect">
            <a:avLst>
              <a:gd name="adj" fmla="val 11120"/>
            </a:avLst>
          </a:prstGeom>
          <a:solidFill>
            <a:srgbClr val="1558E8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276728" y="5188397"/>
            <a:ext cx="561076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请求 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5928787" y="5237958"/>
            <a:ext cx="114300" cy="114300"/>
          </a:xfrm>
          <a:prstGeom prst="roundRect">
            <a:avLst>
              <a:gd name="adj" fmla="val 11120"/>
            </a:avLst>
          </a:prstGeom>
          <a:solidFill>
            <a:srgbClr val="CBB8F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6106546" y="5188397"/>
            <a:ext cx="561076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请求 B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6758605" y="5237958"/>
            <a:ext cx="114300" cy="114300"/>
          </a:xfrm>
          <a:prstGeom prst="roundRect">
            <a:avLst>
              <a:gd name="adj" fmla="val 11120"/>
            </a:avLst>
          </a:prstGeom>
          <a:ln w="12700">
            <a:solidFill>
              <a:srgbClr val="93B4E8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6936364" y="5188397"/>
            <a:ext cx="38103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空闲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5098877" y="5465186"/>
            <a:ext cx="7619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Fig. 2 |</a:t>
            </a: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块表映射示意（block size = 4）：请求 A 的 3 个逻辑块位于物理块 7、1、3。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248314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系统架构：vLLM V1 引擎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457919"/>
            <a:ext cx="13207685" cy="29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V1 将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输入输出处理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与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核心调度执行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拆到不同进程，让 CPU 开销与 GPU 计算充分重叠。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1962668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10" y="2172249"/>
            <a:ext cx="6349868" cy="3756538"/>
          </a:xfrm>
          <a:prstGeom prst="roundRect">
            <a:avLst>
              <a:gd name="adj" fmla="val 1689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9589" y="2330988"/>
            <a:ext cx="317488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进程 1 · 前端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9589" y="2572299"/>
            <a:ext cx="1396929" cy="609539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12700">
            <a:solidFill>
              <a:srgbClr val="93B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21343" y="2648468"/>
            <a:ext cx="573329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Client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5885" y="2892247"/>
            <a:ext cx="1044336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HTTP / SDK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7548" y="2572299"/>
            <a:ext cx="1904970" cy="609539"/>
          </a:xfrm>
          <a:prstGeom prst="roundRect">
            <a:avLst>
              <a:gd name="adj" fmla="val 6256"/>
            </a:avLst>
          </a:prstGeom>
          <a:solidFill>
            <a:srgbClr val="E3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18048" y="2648468"/>
            <a:ext cx="10439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00034" y="2892247"/>
            <a:ext cx="107999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OpenAI 兼容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3548" y="2572299"/>
            <a:ext cx="1904970" cy="609539"/>
          </a:xfrm>
          <a:prstGeom prst="roundRect">
            <a:avLst>
              <a:gd name="adj" fmla="val 6256"/>
            </a:avLst>
          </a:prstGeom>
          <a:solidFill>
            <a:srgbClr val="E3EE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04231" y="2648468"/>
            <a:ext cx="1043513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AsyncLLM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70307" y="2892247"/>
            <a:ext cx="111136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分词 / 反分词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06609" y="2877068"/>
            <a:ext cx="355610" cy="914"/>
          </a:xfrm>
          <a:prstGeom prst="line">
            <a:avLst/>
          </a:prstGeom>
          <a:noFill/>
          <a:ln w="19050">
            <a:solidFill>
              <a:srgbClr val="93B4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92518" y="2877068"/>
            <a:ext cx="355610" cy="914"/>
          </a:xfrm>
          <a:prstGeom prst="line">
            <a:avLst/>
          </a:prstGeom>
          <a:noFill/>
          <a:ln w="19050">
            <a:solidFill>
              <a:srgbClr val="93B4E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25987" y="3181838"/>
            <a:ext cx="914" cy="393649"/>
          </a:xfrm>
          <a:prstGeom prst="line">
            <a:avLst/>
          </a:prstGeom>
          <a:noFill/>
          <a:ln w="19050">
            <a:solidFill>
              <a:srgbClr val="93B4E8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127577" y="3258099"/>
            <a:ext cx="1063630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ZeroMQ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9589" y="3321558"/>
            <a:ext cx="476237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进程 2 · EngineCore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9589" y="3600999"/>
            <a:ext cx="5968837" cy="1079449"/>
          </a:xfrm>
          <a:prstGeom prst="roundRect">
            <a:avLst>
              <a:gd name="adj" fmla="val 4710"/>
            </a:avLst>
          </a:prstGeom>
          <a:solidFill>
            <a:srgbClr val="CFE2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3889" y="3715207"/>
            <a:ext cx="1777959" cy="850849"/>
          </a:xfrm>
          <a:prstGeom prst="roundRect">
            <a:avLst>
              <a:gd name="adj" fmla="val 4481"/>
            </a:avLst>
          </a:prstGeom>
          <a:solidFill>
            <a:srgbClr val="1558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513972" y="3791468"/>
            <a:ext cx="997885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76376" y="4035247"/>
            <a:ext cx="1672895" cy="42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统一 token 预算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不分 prefill / decode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39979" y="4140678"/>
            <a:ext cx="127010" cy="914"/>
          </a:xfrm>
          <a:prstGeom prst="line">
            <a:avLst/>
          </a:prstGeom>
          <a:noFill/>
          <a:ln w="19050">
            <a:solidFill>
              <a:srgbClr val="1F4F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105028" y="3715207"/>
            <a:ext cx="1777959" cy="850849"/>
          </a:xfrm>
          <a:prstGeom prst="roundRect">
            <a:avLst>
              <a:gd name="adj" fmla="val 4481"/>
            </a:avLst>
          </a:prstGeom>
          <a:solidFill>
            <a:srgbClr val="1558E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77210" y="3791468"/>
            <a:ext cx="1433596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KV Cache 管理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22599" y="4035247"/>
            <a:ext cx="1143000" cy="42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块分配与回收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前缀缓存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21118" y="4140678"/>
            <a:ext cx="127010" cy="914"/>
          </a:xfrm>
          <a:prstGeom prst="line">
            <a:avLst/>
          </a:prstGeom>
          <a:noFill/>
          <a:ln w="19050">
            <a:solidFill>
              <a:srgbClr val="1F4F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86259" y="3715207"/>
            <a:ext cx="1777959" cy="850849"/>
          </a:xfrm>
          <a:prstGeom prst="roundRect">
            <a:avLst>
              <a:gd name="adj" fmla="val 4481"/>
            </a:avLst>
          </a:prstGeom>
          <a:solidFill>
            <a:srgbClr val="155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533583" y="3791468"/>
            <a:ext cx="883128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Executor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24185" y="4035247"/>
            <a:ext cx="1301831" cy="42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单进程 / 多进程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E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下发调度结果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25987" y="4680448"/>
            <a:ext cx="914" cy="228600"/>
          </a:xfrm>
          <a:prstGeom prst="line">
            <a:avLst/>
          </a:prstGeom>
          <a:noFill/>
          <a:ln w="19050">
            <a:solidFill>
              <a:srgbClr val="93B4E8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1009589" y="4731197"/>
            <a:ext cx="5556077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GPU Workers · TP / 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09589" y="4972507"/>
            <a:ext cx="1396929" cy="533370"/>
          </a:xfrm>
          <a:prstGeom prst="roundRect">
            <a:avLst>
              <a:gd name="adj" fmla="val 7149"/>
            </a:avLst>
          </a:prstGeom>
          <a:solidFill>
            <a:srgbClr val="F7FA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68364" y="5010638"/>
            <a:ext cx="8794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Worker 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422258" y="5254417"/>
            <a:ext cx="5717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GPU 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33620" y="4972507"/>
            <a:ext cx="1396929" cy="533370"/>
          </a:xfrm>
          <a:prstGeom prst="roundRect">
            <a:avLst>
              <a:gd name="adj" fmla="val 7149"/>
            </a:avLst>
          </a:prstGeom>
          <a:solidFill>
            <a:srgbClr val="F7FA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92303" y="5010638"/>
            <a:ext cx="8794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Worker 1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946197" y="5254417"/>
            <a:ext cx="5717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GPU 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057559" y="4972507"/>
            <a:ext cx="1396929" cy="533370"/>
          </a:xfrm>
          <a:prstGeom prst="roundRect">
            <a:avLst>
              <a:gd name="adj" fmla="val 7149"/>
            </a:avLst>
          </a:prstGeom>
          <a:solidFill>
            <a:srgbClr val="F7FA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16242" y="5010638"/>
            <a:ext cx="8794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Worker 2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470136" y="5254417"/>
            <a:ext cx="5717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GPU 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81498" y="4972507"/>
            <a:ext cx="1396929" cy="533370"/>
          </a:xfrm>
          <a:prstGeom prst="roundRect">
            <a:avLst>
              <a:gd name="adj" fmla="val 7149"/>
            </a:avLst>
          </a:prstGeom>
          <a:solidFill>
            <a:srgbClr val="F7FAFF"/>
          </a:solidFill>
          <a:ln w="12700">
            <a:solidFill>
              <a:srgbClr val="1558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840273" y="5010638"/>
            <a:ext cx="8794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Worker 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994166" y="5254417"/>
            <a:ext cx="5717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GPU 3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09589" y="5556717"/>
            <a:ext cx="744522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Fig. 3 |</a:t>
            </a: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vLLM V1 主要组件与数据流（简化）。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442027" y="2172249"/>
            <a:ext cx="492111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V1 的关键设计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7441936" y="2517618"/>
            <a:ext cx="4162257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多进程解耦：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分词、反分词与 API 服务在前端进程，EngineCore 专注调度与执行。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441936" y="3087106"/>
            <a:ext cx="4162257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统一调度器：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每步按 token 预算分配，天然支持分块预填充、前缀缓存与投机解码。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441936" y="3656594"/>
            <a:ext cx="4162257" cy="25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持久化批次：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输入张量增量更新，降低 CPU 开销。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7441936" y="3970233"/>
            <a:ext cx="4162257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1610" indent="-181610">
              <a:lnSpc>
                <a:spcPts val="2010"/>
              </a:lnSpc>
              <a:buSzPct val="100000"/>
              <a:buChar char="•"/>
            </a:pPr>
            <a:r>
              <a:rPr lang="en-US" sz="1300" b="1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编译与图捕获：</a:t>
            </a: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torch.compile + 分段 CUDA Graph。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56" name="Shape 54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57" name="Shape 55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59" name="Shape 57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0" name="Shape 58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61" name="Shape 59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2" name="Shape 60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3" name="Shape 61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4" name="Shape 62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5" name="Shape 63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6" name="Shape 64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189884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04 — FEATURES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核心特性一览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457919"/>
            <a:ext cx="13207685" cy="29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以 PagedAttention 为基础，vLLM 在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调度、缓存、解码与部署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四个层面持续叠加优化。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1962668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10" y="2172249"/>
            <a:ext cx="2527219" cy="1893174"/>
          </a:xfrm>
          <a:prstGeom prst="roundRect">
            <a:avLst>
              <a:gd name="adj" fmla="val 3352"/>
            </a:avLst>
          </a:prstGeom>
          <a:solidFill>
            <a:srgbClr val="CFE2FF"/>
          </a:solidFill>
          <a:ln/>
        </p:spPr>
      </p:sp>
      <p:sp>
        <p:nvSpPr>
          <p:cNvPr id="8" name="Shape 6"/>
          <p:cNvSpPr/>
          <p:nvPr/>
        </p:nvSpPr>
        <p:spPr>
          <a:xfrm>
            <a:off x="977859" y="2374148"/>
            <a:ext cx="88880" cy="88880"/>
          </a:xfrm>
          <a:prstGeom prst="roundRect">
            <a:avLst>
              <a:gd name="adj" fmla="val 14300"/>
            </a:avLst>
          </a:prstGeom>
          <a:solidFill>
            <a:srgbClr val="5AA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311969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B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77859" y="2576048"/>
            <a:ext cx="2746309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连续批处理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77859" y="2870667"/>
            <a:ext cx="2328885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以迭代为粒度调度，请求完成即退出、新请求随时加入。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77859" y="3396905"/>
            <a:ext cx="2197029" cy="914"/>
          </a:xfrm>
          <a:prstGeom prst="line">
            <a:avLst/>
          </a:prstGeom>
          <a:noFill/>
          <a:ln w="6350">
            <a:solidFill>
              <a:srgbClr val="7FA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7859" y="3457164"/>
            <a:ext cx="2746309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B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Iteration-level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92368" y="2172249"/>
            <a:ext cx="2527219" cy="189317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3818" y="2380458"/>
            <a:ext cx="88880" cy="88880"/>
          </a:xfrm>
          <a:prstGeom prst="roundRect">
            <a:avLst>
              <a:gd name="adj" fmla="val 14300"/>
            </a:avLst>
          </a:prstGeom>
          <a:solidFill>
            <a:srgbClr val="12B7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28959" y="2318278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63818" y="2582357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分块预填充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63818" y="2876977"/>
            <a:ext cx="2315444" cy="70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长 prompt 切块与 decode 混合调度，兼顾首 token 与生成延迟。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63818" y="3639312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63818" y="3699662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TTFT ↔ ITL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017" y="2172249"/>
            <a:ext cx="2527219" cy="189317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3467" y="2380458"/>
            <a:ext cx="88880" cy="88880"/>
          </a:xfrm>
          <a:prstGeom prst="roundRect">
            <a:avLst>
              <a:gd name="adj" fmla="val 14300"/>
            </a:avLst>
          </a:prstGeom>
          <a:solidFill>
            <a:srgbClr val="FFC3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08608" y="2318278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43467" y="2582357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自动前缀缓存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43467" y="2876977"/>
            <a:ext cx="2315444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按块哈希复用相同前缀的 KV cache，跳过重复计算。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43467" y="3403214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3467" y="3463564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Hash per block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51666" y="2172249"/>
            <a:ext cx="2527219" cy="1893174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23116" y="2380458"/>
            <a:ext cx="88880" cy="88880"/>
          </a:xfrm>
          <a:prstGeom prst="roundRect">
            <a:avLst>
              <a:gd name="adj" fmla="val 14300"/>
            </a:avLst>
          </a:prstGeom>
          <a:solidFill>
            <a:srgbClr val="7C4D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88257" y="2318278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023116" y="2582357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投机解码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23116" y="2876977"/>
            <a:ext cx="2315444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n-gram、EAGLE、草稿模型等，一次验证多个候选 token。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23116" y="3403214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23116" y="3463564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Draft → Verify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2810" y="4217761"/>
            <a:ext cx="2527219" cy="1656984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4260" y="4426062"/>
            <a:ext cx="88880" cy="88880"/>
          </a:xfrm>
          <a:prstGeom prst="roundRect">
            <a:avLst>
              <a:gd name="adj" fmla="val 14300"/>
            </a:avLst>
          </a:prstGeom>
          <a:solidFill>
            <a:srgbClr val="FF3B5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49309" y="4363791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84260" y="4627961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量化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84260" y="4922490"/>
            <a:ext cx="2315444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GPTQ、AWQ、FP8、INT8 权重量化与 FP8 KV cache。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4260" y="5448727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4260" y="5509077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W4 · W8 · FP8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492368" y="4217761"/>
            <a:ext cx="2527219" cy="1656984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63818" y="4426062"/>
            <a:ext cx="88880" cy="88880"/>
          </a:xfrm>
          <a:prstGeom prst="roundRect">
            <a:avLst>
              <a:gd name="adj" fmla="val 14300"/>
            </a:avLst>
          </a:prstGeom>
          <a:solidFill>
            <a:srgbClr val="1558E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828959" y="4363791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663818" y="4627961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分布式并行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663818" y="4922490"/>
            <a:ext cx="2315444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张量、流水线、数据与专家并行，支持多卡多机。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63818" y="5448727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663818" y="5509077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TP · PP · DP · EP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72017" y="4217761"/>
            <a:ext cx="2527219" cy="1656984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43467" y="4426062"/>
            <a:ext cx="88880" cy="88880"/>
          </a:xfrm>
          <a:prstGeom prst="roundRect">
            <a:avLst>
              <a:gd name="adj" fmla="val 14300"/>
            </a:avLst>
          </a:prstGeom>
          <a:solidFill>
            <a:srgbClr val="12B76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08608" y="4363791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343467" y="4627961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兼容 OpenAI 接口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6343467" y="4922490"/>
            <a:ext cx="2315444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一条 vllm serve 启动服务，兼容 Chat Completions 等接口。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43467" y="5448727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43467" y="5509077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/v1/chat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851666" y="4217761"/>
            <a:ext cx="2527219" cy="1656984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23116" y="4426062"/>
            <a:ext cx="88880" cy="88880"/>
          </a:xfrm>
          <a:prstGeom prst="roundRect">
            <a:avLst>
              <a:gd name="adj" fmla="val 14300"/>
            </a:avLst>
          </a:prstGeom>
          <a:solidFill>
            <a:srgbClr val="7C4D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188257" y="4363791"/>
            <a:ext cx="2286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023116" y="4627961"/>
            <a:ext cx="2730398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多硬件与生态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9023116" y="4922490"/>
            <a:ext cx="2315444" cy="4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NVIDIA、AMD、Intel、TPU 等后端；直接加载 HF 模型。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23116" y="5448727"/>
            <a:ext cx="2184319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23116" y="5509077"/>
            <a:ext cx="2730398" cy="219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CUDA · ROCm · TPU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4" name="Shape 62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6" name="Shape 64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7" name="Shape 65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8" name="Shape 66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69" name="Shape 67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70" name="Shape 68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71" name="Shape 69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72" name="Shape 70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73" name="Shape 71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74" name="Shape 72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219108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05 — 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性能评测：吞吐量与显存利用率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457919"/>
            <a:ext cx="13207685" cy="29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在相同延迟约束下，vLLM 依靠更高的并发 batch 获得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数倍吞吐提升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，序列越长、模型越大收益越明显。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1962668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10" y="2172249"/>
            <a:ext cx="6349868" cy="2986888"/>
          </a:xfrm>
          <a:prstGeom prst="roundRect">
            <a:avLst>
              <a:gd name="adj" fmla="val 2125"/>
            </a:avLst>
          </a:prstGeom>
          <a:solidFill>
            <a:srgbClr val="FFFF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2299" y="2356409"/>
            <a:ext cx="7413407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</a:t>
            </a:r>
            <a:r>
              <a:rPr lang="en-US" sz="13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相对吞吐（HF Transformers = 1×）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1360" y="2852837"/>
            <a:ext cx="19049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HF Transformers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47920" y="2765237"/>
            <a:ext cx="165141" cy="406359"/>
          </a:xfrm>
          <a:prstGeom prst="roundRect">
            <a:avLst>
              <a:gd name="adj" fmla="val 11517"/>
            </a:avLst>
          </a:prstGeom>
          <a:solidFill>
            <a:srgbClr val="FFC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14559" y="2852837"/>
            <a:ext cx="495422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1.0×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1360" y="3437047"/>
            <a:ext cx="19049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TGI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47920" y="3349447"/>
            <a:ext cx="1123889" cy="406359"/>
          </a:xfrm>
          <a:prstGeom prst="roundRect">
            <a:avLst>
              <a:gd name="adj" fmla="val 4680"/>
            </a:avLst>
          </a:prstGeom>
          <a:solidFill>
            <a:srgbClr val="7C4D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73398" y="3437047"/>
            <a:ext cx="619232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≈6.9×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1360" y="4021257"/>
            <a:ext cx="1904970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47920" y="3933657"/>
            <a:ext cx="3936858" cy="406359"/>
          </a:xfrm>
          <a:prstGeom prst="roundRect">
            <a:avLst>
              <a:gd name="adj" fmla="val 4680"/>
            </a:avLst>
          </a:prstGeom>
          <a:solidFill>
            <a:srgbClr val="1558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89080" y="4012387"/>
            <a:ext cx="4794108" cy="24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24×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22299" y="4517776"/>
            <a:ext cx="62865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Fig. 4 |</a:t>
            </a: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官方博客报告的最高吞吐倍数（LLaMA 系列，A10G / A100）。TGI 值由“vLLM 为 TGI 的 3.5×”换算，仅作量级参考。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67448" y="2181758"/>
            <a:ext cx="3911529" cy="914"/>
          </a:xfrm>
          <a:prstGeom prst="line">
            <a:avLst/>
          </a:prstGeom>
          <a:noFill/>
          <a:ln w="19050">
            <a:solidFill>
              <a:srgbClr val="1558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67448" y="2343699"/>
            <a:ext cx="1587490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2–4</a:t>
            </a:r>
            <a:r>
              <a:rPr lang="en-US" sz="4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×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8889797" y="2343699"/>
            <a:ext cx="311142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vs. FasterTransformer / Orca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889797" y="2595067"/>
            <a:ext cx="2638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相同延迟水平下的吞吐提升（SOSP 2023）。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67448" y="3236427"/>
            <a:ext cx="391152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67448" y="3395167"/>
            <a:ext cx="1587490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&lt;4</a:t>
            </a:r>
            <a:r>
              <a:rPr lang="en-US" sz="4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%</a:t>
            </a:r>
            <a:endParaRPr lang="en-US" sz="4200" dirty="0"/>
          </a:p>
        </p:txBody>
      </p:sp>
      <p:sp>
        <p:nvSpPr>
          <p:cNvPr id="25" name="Text 23"/>
          <p:cNvSpPr txBox="1"/>
          <p:nvPr/>
        </p:nvSpPr>
        <p:spPr>
          <a:xfrm>
            <a:off x="8889797" y="3395167"/>
            <a:ext cx="311142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KV cache 显存浪费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89797" y="3646627"/>
            <a:ext cx="2638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既有系统有效利用率仅 20.4%–38.2%。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67448" y="4287896"/>
            <a:ext cx="3911529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67448" y="4446636"/>
            <a:ext cx="1587490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24</a:t>
            </a:r>
            <a:r>
              <a:rPr lang="en-US" sz="4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×</a:t>
            </a:r>
            <a:endParaRPr lang="en-US" sz="4200" dirty="0"/>
          </a:p>
        </p:txBody>
      </p:sp>
      <p:sp>
        <p:nvSpPr>
          <p:cNvPr id="29" name="Text 27"/>
          <p:cNvSpPr txBox="1"/>
          <p:nvPr/>
        </p:nvSpPr>
        <p:spPr>
          <a:xfrm>
            <a:off x="8889797" y="4446636"/>
            <a:ext cx="311142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vs. HF Transformers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889797" y="4698096"/>
            <a:ext cx="31114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官方博客报告的最高吞吐提升。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2" name="Shape 30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5" name="Shape 33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6" name="Shape 34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0" name="Shape 38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1" name="Shape 39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2" name="Shape 40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233702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06 — QUICK START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快速上手：在线服务与离线推理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457919"/>
            <a:ext cx="13207685" cy="29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0"/>
              </a:lnSpc>
              <a:buNone/>
            </a:pP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同一套引擎，两种入口：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 serve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面向在线 API 服务，</a:t>
            </a:r>
            <a:r>
              <a:rPr lang="en-US" sz="15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LLM</a:t>
            </a:r>
            <a:r>
              <a:rPr lang="en-US" sz="15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类面向离线批量推理。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1962668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2810" y="2172249"/>
            <a:ext cx="182276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ONLINE · SHELL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27244" y="2172249"/>
            <a:ext cx="130192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10" y="2461748"/>
            <a:ext cx="5156027" cy="3151114"/>
          </a:xfrm>
          <a:prstGeom prst="roundRect">
            <a:avLst>
              <a:gd name="adj" fmla="val 2014"/>
            </a:avLst>
          </a:prstGeom>
          <a:solidFill>
            <a:srgbClr val="EEF4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970" y="2620488"/>
            <a:ext cx="5984748" cy="283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# 安装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pip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install vllm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# 启动服务（2 卡张量并行）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vllm serve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Qwen/Qwen2.5-7B-Instruct \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--tensor-parallel-size 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\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--max-model-len 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8192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# 调用 OpenAI 兼容接口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curl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localhost:8000/v1/chat/completions \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-H 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"Content-Type: application/json"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\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-d 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'{"model": "Qwen/Qwen2.5-7B-Instruct",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     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"messages": [{"role": "user",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                  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"content": "介绍 vLLM"}]}'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22858" y="2172249"/>
            <a:ext cx="208300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OFFLINE · PYTHON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858134" y="2172249"/>
            <a:ext cx="65096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BATCH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2858" y="2461748"/>
            <a:ext cx="5156027" cy="2206539"/>
          </a:xfrm>
          <a:prstGeom prst="roundRect">
            <a:avLst>
              <a:gd name="adj" fmla="val 2876"/>
            </a:avLst>
          </a:prstGeom>
          <a:solidFill>
            <a:srgbClr val="EEF4FF"/>
          </a:solidFill>
          <a:ln w="6350">
            <a:solidFill>
              <a:srgbClr val="D5E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7018" y="2620488"/>
            <a:ext cx="5984748" cy="1889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vllm </a:t>
            </a: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LLM, SamplingParams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llm = LLM(model=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"Qwen/Qwen2.5-7B-Instruct"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params = SamplingParams(temperature=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0.7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                      max_tokens=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256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prompts = [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"什么是 PagedAttention？"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out </a:t>
            </a: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llm.generate(prompts, params):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    </a:t>
            </a:r>
            <a:r>
              <a:rPr lang="en-US" sz="120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(out.outputs[</a:t>
            </a:r>
            <a:r>
              <a:rPr lang="en-US" sz="1200" dirty="0">
                <a:solidFill>
                  <a:srgbClr val="8A530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0E1B3D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].text)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858" y="4744547"/>
            <a:ext cx="5156027" cy="987826"/>
          </a:xfrm>
          <a:prstGeom prst="roundRect">
            <a:avLst>
              <a:gd name="adj" fmla="val 6424"/>
            </a:avLst>
          </a:prstGeom>
          <a:solidFill>
            <a:srgbClr val="E3EE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7907" y="4884176"/>
            <a:ext cx="426842" cy="238750"/>
          </a:xfrm>
          <a:prstGeom prst="roundRect">
            <a:avLst>
              <a:gd name="adj" fmla="val 7966"/>
            </a:avLst>
          </a:prstGeom>
          <a:solidFill>
            <a:srgbClr val="1558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168" y="4896886"/>
            <a:ext cx="343083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TIP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29049" y="4884176"/>
            <a:ext cx="4541825" cy="70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离线模式一次提交全部 prompt，由调度器自动组 batch，适合评测与数据合成。显存默认占用 90%，共卡时调低 gpu_memory_utilization。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7" name="Shape 25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9" name="Shape 27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0" name="Shape 28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2629266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06 — CONFIGURATION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关键启动参数与调优建议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578529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10" y="1788109"/>
            <a:ext cx="10566166" cy="312908"/>
          </a:xfrm>
          <a:prstGeom prst="rect">
            <a:avLst/>
          </a:prstGeom>
          <a:solidFill>
            <a:srgbClr val="E3EE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10" y="2097816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250" y="1841419"/>
            <a:ext cx="3469416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参数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71168" y="2097816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62608" y="1841419"/>
            <a:ext cx="1488369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默认值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4780" y="2097816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6220" y="1841419"/>
            <a:ext cx="3205246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作用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91821" y="2097816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83261" y="1841419"/>
            <a:ext cx="4130253" cy="20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调优建议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10" y="2413925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4250" y="2154326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--gpu-memory-utilization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71168" y="2413925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62608" y="2154326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0.9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44780" y="2413925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36220" y="2154326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权重 + KV cache 的显存比例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91821" y="2413925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83261" y="2154326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独占单卡可调高，共卡时调低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10" y="2730033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4250" y="2470434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--max-model-len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71168" y="2730033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62608" y="2470434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模型配置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44780" y="2730033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36220" y="2470434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单请求最大上下文长度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91821" y="2730033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83261" y="2470434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不需长上下文时调小，提升并发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810" y="3046141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4250" y="2786543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--max-num-seqs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71168" y="3046141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62608" y="2786543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随版本变化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144780" y="3046141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36220" y="2786543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每步最多并发序列数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91821" y="3046141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83261" y="2786543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吞吐优先调大，显存紧张调小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2810" y="3362249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4250" y="3102651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--max-num-batched-tokens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71168" y="3362249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62608" y="3102651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自动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44780" y="3362249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36220" y="3102651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每步处理的 token 上限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891821" y="3362249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83261" y="3102651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调大提吞吐，调小降 decode 延迟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2810" y="3678357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4250" y="3418759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--tensor-parallel-size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71168" y="3678357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62608" y="3418759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144780" y="3678357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36220" y="3418759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张量并行 GPU 数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91821" y="3678357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83261" y="3418759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单卡放不下时使用，最好有 NVLink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12810" y="3994465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4250" y="3734867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--enable-prefix-caching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71168" y="3994465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62608" y="3734867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V1 默认开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144780" y="3994465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236220" y="3734867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自动前缀缓存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891821" y="3994465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83261" y="3734867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共享系统提示词的场景收益大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12810" y="4310573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4250" y="4050975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--quantization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71168" y="4310573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862608" y="4050975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无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144780" y="4310573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236220" y="4050975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awq / gptq / fp8 等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891821" y="4310573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983261" y="4050975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显存紧张时使用，需做精度回归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12810" y="4626681"/>
            <a:ext cx="295845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04250" y="4367083"/>
            <a:ext cx="346941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3A9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--kv-cache-dtype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771168" y="4626681"/>
            <a:ext cx="1373520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862608" y="4367083"/>
            <a:ext cx="1488369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auto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144780" y="4626681"/>
            <a:ext cx="2747132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236220" y="4367083"/>
            <a:ext cx="3205246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KV cache 数据类型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891821" y="4626681"/>
            <a:ext cx="3487064" cy="914"/>
          </a:xfrm>
          <a:prstGeom prst="line">
            <a:avLst/>
          </a:prstGeom>
          <a:noFill/>
          <a:ln w="6350">
            <a:solidFill>
              <a:srgbClr val="D5E2F5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983261" y="4367083"/>
            <a:ext cx="4130253" cy="20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设为 fp8 可使 KV 容量接近翻倍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812810" y="4836170"/>
            <a:ext cx="13207685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多数性能问题归结为一个取舍：</a:t>
            </a:r>
            <a:r>
              <a:rPr lang="en-US" sz="12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单请求上下文长度</a:t>
            </a: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与 </a:t>
            </a:r>
            <a:r>
              <a:rPr lang="en-US" sz="12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并发请求数</a:t>
            </a: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 如何分享有限的 KV cache 显存。默认值随版本变化，以 vllm serve --help 为准。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1" name="Shape 79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2" name="Shape 80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3" name="Shape 81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4" name="Shape 82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5" name="Shape 83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6" name="Shape 84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7" name="Shape 85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8" name="Shape 86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89" name="Shape 87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90" name="Shape 88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91" name="Shape 89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10" y="678119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55710" y="609539"/>
            <a:ext cx="1022574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911840"/>
            <a:ext cx="132076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总结与参考文献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578529"/>
            <a:ext cx="10566166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10" y="1797619"/>
            <a:ext cx="5689488" cy="914"/>
          </a:xfrm>
          <a:prstGeom prst="line">
            <a:avLst/>
          </a:prstGeom>
          <a:noFill/>
          <a:ln w="19050">
            <a:solidFill>
              <a:srgbClr val="1558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2810" y="1946849"/>
            <a:ext cx="507949" cy="53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1558E8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46849"/>
            <a:ext cx="6413327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显存管理是 LLM 服务的核心问题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28667"/>
            <a:ext cx="6413327" cy="255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KV cache 利用率直接决定可并发的请求数与吞吐上限。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10" y="2643348"/>
            <a:ext cx="5689488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810" y="2789377"/>
            <a:ext cx="507949" cy="53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0B8F5A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89377"/>
            <a:ext cx="6413327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PagedAttention 用分页消除碎片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71195"/>
            <a:ext cx="6413327" cy="255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固定大小块 + 块表 + 写时复制，浪费降至 4% 以下。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810" y="3485876"/>
            <a:ext cx="5689488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2810" y="3631905"/>
            <a:ext cx="507949" cy="53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7C4D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31905"/>
            <a:ext cx="6413327" cy="243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系统化优化持续叠加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13815"/>
            <a:ext cx="6413327" cy="255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0"/>
              </a:lnSpc>
              <a:buNone/>
            </a:pPr>
            <a:r>
              <a:rPr lang="en-US" sz="13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V1 在统一调度下整合连续批处理、前缀缓存、投机解码与量化。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07068" y="1788109"/>
            <a:ext cx="4571909" cy="2922971"/>
          </a:xfrm>
          <a:prstGeom prst="roundRect">
            <a:avLst>
              <a:gd name="adj" fmla="val 2171"/>
            </a:avLst>
          </a:prstGeom>
          <a:solidFill>
            <a:srgbClr val="CFE2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35668" y="1991289"/>
            <a:ext cx="514340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4FB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35576" y="2306208"/>
            <a:ext cx="4351630" cy="66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ts val="174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W. Kwon et al. Efficient Memory Management for Large Language Model Serving with PagedAttention. </a:t>
            </a:r>
            <a:r>
              <a:rPr lang="en-US" sz="1200" i="1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SOSP</a:t>
            </a: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, 2023.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35576" y="3022366"/>
            <a:ext cx="4351630" cy="44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ts val="174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G.-I. Yu et al. Orca: A Distributed Serving System for Transformer-Based Generative Models. </a:t>
            </a:r>
            <a:r>
              <a:rPr lang="en-US" sz="1200" i="1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OSDI</a:t>
            </a: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, 2022.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35576" y="3517514"/>
            <a:ext cx="4351630" cy="44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ts val="174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 Team. vLLM: Easy, Fast, and Cheap LLM Serving with PagedAttention. Blog, 2023.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35576" y="4012662"/>
            <a:ext cx="4351630" cy="44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ts val="174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1F4FB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 Team. vLLM V1: A Major Upgrade to vLLM’s Core Architecture. Blog, 2025.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10" y="4914260"/>
            <a:ext cx="10566166" cy="502829"/>
          </a:xfrm>
          <a:prstGeom prst="roundRect">
            <a:avLst>
              <a:gd name="adj" fmla="val 12620"/>
            </a:avLst>
          </a:prstGeom>
          <a:solidFill>
            <a:srgbClr val="E3EE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570" y="5046299"/>
            <a:ext cx="884042" cy="238750"/>
          </a:xfrm>
          <a:prstGeom prst="roundRect">
            <a:avLst>
              <a:gd name="adj" fmla="val 7966"/>
            </a:avLst>
          </a:prstGeom>
          <a:solidFill>
            <a:srgbClr val="155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6739" y="5059009"/>
            <a:ext cx="91449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TAKEAWAY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001622" y="5041270"/>
            <a:ext cx="8279618" cy="24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 = </a:t>
            </a:r>
            <a:r>
              <a:rPr lang="en-US" sz="14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PagedAttention</a:t>
            </a:r>
            <a:r>
              <a:rPr lang="en-US" sz="14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（显存） + </a:t>
            </a:r>
            <a:r>
              <a:rPr lang="en-US" sz="1400" b="1" dirty="0">
                <a:solidFill>
                  <a:srgbClr val="1558E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连续批处理</a:t>
            </a:r>
            <a:r>
              <a:rPr lang="en-US" sz="1400" dirty="0">
                <a:solidFill>
                  <a:srgbClr val="0E1B3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（调度） + 持续演进的系统工程优化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9" name="Shape 27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2" name="Shape 30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3" name="Shape 31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4" name="Shape 32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5" name="Shape 33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6" name="Shape 34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38" name="Shape 36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39" name="Shape 37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649742" y="6281288"/>
            <a:ext cx="911382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417" y="0"/>
            <a:ext cx="6248278" cy="6857817"/>
          </a:xfrm>
          <a:prstGeom prst="roundRect">
            <a:avLst>
              <a:gd name="adj" fmla="val 2440"/>
            </a:avLst>
          </a:prstGeom>
          <a:solidFill>
            <a:srgbClr val="CFE2FF"/>
          </a:solidFill>
          <a:ln/>
        </p:spPr>
      </p:sp>
      <p:sp>
        <p:nvSpPr>
          <p:cNvPr id="3" name="Shape 1"/>
          <p:cNvSpPr/>
          <p:nvPr/>
        </p:nvSpPr>
        <p:spPr>
          <a:xfrm>
            <a:off x="6959407" y="1650949"/>
            <a:ext cx="3174888" cy="3174888"/>
          </a:xfrm>
          <a:prstGeom prst="roundRect">
            <a:avLst>
              <a:gd name="adj" fmla="val 4801"/>
            </a:avLst>
          </a:prstGeom>
          <a:solidFill>
            <a:srgbClr val="A8CCFF"/>
          </a:solidFill>
          <a:ln/>
        </p:spPr>
      </p:sp>
      <p:sp>
        <p:nvSpPr>
          <p:cNvPr id="4" name="Shape 2"/>
          <p:cNvSpPr/>
          <p:nvPr/>
        </p:nvSpPr>
        <p:spPr>
          <a:xfrm>
            <a:off x="9524756" y="4063868"/>
            <a:ext cx="1396929" cy="1396929"/>
          </a:xfrm>
          <a:prstGeom prst="roundRect">
            <a:avLst>
              <a:gd name="adj" fmla="val 7272"/>
            </a:avLst>
          </a:prstGeom>
          <a:solidFill>
            <a:srgbClr val="1F6B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40746" y="1143000"/>
            <a:ext cx="355610" cy="355610"/>
          </a:xfrm>
          <a:prstGeom prst="roundRect">
            <a:avLst>
              <a:gd name="adj" fmla="val 49987"/>
            </a:avLst>
          </a:prstGeom>
          <a:solidFill>
            <a:srgbClr val="FF3B5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10" y="982980"/>
            <a:ext cx="228600" cy="76170"/>
          </a:xfrm>
          <a:prstGeom prst="roundRect">
            <a:avLst>
              <a:gd name="adj" fmla="val 16687"/>
            </a:avLst>
          </a:prstGeom>
          <a:solidFill>
            <a:srgbClr val="155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5710" y="914400"/>
            <a:ext cx="730331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00" kern="0" dirty="0">
                <a:solidFill>
                  <a:srgbClr val="1558E8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Q &amp; 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2194469"/>
            <a:ext cx="13207685" cy="92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0E1B3D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谢谢聆听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3268797"/>
            <a:ext cx="13207685" cy="302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76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欢迎提问与讨论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10" y="3729746"/>
            <a:ext cx="4825837" cy="914"/>
          </a:xfrm>
          <a:prstGeom prst="line">
            <a:avLst/>
          </a:prstGeom>
          <a:noFill/>
          <a:ln w="12700">
            <a:solidFill>
              <a:srgbClr val="D5E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810" y="3922685"/>
            <a:ext cx="8730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CODE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63659" y="3913906"/>
            <a:ext cx="3467588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3A9C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github.com/vllm-project/vllm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242725"/>
            <a:ext cx="8730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DOCS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63659" y="4233855"/>
            <a:ext cx="1486174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3A9C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docs.vllm.ai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4562673"/>
            <a:ext cx="873069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B6785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PAPER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63659" y="4553803"/>
            <a:ext cx="3467588" cy="23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3A9C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arXiv:2309.06180 · SOSP 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8" name="Shape 16"/>
          <p:cNvSpPr/>
          <p:nvPr/>
        </p:nvSpPr>
        <p:spPr>
          <a:xfrm>
            <a:off x="9079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32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856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7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12890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431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47949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57478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66996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7" name="Shape 25"/>
          <p:cNvSpPr/>
          <p:nvPr/>
        </p:nvSpPr>
        <p:spPr>
          <a:xfrm>
            <a:off x="1765249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D5E2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860530" y="6356177"/>
            <a:ext cx="63459" cy="63459"/>
          </a:xfrm>
          <a:prstGeom prst="roundRect">
            <a:avLst>
              <a:gd name="adj" fmla="val 20029"/>
            </a:avLst>
          </a:prstGeom>
          <a:solidFill>
            <a:srgbClr val="1558E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076420" y="6281288"/>
            <a:ext cx="3778758" cy="21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vLLM：大模型推理框架介绍 · 组会报告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vLLM：大模型推理框架介绍</dc:title>
  <dc:subject>PptxGenJS Presentation</dc:subject>
  <dc:creator>PptxGenJS</dc:creator>
  <cp:lastModifiedBy>PptxGenJS</cp:lastModifiedBy>
  <cp:revision>1</cp:revision>
  <dcterms:created xsi:type="dcterms:W3CDTF">2026-09-24T12:26:03Z</dcterms:created>
  <dcterms:modified xsi:type="dcterms:W3CDTF">2026-09-24T12:26:03Z</dcterms:modified>
</cp:coreProperties>
</file>