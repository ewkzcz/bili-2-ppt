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封面：替换主讲人、部门、日期与时长。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0"/>
            <a:ext cx="5334000" cy="6858000"/>
          </a:xfrm>
          <a:prstGeom prst="rect">
            <a:avLst/>
          </a:prstGeom>
          <a:solidFill>
            <a:srgbClr val="FF4F1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264400" y="508000"/>
            <a:ext cx="4445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850" spc="150" kern="0" dirty="0">
                <a:solidFill>
                  <a:srgbClr val="1416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PAGEDATTENTION</a:t>
            </a:r>
            <a:endParaRPr lang="en-US" sz="850" dirty="0"/>
          </a:p>
          <a:p>
            <a:pPr indent="0" marL="0">
              <a:lnSpc>
                <a:spcPct val="170000"/>
              </a:lnSpc>
              <a:buNone/>
            </a:pPr>
            <a:r>
              <a:rPr lang="en-US" sz="850" spc="150" kern="0" dirty="0">
                <a:solidFill>
                  <a:srgbClr val="1416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CONTINUOUS BATCHING</a:t>
            </a:r>
            <a:endParaRPr lang="en-US" sz="850" dirty="0"/>
          </a:p>
          <a:p>
            <a:pPr indent="0" marL="0">
              <a:lnSpc>
                <a:spcPct val="170000"/>
              </a:lnSpc>
              <a:buNone/>
            </a:pPr>
            <a:r>
              <a:rPr lang="en-US" sz="850" spc="150" kern="0" dirty="0">
                <a:solidFill>
                  <a:srgbClr val="1416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OPENAI-COMPATIBLE API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10058400" y="4724400"/>
            <a:ext cx="1524000" cy="1524000"/>
          </a:xfrm>
          <a:prstGeom prst="rect">
            <a:avLst/>
          </a:prstGeom>
          <a:solidFill>
            <a:srgbClr val="2B3B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794500" y="2540000"/>
            <a:ext cx="5397500" cy="177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3800" i="1" spc="-300" kern="0" dirty="0">
                <a:solidFill>
                  <a:srgbClr val="1416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vLLM</a:t>
            </a:r>
            <a:endParaRPr lang="en-US" sz="13800" dirty="0"/>
          </a:p>
        </p:txBody>
      </p:sp>
      <p:sp>
        <p:nvSpPr>
          <p:cNvPr id="6" name="Text 4"/>
          <p:cNvSpPr txBox="1"/>
          <p:nvPr/>
        </p:nvSpPr>
        <p:spPr>
          <a:xfrm>
            <a:off x="609600" y="457200"/>
            <a:ext cx="952500" cy="254000"/>
          </a:xfrm>
          <a:prstGeom prst="roundRect">
            <a:avLst>
              <a:gd name="adj" fmla="val 50400"/>
            </a:avLst>
          </a:prstGeom>
          <a:solidFill>
            <a:srgbClr val="14161B"/>
          </a:solidFill>
          <a:ln w="13970">
            <a:solidFill>
              <a:srgbClr val="1416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F3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TECH TALK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1638300" y="457200"/>
            <a:ext cx="1143000" cy="254000"/>
          </a:xfrm>
          <a:prstGeom prst="roundRect">
            <a:avLst>
              <a:gd name="adj" fmla="val 50400"/>
            </a:avLst>
          </a:prstGeom>
          <a:solidFill>
            <a:srgbClr val="FBFAF6"/>
          </a:solidFill>
          <a:ln w="13970">
            <a:solidFill>
              <a:srgbClr val="1416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1416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 SERVING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2857500" y="457200"/>
            <a:ext cx="609600" cy="254000"/>
          </a:xfrm>
          <a:prstGeom prst="roundRect">
            <a:avLst>
              <a:gd name="adj" fmla="val 50400"/>
            </a:avLst>
          </a:prstGeom>
          <a:solidFill>
            <a:srgbClr val="FBFAF6"/>
          </a:solidFill>
          <a:ln w="13970">
            <a:solidFill>
              <a:srgbClr val="1416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1416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</a:t>
            </a:r>
            <a:endParaRPr lang="en-US" sz="800" dirty="0"/>
          </a:p>
        </p:txBody>
      </p:sp>
      <p:sp>
        <p:nvSpPr>
          <p:cNvPr id="9" name="Text 7"/>
          <p:cNvSpPr txBox="1"/>
          <p:nvPr/>
        </p:nvSpPr>
        <p:spPr>
          <a:xfrm>
            <a:off x="609600" y="2159000"/>
            <a:ext cx="5715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5E62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EFFICIENT LLM INFERENCE &amp; SERVING  ／  </a:t>
            </a:r>
            <a:pPr indent="0" marL="0">
              <a:buNone/>
            </a:pPr>
            <a:r>
              <a:rPr lang="en-US" sz="850" b="1" spc="150" kern="0" dirty="0">
                <a:solidFill>
                  <a:srgbClr val="B533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PAGEDATTENTION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609600" y="2444750"/>
            <a:ext cx="6223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6000" b="1" dirty="0">
                <a:solidFill>
                  <a:srgbClr val="1416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大模型推理框架</a:t>
            </a:r>
            <a:endParaRPr lang="en-US" sz="60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6000" b="1" dirty="0">
                <a:solidFill>
                  <a:srgbClr val="14161B"/>
                </a:solidFill>
                <a:highlight>
                  <a:srgbClr val="D4F24A"/>
                </a:highlight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vLLM</a:t>
            </a:r>
            <a:pPr indent="0" marL="0">
              <a:lnSpc>
                <a:spcPct val="98000"/>
              </a:lnSpc>
              <a:buNone/>
            </a:pPr>
            <a:r>
              <a:rPr lang="en-US" sz="6000" b="1" dirty="0">
                <a:solidFill>
                  <a:srgbClr val="1416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 深度介绍</a:t>
            </a:r>
            <a:endParaRPr lang="en-US" sz="6000" dirty="0"/>
          </a:p>
        </p:txBody>
      </p:sp>
      <p:sp>
        <p:nvSpPr>
          <p:cNvPr id="11" name="Text 9"/>
          <p:cNvSpPr txBox="1"/>
          <p:nvPr/>
        </p:nvSpPr>
        <p:spPr>
          <a:xfrm>
            <a:off x="609600" y="4381500"/>
            <a:ext cx="5588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3A3E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 KV Cache 显存管理到连续批处理——一个开源推理引擎，如何把 GPU 吞吐推向极限。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09600" y="5715000"/>
            <a:ext cx="5715000" cy="0"/>
          </a:xfrm>
          <a:prstGeom prst="line">
            <a:avLst/>
          </a:prstGeom>
          <a:noFill/>
          <a:ln w="28575">
            <a:solidFill>
              <a:srgbClr val="14161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09600" y="5854700"/>
            <a:ext cx="12700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E62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主讲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609600" y="6019800"/>
            <a:ext cx="1905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16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张三 · AI 平台部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2540000" y="5854700"/>
            <a:ext cx="12700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E62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</a:t>
            </a:r>
            <a:endParaRPr lang="en-US" sz="800" dirty="0"/>
          </a:p>
        </p:txBody>
      </p:sp>
      <p:sp>
        <p:nvSpPr>
          <p:cNvPr id="16" name="Text 14"/>
          <p:cNvSpPr txBox="1"/>
          <p:nvPr/>
        </p:nvSpPr>
        <p:spPr>
          <a:xfrm>
            <a:off x="2540000" y="6019800"/>
            <a:ext cx="1905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16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2026.09.24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064000" y="5854700"/>
            <a:ext cx="12700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E62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时长</a:t>
            </a:r>
            <a:endParaRPr lang="en-US" sz="800" dirty="0"/>
          </a:p>
        </p:txBody>
      </p:sp>
      <p:sp>
        <p:nvSpPr>
          <p:cNvPr id="18" name="Text 16"/>
          <p:cNvSpPr txBox="1"/>
          <p:nvPr/>
        </p:nvSpPr>
        <p:spPr>
          <a:xfrm>
            <a:off x="4064000" y="6019800"/>
            <a:ext cx="1905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16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45 min + Q&amp;A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600" y="330200"/>
            <a:ext cx="381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1416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vLLM</a:t>
            </a:r>
            <a:pPr indent="0" marL="0">
              <a:buNone/>
            </a:pPr>
            <a:r>
              <a:rPr lang="en-US" sz="850" spc="100" kern="0" dirty="0">
                <a:solidFill>
                  <a:srgbClr val="1416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／  大模型推理框架介绍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4191000" y="330200"/>
            <a:ext cx="381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5E62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CONTENTS ／ 目录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10883900" y="330200"/>
            <a:ext cx="6985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spc="100" kern="0" dirty="0">
                <a:solidFill>
                  <a:srgbClr val="1416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12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9601200" y="368300"/>
            <a:ext cx="76200" cy="76200"/>
          </a:xfrm>
          <a:prstGeom prst="roundRect">
            <a:avLst>
              <a:gd name="adj" fmla="val 36000"/>
            </a:avLst>
          </a:prstGeom>
          <a:solidFill>
            <a:srgbClr val="14161B"/>
          </a:solidFill>
          <a:ln w="12700">
            <a:solidFill>
              <a:srgbClr val="14161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702800" y="368300"/>
            <a:ext cx="76200" cy="76200"/>
          </a:xfrm>
          <a:prstGeom prst="roundRect">
            <a:avLst>
              <a:gd name="adj" fmla="val 36000"/>
            </a:avLst>
          </a:prstGeom>
          <a:solidFill>
            <a:srgbClr val="FF4F1F"/>
          </a:solidFill>
          <a:ln w="12700">
            <a:solidFill>
              <a:srgbClr val="FF4F1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804400" y="368300"/>
            <a:ext cx="76200" cy="76200"/>
          </a:xfrm>
          <a:prstGeom prst="roundRect">
            <a:avLst>
              <a:gd name="adj" fmla="val 36000"/>
            </a:avLst>
          </a:prstGeom>
          <a:ln w="12700">
            <a:solidFill>
              <a:srgbClr val="14161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906000" y="368300"/>
            <a:ext cx="76200" cy="76200"/>
          </a:xfrm>
          <a:prstGeom prst="roundRect">
            <a:avLst>
              <a:gd name="adj" fmla="val 36000"/>
            </a:avLst>
          </a:prstGeom>
          <a:ln w="12700">
            <a:solidFill>
              <a:srgbClr val="14161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007600" y="368300"/>
            <a:ext cx="76200" cy="76200"/>
          </a:xfrm>
          <a:prstGeom prst="roundRect">
            <a:avLst>
              <a:gd name="adj" fmla="val 36000"/>
            </a:avLst>
          </a:prstGeom>
          <a:ln w="12700">
            <a:solidFill>
              <a:srgbClr val="14161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109200" y="368300"/>
            <a:ext cx="76200" cy="76200"/>
          </a:xfrm>
          <a:prstGeom prst="roundRect">
            <a:avLst>
              <a:gd name="adj" fmla="val 36000"/>
            </a:avLst>
          </a:prstGeom>
          <a:ln w="12700">
            <a:solidFill>
              <a:srgbClr val="14161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210800" y="368300"/>
            <a:ext cx="76200" cy="76200"/>
          </a:xfrm>
          <a:prstGeom prst="roundRect">
            <a:avLst>
              <a:gd name="adj" fmla="val 36000"/>
            </a:avLst>
          </a:prstGeom>
          <a:ln w="12700">
            <a:solidFill>
              <a:srgbClr val="14161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312400" y="368300"/>
            <a:ext cx="76200" cy="76200"/>
          </a:xfrm>
          <a:prstGeom prst="roundRect">
            <a:avLst>
              <a:gd name="adj" fmla="val 36000"/>
            </a:avLst>
          </a:prstGeom>
          <a:ln w="12700">
            <a:solidFill>
              <a:srgbClr val="14161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414000" y="368300"/>
            <a:ext cx="76200" cy="76200"/>
          </a:xfrm>
          <a:prstGeom prst="roundRect">
            <a:avLst>
              <a:gd name="adj" fmla="val 36000"/>
            </a:avLst>
          </a:prstGeom>
          <a:ln w="12700">
            <a:solidFill>
              <a:srgbClr val="14161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515600" y="368300"/>
            <a:ext cx="76200" cy="76200"/>
          </a:xfrm>
          <a:prstGeom prst="roundRect">
            <a:avLst>
              <a:gd name="adj" fmla="val 36000"/>
            </a:avLst>
          </a:prstGeom>
          <a:ln w="12700">
            <a:solidFill>
              <a:srgbClr val="14161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617200" y="368300"/>
            <a:ext cx="76200" cy="76200"/>
          </a:xfrm>
          <a:prstGeom prst="roundRect">
            <a:avLst>
              <a:gd name="adj" fmla="val 36000"/>
            </a:avLst>
          </a:prstGeom>
          <a:ln w="12700">
            <a:solidFill>
              <a:srgbClr val="14161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718800" y="368300"/>
            <a:ext cx="76200" cy="76200"/>
          </a:xfrm>
          <a:prstGeom prst="roundRect">
            <a:avLst>
              <a:gd name="adj" fmla="val 36000"/>
            </a:avLst>
          </a:prstGeom>
          <a:ln w="12700">
            <a:solidFill>
              <a:srgbClr val="14161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9600" y="647700"/>
            <a:ext cx="10972800" cy="0"/>
          </a:xfrm>
          <a:prstGeom prst="line">
            <a:avLst/>
          </a:prstGeom>
          <a:noFill/>
          <a:ln w="28575">
            <a:solidFill>
              <a:srgbClr val="14161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09600" y="1219200"/>
            <a:ext cx="254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5E62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AGENDA</a:t>
            </a:r>
            <a:endParaRPr lang="en-US" sz="850" dirty="0"/>
          </a:p>
        </p:txBody>
      </p:sp>
      <p:sp>
        <p:nvSpPr>
          <p:cNvPr id="19" name="Text 17"/>
          <p:cNvSpPr txBox="1"/>
          <p:nvPr/>
        </p:nvSpPr>
        <p:spPr>
          <a:xfrm>
            <a:off x="609600" y="1435100"/>
            <a:ext cx="3302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1416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今天</a:t>
            </a:r>
            <a:endParaRPr lang="en-US" sz="4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1416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聊五件事</a:t>
            </a:r>
            <a:endParaRPr lang="en-US" sz="4400" dirty="0"/>
          </a:p>
        </p:txBody>
      </p:sp>
      <p:sp>
        <p:nvSpPr>
          <p:cNvPr id="20" name="Text 18"/>
          <p:cNvSpPr txBox="1"/>
          <p:nvPr/>
        </p:nvSpPr>
        <p:spPr>
          <a:xfrm>
            <a:off x="609600" y="2984500"/>
            <a:ext cx="2794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A3E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每一部分都回答一个问题：vLLM 解决了什么、怎么解决、效果如何，以及怎么用到我们自己的业务里。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09600" y="5842000"/>
            <a:ext cx="203200" cy="203200"/>
          </a:xfrm>
          <a:prstGeom prst="roundRect">
            <a:avLst>
              <a:gd name="adj" fmla="val 13500"/>
            </a:avLst>
          </a:prstGeom>
          <a:solidFill>
            <a:srgbClr val="14161B"/>
          </a:solidFill>
          <a:ln w="12700">
            <a:solidFill>
              <a:srgbClr val="14161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50900" y="5842000"/>
            <a:ext cx="203200" cy="203200"/>
          </a:xfrm>
          <a:prstGeom prst="roundRect">
            <a:avLst>
              <a:gd name="adj" fmla="val 13500"/>
            </a:avLst>
          </a:prstGeom>
          <a:solidFill>
            <a:srgbClr val="FF4F1F"/>
          </a:solidFill>
          <a:ln w="12700">
            <a:solidFill>
              <a:srgbClr val="FF4F1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92200" y="5842000"/>
            <a:ext cx="203200" cy="203200"/>
          </a:xfrm>
          <a:prstGeom prst="roundRect">
            <a:avLst>
              <a:gd name="adj" fmla="val 13500"/>
            </a:avLst>
          </a:prstGeom>
          <a:ln w="12700">
            <a:solidFill>
              <a:srgbClr val="14161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333500" y="5842000"/>
            <a:ext cx="203200" cy="203200"/>
          </a:xfrm>
          <a:prstGeom prst="roundRect">
            <a:avLst>
              <a:gd name="adj" fmla="val 13500"/>
            </a:avLst>
          </a:prstGeom>
          <a:ln w="12700">
            <a:solidFill>
              <a:srgbClr val="14161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574800" y="5842000"/>
            <a:ext cx="203200" cy="203200"/>
          </a:xfrm>
          <a:prstGeom prst="roundRect">
            <a:avLst>
              <a:gd name="adj" fmla="val 13500"/>
            </a:avLst>
          </a:prstGeom>
          <a:ln w="12700">
            <a:solidFill>
              <a:srgbClr val="14161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21200" y="1143000"/>
            <a:ext cx="7061200" cy="0"/>
          </a:xfrm>
          <a:prstGeom prst="line">
            <a:avLst/>
          </a:prstGeom>
          <a:noFill/>
          <a:ln w="28575">
            <a:solidFill>
              <a:srgbClr val="14161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521200" y="1333500"/>
            <a:ext cx="889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dirty="0">
                <a:solidFill>
                  <a:srgbClr val="1416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800" dirty="0"/>
          </a:p>
        </p:txBody>
      </p:sp>
      <p:sp>
        <p:nvSpPr>
          <p:cNvPr id="28" name="Text 26"/>
          <p:cNvSpPr txBox="1"/>
          <p:nvPr/>
        </p:nvSpPr>
        <p:spPr>
          <a:xfrm>
            <a:off x="5524500" y="1460500"/>
            <a:ext cx="3048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16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推理的瓶颈在哪里</a:t>
            </a:r>
            <a:endParaRPr lang="en-US" sz="1800" dirty="0"/>
          </a:p>
        </p:txBody>
      </p:sp>
      <p:sp>
        <p:nvSpPr>
          <p:cNvPr id="29" name="Text 27"/>
          <p:cNvSpPr txBox="1"/>
          <p:nvPr/>
        </p:nvSpPr>
        <p:spPr>
          <a:xfrm>
            <a:off x="8763000" y="1422400"/>
            <a:ext cx="28194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A3E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显存、带宽与 KV Cache：为什么 GPU 常常“算不满”。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21200" y="2108200"/>
            <a:ext cx="7061200" cy="0"/>
          </a:xfrm>
          <a:prstGeom prst="line">
            <a:avLst/>
          </a:prstGeom>
          <a:noFill/>
          <a:ln w="9525">
            <a:solidFill>
              <a:srgbClr val="CFC8B8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521200" y="2298700"/>
            <a:ext cx="889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dirty="0">
                <a:solidFill>
                  <a:srgbClr val="FF4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800" dirty="0"/>
          </a:p>
        </p:txBody>
      </p:sp>
      <p:sp>
        <p:nvSpPr>
          <p:cNvPr id="32" name="Text 30"/>
          <p:cNvSpPr txBox="1"/>
          <p:nvPr/>
        </p:nvSpPr>
        <p:spPr>
          <a:xfrm>
            <a:off x="5524500" y="2425700"/>
            <a:ext cx="3048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16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PagedAttention</a:t>
            </a:r>
            <a:endParaRPr lang="en-US" sz="1800" dirty="0"/>
          </a:p>
        </p:txBody>
      </p:sp>
      <p:sp>
        <p:nvSpPr>
          <p:cNvPr id="33" name="Text 31"/>
          <p:cNvSpPr txBox="1"/>
          <p:nvPr/>
        </p:nvSpPr>
        <p:spPr>
          <a:xfrm>
            <a:off x="8763000" y="2387600"/>
            <a:ext cx="28194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A3E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借鉴操作系统虚拟内存，把 KV Cache 切成固定大小的块。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521200" y="3073400"/>
            <a:ext cx="7061200" cy="0"/>
          </a:xfrm>
          <a:prstGeom prst="line">
            <a:avLst/>
          </a:prstGeom>
          <a:noFill/>
          <a:ln w="9525">
            <a:solidFill>
              <a:srgbClr val="CFC8B8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521200" y="3263900"/>
            <a:ext cx="889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dirty="0">
                <a:solidFill>
                  <a:srgbClr val="1416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800" dirty="0"/>
          </a:p>
        </p:txBody>
      </p:sp>
      <p:sp>
        <p:nvSpPr>
          <p:cNvPr id="36" name="Text 34"/>
          <p:cNvSpPr txBox="1"/>
          <p:nvPr/>
        </p:nvSpPr>
        <p:spPr>
          <a:xfrm>
            <a:off x="5524500" y="3390900"/>
            <a:ext cx="3048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16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调度与核心特性</a:t>
            </a:r>
            <a:endParaRPr lang="en-US" sz="1800" dirty="0"/>
          </a:p>
        </p:txBody>
      </p:sp>
      <p:sp>
        <p:nvSpPr>
          <p:cNvPr id="37" name="Text 35"/>
          <p:cNvSpPr txBox="1"/>
          <p:nvPr/>
        </p:nvSpPr>
        <p:spPr>
          <a:xfrm>
            <a:off x="8763000" y="3352800"/>
            <a:ext cx="28194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A3E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连续批处理、前缀缓存、分块预填充、投机解码与量化。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521200" y="4038600"/>
            <a:ext cx="7061200" cy="0"/>
          </a:xfrm>
          <a:prstGeom prst="line">
            <a:avLst/>
          </a:prstGeom>
          <a:noFill/>
          <a:ln w="9525">
            <a:solidFill>
              <a:srgbClr val="CFC8B8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4521200" y="4229100"/>
            <a:ext cx="889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dirty="0">
                <a:solidFill>
                  <a:srgbClr val="1416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3800" dirty="0"/>
          </a:p>
        </p:txBody>
      </p:sp>
      <p:sp>
        <p:nvSpPr>
          <p:cNvPr id="40" name="Text 38"/>
          <p:cNvSpPr txBox="1"/>
          <p:nvPr/>
        </p:nvSpPr>
        <p:spPr>
          <a:xfrm>
            <a:off x="5524500" y="4356100"/>
            <a:ext cx="3048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16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架构与性能</a:t>
            </a:r>
            <a:endParaRPr lang="en-US" sz="1800" dirty="0"/>
          </a:p>
        </p:txBody>
      </p:sp>
      <p:sp>
        <p:nvSpPr>
          <p:cNvPr id="41" name="Text 39"/>
          <p:cNvSpPr txBox="1"/>
          <p:nvPr/>
        </p:nvSpPr>
        <p:spPr>
          <a:xfrm>
            <a:off x="8763000" y="4318000"/>
            <a:ext cx="28194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A3E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V1 引擎的进程划分，以及吞吐、显存利用率的实测对比。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521200" y="5003800"/>
            <a:ext cx="7061200" cy="0"/>
          </a:xfrm>
          <a:prstGeom prst="line">
            <a:avLst/>
          </a:prstGeom>
          <a:noFill/>
          <a:ln w="9525">
            <a:solidFill>
              <a:srgbClr val="CFC8B8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4521200" y="5194300"/>
            <a:ext cx="889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dirty="0">
                <a:solidFill>
                  <a:srgbClr val="1416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3800" dirty="0"/>
          </a:p>
        </p:txBody>
      </p:sp>
      <p:sp>
        <p:nvSpPr>
          <p:cNvPr id="44" name="Text 42"/>
          <p:cNvSpPr txBox="1"/>
          <p:nvPr/>
        </p:nvSpPr>
        <p:spPr>
          <a:xfrm>
            <a:off x="5524500" y="5321300"/>
            <a:ext cx="3048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16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上手与调优</a:t>
            </a:r>
            <a:endParaRPr lang="en-US" sz="1800" dirty="0"/>
          </a:p>
        </p:txBody>
      </p:sp>
      <p:sp>
        <p:nvSpPr>
          <p:cNvPr id="45" name="Text 43"/>
          <p:cNvSpPr txBox="1"/>
          <p:nvPr/>
        </p:nvSpPr>
        <p:spPr>
          <a:xfrm>
            <a:off x="8763000" y="5283200"/>
            <a:ext cx="28194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A3E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一条命令起服务，OpenAI 兼容接口，关键参数怎么调。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826000" cy="6858000"/>
          </a:xfrm>
          <a:prstGeom prst="rect">
            <a:avLst/>
          </a:prstGeom>
          <a:solidFill>
            <a:srgbClr val="FF4F1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81000" y="127000"/>
            <a:ext cx="4445000" cy="393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0" spc="-800" kern="0" dirty="0">
                <a:solidFill>
                  <a:srgbClr val="1416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7000" dirty="0"/>
          </a:p>
        </p:txBody>
      </p:sp>
      <p:sp>
        <p:nvSpPr>
          <p:cNvPr id="4" name="Shape 2"/>
          <p:cNvSpPr/>
          <p:nvPr/>
        </p:nvSpPr>
        <p:spPr>
          <a:xfrm>
            <a:off x="609600" y="5689600"/>
            <a:ext cx="254000" cy="254000"/>
          </a:xfrm>
          <a:prstGeom prst="roundRect">
            <a:avLst>
              <a:gd name="adj" fmla="val 10800"/>
            </a:avLst>
          </a:prstGeom>
          <a:solidFill>
            <a:srgbClr val="14161B"/>
          </a:solidFill>
          <a:ln w="12700">
            <a:solidFill>
              <a:srgbClr val="14161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5689600"/>
            <a:ext cx="254000" cy="254000"/>
          </a:xfrm>
          <a:prstGeom prst="roundRect">
            <a:avLst>
              <a:gd name="adj" fmla="val 10800"/>
            </a:avLst>
          </a:prstGeom>
          <a:solidFill>
            <a:srgbClr val="14161B"/>
          </a:solidFill>
          <a:ln w="12700">
            <a:solidFill>
              <a:srgbClr val="14161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19200" y="5689600"/>
            <a:ext cx="254000" cy="254000"/>
          </a:xfrm>
          <a:prstGeom prst="roundRect">
            <a:avLst>
              <a:gd name="adj" fmla="val 10800"/>
            </a:avLst>
          </a:prstGeom>
          <a:solidFill>
            <a:srgbClr val="14161B"/>
          </a:solidFill>
          <a:ln w="12700">
            <a:solidFill>
              <a:srgbClr val="14161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524000" y="5689600"/>
            <a:ext cx="254000" cy="254000"/>
          </a:xfrm>
          <a:prstGeom prst="roundRect">
            <a:avLst>
              <a:gd name="adj" fmla="val 10800"/>
            </a:avLst>
          </a:prstGeom>
          <a:ln w="12700">
            <a:solidFill>
              <a:srgbClr val="14161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28800" y="5689600"/>
            <a:ext cx="254000" cy="254000"/>
          </a:xfrm>
          <a:prstGeom prst="roundRect">
            <a:avLst>
              <a:gd name="adj" fmla="val 10800"/>
            </a:avLst>
          </a:prstGeom>
          <a:ln w="12700">
            <a:solidFill>
              <a:srgbClr val="14161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133600" y="5689600"/>
            <a:ext cx="254000" cy="254000"/>
          </a:xfrm>
          <a:prstGeom prst="roundRect">
            <a:avLst>
              <a:gd name="adj" fmla="val 10800"/>
            </a:avLst>
          </a:prstGeom>
          <a:ln w="12700">
            <a:solidFill>
              <a:srgbClr val="14161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9600" y="5994400"/>
            <a:ext cx="254000" cy="254000"/>
          </a:xfrm>
          <a:prstGeom prst="roundRect">
            <a:avLst>
              <a:gd name="adj" fmla="val 10800"/>
            </a:avLst>
          </a:prstGeom>
          <a:solidFill>
            <a:srgbClr val="14161B"/>
          </a:solidFill>
          <a:ln w="12700">
            <a:solidFill>
              <a:srgbClr val="14161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5994400"/>
            <a:ext cx="254000" cy="254000"/>
          </a:xfrm>
          <a:prstGeom prst="roundRect">
            <a:avLst>
              <a:gd name="adj" fmla="val 10800"/>
            </a:avLst>
          </a:prstGeom>
          <a:solidFill>
            <a:srgbClr val="14161B"/>
          </a:solidFill>
          <a:ln w="12700">
            <a:solidFill>
              <a:srgbClr val="14161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19200" y="5994400"/>
            <a:ext cx="254000" cy="254000"/>
          </a:xfrm>
          <a:prstGeom prst="roundRect">
            <a:avLst>
              <a:gd name="adj" fmla="val 10800"/>
            </a:avLst>
          </a:prstGeom>
          <a:ln w="12700">
            <a:solidFill>
              <a:srgbClr val="14161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524000" y="5994400"/>
            <a:ext cx="254000" cy="254000"/>
          </a:xfrm>
          <a:prstGeom prst="roundRect">
            <a:avLst>
              <a:gd name="adj" fmla="val 10800"/>
            </a:avLst>
          </a:prstGeom>
          <a:ln w="12700">
            <a:solidFill>
              <a:srgbClr val="14161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828800" y="5994400"/>
            <a:ext cx="254000" cy="254000"/>
          </a:xfrm>
          <a:prstGeom prst="roundRect">
            <a:avLst>
              <a:gd name="adj" fmla="val 10800"/>
            </a:avLst>
          </a:prstGeom>
          <a:solidFill>
            <a:srgbClr val="D4F24A"/>
          </a:solidFill>
          <a:ln w="12700">
            <a:solidFill>
              <a:srgbClr val="14161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133600" y="5994400"/>
            <a:ext cx="254000" cy="254000"/>
          </a:xfrm>
          <a:prstGeom prst="roundRect">
            <a:avLst>
              <a:gd name="adj" fmla="val 10800"/>
            </a:avLst>
          </a:prstGeom>
          <a:ln w="12700">
            <a:solidFill>
              <a:srgbClr val="14161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537200" y="2286000"/>
            <a:ext cx="508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5E62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02  ／  CORE IDEA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5537200" y="2514600"/>
            <a:ext cx="609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1416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PagedAttention</a:t>
            </a:r>
            <a:endParaRPr lang="en-US" sz="4400" dirty="0"/>
          </a:p>
        </p:txBody>
      </p:sp>
      <p:sp>
        <p:nvSpPr>
          <p:cNvPr id="18" name="Text 16"/>
          <p:cNvSpPr txBox="1"/>
          <p:nvPr/>
        </p:nvSpPr>
        <p:spPr>
          <a:xfrm>
            <a:off x="5537200" y="3251200"/>
            <a:ext cx="6096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i="1" dirty="0">
                <a:solidFill>
                  <a:srgbClr val="B533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memory is the bottleneck.</a:t>
            </a:r>
            <a:endParaRPr lang="en-US" sz="3200" dirty="0"/>
          </a:p>
        </p:txBody>
      </p:sp>
      <p:sp>
        <p:nvSpPr>
          <p:cNvPr id="19" name="Shape 17"/>
          <p:cNvSpPr/>
          <p:nvPr/>
        </p:nvSpPr>
        <p:spPr>
          <a:xfrm>
            <a:off x="5537200" y="4038600"/>
            <a:ext cx="1016000" cy="0"/>
          </a:xfrm>
          <a:prstGeom prst="line">
            <a:avLst/>
          </a:prstGeom>
          <a:noFill/>
          <a:ln w="28575">
            <a:solidFill>
              <a:srgbClr val="14161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537200" y="4292600"/>
            <a:ext cx="5461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3A3E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把操作系统“分页 + 虚拟内存”的思路搬进注意力计算：KV Cache 不再需要一整块连续显存，而是按需分配、随用随还、可以共享。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600" y="330200"/>
            <a:ext cx="381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1416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vLLM</a:t>
            </a:r>
            <a:pPr indent="0" marL="0">
              <a:buNone/>
            </a:pPr>
            <a:r>
              <a:rPr lang="en-US" sz="850" spc="100" kern="0" dirty="0">
                <a:solidFill>
                  <a:srgbClr val="1416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／  大模型推理框架介绍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4191000" y="330200"/>
            <a:ext cx="381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5E62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— 推理的瓶颈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10883900" y="330200"/>
            <a:ext cx="6985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spc="100" kern="0" dirty="0">
                <a:solidFill>
                  <a:srgbClr val="1416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12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9601200" y="368300"/>
            <a:ext cx="76200" cy="76200"/>
          </a:xfrm>
          <a:prstGeom prst="roundRect">
            <a:avLst>
              <a:gd name="adj" fmla="val 36000"/>
            </a:avLst>
          </a:prstGeom>
          <a:solidFill>
            <a:srgbClr val="14161B"/>
          </a:solidFill>
          <a:ln w="12700">
            <a:solidFill>
              <a:srgbClr val="14161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702800" y="368300"/>
            <a:ext cx="76200" cy="76200"/>
          </a:xfrm>
          <a:prstGeom prst="roundRect">
            <a:avLst>
              <a:gd name="adj" fmla="val 36000"/>
            </a:avLst>
          </a:prstGeom>
          <a:solidFill>
            <a:srgbClr val="14161B"/>
          </a:solidFill>
          <a:ln w="12700">
            <a:solidFill>
              <a:srgbClr val="14161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804400" y="368300"/>
            <a:ext cx="76200" cy="76200"/>
          </a:xfrm>
          <a:prstGeom prst="roundRect">
            <a:avLst>
              <a:gd name="adj" fmla="val 36000"/>
            </a:avLst>
          </a:prstGeom>
          <a:solidFill>
            <a:srgbClr val="14161B"/>
          </a:solidFill>
          <a:ln w="12700">
            <a:solidFill>
              <a:srgbClr val="14161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906000" y="368300"/>
            <a:ext cx="76200" cy="76200"/>
          </a:xfrm>
          <a:prstGeom prst="roundRect">
            <a:avLst>
              <a:gd name="adj" fmla="val 36000"/>
            </a:avLst>
          </a:prstGeom>
          <a:solidFill>
            <a:srgbClr val="FF4F1F"/>
          </a:solidFill>
          <a:ln w="12700">
            <a:solidFill>
              <a:srgbClr val="FF4F1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007600" y="368300"/>
            <a:ext cx="76200" cy="76200"/>
          </a:xfrm>
          <a:prstGeom prst="roundRect">
            <a:avLst>
              <a:gd name="adj" fmla="val 36000"/>
            </a:avLst>
          </a:prstGeom>
          <a:ln w="12700">
            <a:solidFill>
              <a:srgbClr val="14161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109200" y="368300"/>
            <a:ext cx="76200" cy="76200"/>
          </a:xfrm>
          <a:prstGeom prst="roundRect">
            <a:avLst>
              <a:gd name="adj" fmla="val 36000"/>
            </a:avLst>
          </a:prstGeom>
          <a:ln w="12700">
            <a:solidFill>
              <a:srgbClr val="14161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210800" y="368300"/>
            <a:ext cx="76200" cy="76200"/>
          </a:xfrm>
          <a:prstGeom prst="roundRect">
            <a:avLst>
              <a:gd name="adj" fmla="val 36000"/>
            </a:avLst>
          </a:prstGeom>
          <a:ln w="12700">
            <a:solidFill>
              <a:srgbClr val="14161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312400" y="368300"/>
            <a:ext cx="76200" cy="76200"/>
          </a:xfrm>
          <a:prstGeom prst="roundRect">
            <a:avLst>
              <a:gd name="adj" fmla="val 36000"/>
            </a:avLst>
          </a:prstGeom>
          <a:ln w="12700">
            <a:solidFill>
              <a:srgbClr val="14161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414000" y="368300"/>
            <a:ext cx="76200" cy="76200"/>
          </a:xfrm>
          <a:prstGeom prst="roundRect">
            <a:avLst>
              <a:gd name="adj" fmla="val 36000"/>
            </a:avLst>
          </a:prstGeom>
          <a:ln w="12700">
            <a:solidFill>
              <a:srgbClr val="14161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515600" y="368300"/>
            <a:ext cx="76200" cy="76200"/>
          </a:xfrm>
          <a:prstGeom prst="roundRect">
            <a:avLst>
              <a:gd name="adj" fmla="val 36000"/>
            </a:avLst>
          </a:prstGeom>
          <a:ln w="12700">
            <a:solidFill>
              <a:srgbClr val="14161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617200" y="368300"/>
            <a:ext cx="76200" cy="76200"/>
          </a:xfrm>
          <a:prstGeom prst="roundRect">
            <a:avLst>
              <a:gd name="adj" fmla="val 36000"/>
            </a:avLst>
          </a:prstGeom>
          <a:ln w="12700">
            <a:solidFill>
              <a:srgbClr val="14161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718800" y="368300"/>
            <a:ext cx="76200" cy="76200"/>
          </a:xfrm>
          <a:prstGeom prst="roundRect">
            <a:avLst>
              <a:gd name="adj" fmla="val 36000"/>
            </a:avLst>
          </a:prstGeom>
          <a:ln w="12700">
            <a:solidFill>
              <a:srgbClr val="14161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9600" y="647700"/>
            <a:ext cx="10972800" cy="0"/>
          </a:xfrm>
          <a:prstGeom prst="line">
            <a:avLst/>
          </a:prstGeom>
          <a:noFill/>
          <a:ln w="28575">
            <a:solidFill>
              <a:srgbClr val="14161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09600" y="952500"/>
            <a:ext cx="5715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5E62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WHY IS LLM SERVING SLOW &amp; EXPENSIVE</a:t>
            </a:r>
            <a:endParaRPr lang="en-US" sz="850" dirty="0"/>
          </a:p>
        </p:txBody>
      </p:sp>
      <p:sp>
        <p:nvSpPr>
          <p:cNvPr id="19" name="Text 17"/>
          <p:cNvSpPr txBox="1"/>
          <p:nvPr/>
        </p:nvSpPr>
        <p:spPr>
          <a:xfrm>
            <a:off x="609600" y="1130300"/>
            <a:ext cx="5207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416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推理慢又贵，问题出在显存</a:t>
            </a:r>
            <a:endParaRPr lang="en-US" sz="3200" dirty="0"/>
          </a:p>
        </p:txBody>
      </p:sp>
      <p:sp>
        <p:nvSpPr>
          <p:cNvPr id="20" name="Text 18"/>
          <p:cNvSpPr txBox="1"/>
          <p:nvPr/>
        </p:nvSpPr>
        <p:spPr>
          <a:xfrm>
            <a:off x="5842000" y="1244600"/>
            <a:ext cx="254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i="1" dirty="0">
                <a:solidFill>
                  <a:srgbClr val="B533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in FLOPs.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609600" y="1968500"/>
            <a:ext cx="7245350" cy="0"/>
          </a:xfrm>
          <a:prstGeom prst="line">
            <a:avLst/>
          </a:prstGeom>
          <a:noFill/>
          <a:ln w="28575">
            <a:solidFill>
              <a:srgbClr val="14161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09600" y="2133600"/>
            <a:ext cx="381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B533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1168400" y="2095500"/>
            <a:ext cx="66865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16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自回归解码是“访存密集型”任务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168400" y="2362200"/>
            <a:ext cx="6686550" cy="927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A3E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每生成一个 token，都要把整份模型权重和历史 KV Cache 从显存读一遍。单个请求计算量很小，GPU 算力大量闲置，瓶颈是显存带宽与容量，而不是算力。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09600" y="3340100"/>
            <a:ext cx="7245350" cy="0"/>
          </a:xfrm>
          <a:prstGeom prst="line">
            <a:avLst/>
          </a:prstGeom>
          <a:noFill/>
          <a:ln w="9525">
            <a:solidFill>
              <a:srgbClr val="CFC8B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09600" y="3505200"/>
            <a:ext cx="381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B533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1168400" y="3467100"/>
            <a:ext cx="66865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16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KV Cache 大，且长度不可预知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1168400" y="3733800"/>
            <a:ext cx="6686550" cy="927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A3E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 13B 模型为例，单个 token 的 KV Cache 约 800 KB；一个 2048 token 的序列就要约 1.6 GB。输出多长事先不知道，传统系统只能按最大长度预留连续显存。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09600" y="4711700"/>
            <a:ext cx="7245350" cy="0"/>
          </a:xfrm>
          <a:prstGeom prst="line">
            <a:avLst/>
          </a:prstGeom>
          <a:noFill/>
          <a:ln w="9525">
            <a:solidFill>
              <a:srgbClr val="CFC8B8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09600" y="4876800"/>
            <a:ext cx="381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B533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1168400" y="4838700"/>
            <a:ext cx="66865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16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预留 + 碎片 = 大量浪费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1168400" y="5105400"/>
            <a:ext cx="6686550" cy="927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A3E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预留却未用上的空间、请求之间的外部碎片，让 KV Cache 显存中只有 20%–38% 真正存了 token。能同时服务的请求数被卡死，吞吐也就上不去。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8058150" y="1968500"/>
            <a:ext cx="3524250" cy="2159000"/>
          </a:xfrm>
          <a:prstGeom prst="rect">
            <a:avLst/>
          </a:prstGeom>
          <a:solidFill>
            <a:srgbClr val="FBFAF6"/>
          </a:solidFill>
          <a:ln w="13970">
            <a:solidFill>
              <a:srgbClr val="14161B"/>
            </a:solidFill>
            <a:prstDash val="solid"/>
          </a:ln>
          <a:effectLst>
            <a:outerShdw sx="100000" sy="100000" kx="0" ky="0" algn="bl" rotWithShape="0" blurRad="101600" dist="63500" dir="2700000">
              <a:srgbClr val="14161B">
                <a:alpha val="100000"/>
              </a:srgbClr>
            </a:outerShdw>
          </a:effectLst>
        </p:spPr>
      </p:sp>
      <p:sp>
        <p:nvSpPr>
          <p:cNvPr id="34" name="Text 32"/>
          <p:cNvSpPr txBox="1"/>
          <p:nvPr/>
        </p:nvSpPr>
        <p:spPr>
          <a:xfrm>
            <a:off x="8261350" y="2146300"/>
            <a:ext cx="254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5E62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 FIGURE</a:t>
            </a:r>
            <a:endParaRPr lang="en-US" sz="850" dirty="0"/>
          </a:p>
        </p:txBody>
      </p:sp>
      <p:sp>
        <p:nvSpPr>
          <p:cNvPr id="35" name="Text 33"/>
          <p:cNvSpPr txBox="1"/>
          <p:nvPr/>
        </p:nvSpPr>
        <p:spPr>
          <a:xfrm>
            <a:off x="8261350" y="2362200"/>
            <a:ext cx="3175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400" dirty="0">
                <a:solidFill>
                  <a:srgbClr val="B533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60–80</a:t>
            </a:r>
            <a:pPr indent="0" marL="0">
              <a:buNone/>
            </a:pPr>
            <a:r>
              <a:rPr lang="en-US" sz="3200" dirty="0">
                <a:solidFill>
                  <a:srgbClr val="B533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%</a:t>
            </a:r>
            <a:endParaRPr lang="en-US" sz="6400" dirty="0"/>
          </a:p>
        </p:txBody>
      </p:sp>
      <p:sp>
        <p:nvSpPr>
          <p:cNvPr id="36" name="Text 34"/>
          <p:cNvSpPr txBox="1"/>
          <p:nvPr/>
        </p:nvSpPr>
        <p:spPr>
          <a:xfrm>
            <a:off x="8261350" y="3365500"/>
            <a:ext cx="311785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A3E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现有系统中 KV Cache 显存被浪费的比例；vLLM 将其降到 4% 以下。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8058150" y="4381500"/>
            <a:ext cx="3524250" cy="825500"/>
          </a:xfrm>
          <a:prstGeom prst="rect">
            <a:avLst/>
          </a:prstGeom>
          <a:solidFill>
            <a:srgbClr val="E8E3D6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8261350" y="4546600"/>
            <a:ext cx="31178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b="1" dirty="0">
                <a:solidFill>
                  <a:srgbClr val="1416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一句话结论：</a:t>
            </a:r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A3E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谁能把 KV Cache 管得更省，谁就能在同一张卡上塞下更多请求。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8058150" y="5397500"/>
            <a:ext cx="352425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5E62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数据来源：Kwon et al., Efficient Memory Management for LLM Serving with PagedAttention, SOSP 2023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600" y="330200"/>
            <a:ext cx="381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1416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vLLM</a:t>
            </a:r>
            <a:pPr indent="0" marL="0">
              <a:buNone/>
            </a:pPr>
            <a:r>
              <a:rPr lang="en-US" sz="850" spc="100" kern="0" dirty="0">
                <a:solidFill>
                  <a:srgbClr val="1416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／  大模型推理框架介绍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4191000" y="330200"/>
            <a:ext cx="381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5E62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— PAGEDATTENTION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10883900" y="330200"/>
            <a:ext cx="6985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spc="100" kern="0" dirty="0">
                <a:solidFill>
                  <a:srgbClr val="1416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/ 12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9601200" y="368300"/>
            <a:ext cx="76200" cy="76200"/>
          </a:xfrm>
          <a:prstGeom prst="roundRect">
            <a:avLst>
              <a:gd name="adj" fmla="val 36000"/>
            </a:avLst>
          </a:prstGeom>
          <a:solidFill>
            <a:srgbClr val="14161B"/>
          </a:solidFill>
          <a:ln w="12700">
            <a:solidFill>
              <a:srgbClr val="14161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702800" y="368300"/>
            <a:ext cx="76200" cy="76200"/>
          </a:xfrm>
          <a:prstGeom prst="roundRect">
            <a:avLst>
              <a:gd name="adj" fmla="val 36000"/>
            </a:avLst>
          </a:prstGeom>
          <a:solidFill>
            <a:srgbClr val="14161B"/>
          </a:solidFill>
          <a:ln w="12700">
            <a:solidFill>
              <a:srgbClr val="14161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804400" y="368300"/>
            <a:ext cx="76200" cy="76200"/>
          </a:xfrm>
          <a:prstGeom prst="roundRect">
            <a:avLst>
              <a:gd name="adj" fmla="val 36000"/>
            </a:avLst>
          </a:prstGeom>
          <a:solidFill>
            <a:srgbClr val="14161B"/>
          </a:solidFill>
          <a:ln w="12700">
            <a:solidFill>
              <a:srgbClr val="14161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906000" y="368300"/>
            <a:ext cx="76200" cy="76200"/>
          </a:xfrm>
          <a:prstGeom prst="roundRect">
            <a:avLst>
              <a:gd name="adj" fmla="val 36000"/>
            </a:avLst>
          </a:prstGeom>
          <a:solidFill>
            <a:srgbClr val="14161B"/>
          </a:solidFill>
          <a:ln w="12700">
            <a:solidFill>
              <a:srgbClr val="14161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007600" y="368300"/>
            <a:ext cx="76200" cy="76200"/>
          </a:xfrm>
          <a:prstGeom prst="roundRect">
            <a:avLst>
              <a:gd name="adj" fmla="val 36000"/>
            </a:avLst>
          </a:prstGeom>
          <a:solidFill>
            <a:srgbClr val="FF4F1F"/>
          </a:solidFill>
          <a:ln w="12700">
            <a:solidFill>
              <a:srgbClr val="FF4F1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109200" y="368300"/>
            <a:ext cx="76200" cy="76200"/>
          </a:xfrm>
          <a:prstGeom prst="roundRect">
            <a:avLst>
              <a:gd name="adj" fmla="val 36000"/>
            </a:avLst>
          </a:prstGeom>
          <a:ln w="12700">
            <a:solidFill>
              <a:srgbClr val="14161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210800" y="368300"/>
            <a:ext cx="76200" cy="76200"/>
          </a:xfrm>
          <a:prstGeom prst="roundRect">
            <a:avLst>
              <a:gd name="adj" fmla="val 36000"/>
            </a:avLst>
          </a:prstGeom>
          <a:ln w="12700">
            <a:solidFill>
              <a:srgbClr val="14161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312400" y="368300"/>
            <a:ext cx="76200" cy="76200"/>
          </a:xfrm>
          <a:prstGeom prst="roundRect">
            <a:avLst>
              <a:gd name="adj" fmla="val 36000"/>
            </a:avLst>
          </a:prstGeom>
          <a:ln w="12700">
            <a:solidFill>
              <a:srgbClr val="14161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414000" y="368300"/>
            <a:ext cx="76200" cy="76200"/>
          </a:xfrm>
          <a:prstGeom prst="roundRect">
            <a:avLst>
              <a:gd name="adj" fmla="val 36000"/>
            </a:avLst>
          </a:prstGeom>
          <a:ln w="12700">
            <a:solidFill>
              <a:srgbClr val="14161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515600" y="368300"/>
            <a:ext cx="76200" cy="76200"/>
          </a:xfrm>
          <a:prstGeom prst="roundRect">
            <a:avLst>
              <a:gd name="adj" fmla="val 36000"/>
            </a:avLst>
          </a:prstGeom>
          <a:ln w="12700">
            <a:solidFill>
              <a:srgbClr val="14161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617200" y="368300"/>
            <a:ext cx="76200" cy="76200"/>
          </a:xfrm>
          <a:prstGeom prst="roundRect">
            <a:avLst>
              <a:gd name="adj" fmla="val 36000"/>
            </a:avLst>
          </a:prstGeom>
          <a:ln w="12700">
            <a:solidFill>
              <a:srgbClr val="14161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718800" y="368300"/>
            <a:ext cx="76200" cy="76200"/>
          </a:xfrm>
          <a:prstGeom prst="roundRect">
            <a:avLst>
              <a:gd name="adj" fmla="val 36000"/>
            </a:avLst>
          </a:prstGeom>
          <a:ln w="12700">
            <a:solidFill>
              <a:srgbClr val="14161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9600" y="647700"/>
            <a:ext cx="10972800" cy="0"/>
          </a:xfrm>
          <a:prstGeom prst="line">
            <a:avLst/>
          </a:prstGeom>
          <a:noFill/>
          <a:ln w="28575">
            <a:solidFill>
              <a:srgbClr val="14161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09600" y="952500"/>
            <a:ext cx="381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5E62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HOW IT WORKS</a:t>
            </a:r>
            <a:endParaRPr lang="en-US" sz="850" dirty="0"/>
          </a:p>
        </p:txBody>
      </p:sp>
      <p:sp>
        <p:nvSpPr>
          <p:cNvPr id="19" name="Text 17"/>
          <p:cNvSpPr txBox="1"/>
          <p:nvPr/>
        </p:nvSpPr>
        <p:spPr>
          <a:xfrm>
            <a:off x="609600" y="1130300"/>
            <a:ext cx="7620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416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逻辑块 → 块表 → 物理块</a:t>
            </a:r>
            <a:endParaRPr lang="en-US" sz="3200" dirty="0"/>
          </a:p>
        </p:txBody>
      </p:sp>
      <p:sp>
        <p:nvSpPr>
          <p:cNvPr id="20" name="Text 18"/>
          <p:cNvSpPr txBox="1"/>
          <p:nvPr/>
        </p:nvSpPr>
        <p:spPr>
          <a:xfrm>
            <a:off x="609600" y="1905000"/>
            <a:ext cx="2286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5E62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逻辑 KV 块 · 请求 A</a:t>
            </a:r>
            <a:endParaRPr lang="en-US" sz="850" dirty="0"/>
          </a:p>
        </p:txBody>
      </p:sp>
      <p:sp>
        <p:nvSpPr>
          <p:cNvPr id="21" name="Text 19"/>
          <p:cNvSpPr txBox="1"/>
          <p:nvPr/>
        </p:nvSpPr>
        <p:spPr>
          <a:xfrm>
            <a:off x="609600" y="2159000"/>
            <a:ext cx="2159000" cy="406400"/>
          </a:xfrm>
          <a:prstGeom prst="rect">
            <a:avLst/>
          </a:prstGeom>
          <a:solidFill>
            <a:srgbClr val="FBFAF6"/>
          </a:solidFill>
          <a:ln w="13970">
            <a:solidFill>
              <a:srgbClr val="1416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6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Logical #0 · 4 tok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609600" y="2641600"/>
            <a:ext cx="2159000" cy="406400"/>
          </a:xfrm>
          <a:prstGeom prst="rect">
            <a:avLst/>
          </a:prstGeom>
          <a:solidFill>
            <a:srgbClr val="FBFAF6"/>
          </a:solidFill>
          <a:ln w="13970">
            <a:solidFill>
              <a:srgbClr val="1416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6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Logical #1 · 4 tok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609600" y="3124200"/>
            <a:ext cx="2159000" cy="406400"/>
          </a:xfrm>
          <a:prstGeom prst="rect">
            <a:avLst/>
          </a:prstGeom>
          <a:solidFill>
            <a:srgbClr val="FBFAF6"/>
          </a:solidFill>
          <a:ln w="13970">
            <a:solidFill>
              <a:srgbClr val="1416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6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Logical #2 · 4 tok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609600" y="3606800"/>
            <a:ext cx="2159000" cy="406400"/>
          </a:xfrm>
          <a:prstGeom prst="rect">
            <a:avLst/>
          </a:prstGeom>
          <a:solidFill>
            <a:srgbClr val="FBFAF6"/>
          </a:solidFill>
          <a:ln w="13970">
            <a:solidFill>
              <a:srgbClr val="1416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6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Logical #3 · 1 tok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609600" y="4127500"/>
            <a:ext cx="2159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E62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序列在逻辑上是连续的</a:t>
            </a:r>
            <a:endParaRPr lang="en-US" sz="800" dirty="0"/>
          </a:p>
        </p:txBody>
      </p:sp>
      <p:sp>
        <p:nvSpPr>
          <p:cNvPr id="26" name="Text 24"/>
          <p:cNvSpPr txBox="1"/>
          <p:nvPr/>
        </p:nvSpPr>
        <p:spPr>
          <a:xfrm>
            <a:off x="2794000" y="2794000"/>
            <a:ext cx="444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dirty="0">
                <a:solidFill>
                  <a:srgbClr val="1416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3000" dirty="0"/>
          </a:p>
        </p:txBody>
      </p:sp>
      <p:sp>
        <p:nvSpPr>
          <p:cNvPr id="27" name="Text 25"/>
          <p:cNvSpPr txBox="1"/>
          <p:nvPr/>
        </p:nvSpPr>
        <p:spPr>
          <a:xfrm>
            <a:off x="3302000" y="1905000"/>
            <a:ext cx="2794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5E62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② BLOCK TABLE</a:t>
            </a:r>
            <a:endParaRPr lang="en-US" sz="8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302000" y="2159000"/>
          <a:ext cx="2794000" cy="914400"/>
        </p:xfrm>
        <a:graphic>
          <a:graphicData uri="http://schemas.openxmlformats.org/drawingml/2006/table">
            <a:tbl>
              <a:tblPr/>
              <a:tblGrid>
                <a:gridCol w="952500"/>
                <a:gridCol w="952500"/>
                <a:gridCol w="889000"/>
              </a:tblGrid>
              <a:tr h="304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3F0E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逻辑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64008" marT="36576" marB="36576" anchor="ctr">
                    <a:lnL w="9525" cap="flat" cmpd="sng" algn="ctr">
                      <a:solidFill>
                        <a:srgbClr val="CF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61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3F0E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物理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64008" marT="36576" marB="36576" anchor="ctr">
                    <a:lnL w="9525" cap="flat" cmpd="sng" algn="ctr">
                      <a:solidFill>
                        <a:srgbClr val="CF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61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3F0E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已填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64008" marT="36576" marB="36576" anchor="ctr">
                    <a:lnL w="9525" cap="flat" cmpd="sng" algn="ctr">
                      <a:solidFill>
                        <a:srgbClr val="CF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61B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4161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64008" marT="36576" marB="36576" anchor="ctr">
                    <a:lnL w="9525" cap="flat" cmpd="sng" algn="ctr">
                      <a:solidFill>
                        <a:srgbClr val="CF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4161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7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64008" marT="36576" marB="36576" anchor="ctr">
                    <a:lnL w="9525" cap="flat" cmpd="sng" algn="ctr">
                      <a:solidFill>
                        <a:srgbClr val="CF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4161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4/4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64008" marT="36576" marB="36576" anchor="ctr">
                    <a:lnL w="9525" cap="flat" cmpd="sng" algn="ctr">
                      <a:solidFill>
                        <a:srgbClr val="CF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4161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64008" marT="36576" marB="36576" anchor="ctr">
                    <a:lnL w="9525" cap="flat" cmpd="sng" algn="ctr">
                      <a:solidFill>
                        <a:srgbClr val="CF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4161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64008" marT="36576" marB="36576" anchor="ctr">
                    <a:lnL w="9525" cap="flat" cmpd="sng" algn="ctr">
                      <a:solidFill>
                        <a:srgbClr val="CF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4161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4/4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64008" marT="36576" marB="36576" anchor="ctr">
                    <a:lnL w="9525" cap="flat" cmpd="sng" algn="ctr">
                      <a:solidFill>
                        <a:srgbClr val="CF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4161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64008" marT="36576" marB="36576" anchor="ctr">
                    <a:lnL w="9525" cap="flat" cmpd="sng" algn="ctr">
                      <a:solidFill>
                        <a:srgbClr val="CF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4161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64008" marT="36576" marB="36576" anchor="ctr">
                    <a:lnL w="9525" cap="flat" cmpd="sng" algn="ctr">
                      <a:solidFill>
                        <a:srgbClr val="CF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4161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4/4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64008" marT="36576" marB="36576" anchor="ctr">
                    <a:lnL w="9525" cap="flat" cmpd="sng" algn="ctr">
                      <a:solidFill>
                        <a:srgbClr val="CF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4161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64008" marT="36576" marB="36576" anchor="ctr">
                    <a:lnL w="9525" cap="flat" cmpd="sng" algn="ctr">
                      <a:solidFill>
                        <a:srgbClr val="CF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4161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64008" marT="36576" marB="36576" anchor="ctr">
                    <a:lnL w="9525" cap="flat" cmpd="sng" algn="ctr">
                      <a:solidFill>
                        <a:srgbClr val="CF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4161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1/4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64008" marT="36576" marB="36576" anchor="ctr">
                    <a:lnL w="9525" cap="flat" cmpd="sng" algn="ctr">
                      <a:solidFill>
                        <a:srgbClr val="CF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</a:tr>
            </a:tbl>
          </a:graphicData>
        </a:graphic>
      </p:graphicFrame>
      <p:sp>
        <p:nvSpPr>
          <p:cNvPr id="29" name="Shape 26"/>
          <p:cNvSpPr/>
          <p:nvPr/>
        </p:nvSpPr>
        <p:spPr>
          <a:xfrm>
            <a:off x="3302000" y="3810000"/>
            <a:ext cx="2794000" cy="952500"/>
          </a:xfrm>
          <a:prstGeom prst="rect">
            <a:avLst/>
          </a:prstGeom>
          <a:solidFill>
            <a:srgbClr val="FFE1D3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3454400" y="3937000"/>
            <a:ext cx="25146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b="1" dirty="0">
                <a:solidFill>
                  <a:srgbClr val="1416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写时复制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1416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并行采样 / beam search 的多个分支共享同一组物理块，引用计数为 0 才回收。</a:t>
            </a:r>
            <a:endParaRPr lang="en-US" sz="1050" dirty="0"/>
          </a:p>
        </p:txBody>
      </p:sp>
      <p:sp>
        <p:nvSpPr>
          <p:cNvPr id="31" name="Text 28"/>
          <p:cNvSpPr txBox="1"/>
          <p:nvPr/>
        </p:nvSpPr>
        <p:spPr>
          <a:xfrm>
            <a:off x="6121400" y="2794000"/>
            <a:ext cx="444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dirty="0">
                <a:solidFill>
                  <a:srgbClr val="1416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3000" dirty="0"/>
          </a:p>
        </p:txBody>
      </p:sp>
      <p:sp>
        <p:nvSpPr>
          <p:cNvPr id="32" name="Text 29"/>
          <p:cNvSpPr txBox="1"/>
          <p:nvPr/>
        </p:nvSpPr>
        <p:spPr>
          <a:xfrm>
            <a:off x="6629400" y="1905000"/>
            <a:ext cx="2413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5E62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物理 KV 块 · GPU 显存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6629400" y="2159000"/>
            <a:ext cx="2413000" cy="368300"/>
          </a:xfrm>
          <a:prstGeom prst="rect">
            <a:avLst/>
          </a:prstGeom>
          <a:solidFill>
            <a:srgbClr val="FBFAF6"/>
          </a:solidFill>
          <a:ln w="13970">
            <a:solidFill>
              <a:srgbClr val="14161B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6743700" y="2159000"/>
            <a:ext cx="635000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16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#0</a:t>
            </a:r>
            <a:endParaRPr lang="en-US" sz="900" dirty="0"/>
          </a:p>
        </p:txBody>
      </p:sp>
      <p:sp>
        <p:nvSpPr>
          <p:cNvPr id="35" name="Text 32"/>
          <p:cNvSpPr txBox="1"/>
          <p:nvPr/>
        </p:nvSpPr>
        <p:spPr>
          <a:xfrm>
            <a:off x="8001000" y="2159000"/>
            <a:ext cx="927100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416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空闲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6629400" y="2578100"/>
            <a:ext cx="2413000" cy="368300"/>
          </a:xfrm>
          <a:prstGeom prst="rect">
            <a:avLst/>
          </a:prstGeom>
          <a:solidFill>
            <a:srgbClr val="FF4F1F"/>
          </a:solidFill>
          <a:ln w="13970">
            <a:solidFill>
              <a:srgbClr val="14161B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6743700" y="2578100"/>
            <a:ext cx="635000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16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#1</a:t>
            </a:r>
            <a:endParaRPr lang="en-US" sz="900" dirty="0"/>
          </a:p>
        </p:txBody>
      </p:sp>
      <p:sp>
        <p:nvSpPr>
          <p:cNvPr id="38" name="Text 35"/>
          <p:cNvSpPr txBox="1"/>
          <p:nvPr/>
        </p:nvSpPr>
        <p:spPr>
          <a:xfrm>
            <a:off x="8001000" y="2578100"/>
            <a:ext cx="927100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416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请求 A</a:t>
            </a:r>
            <a:endParaRPr lang="en-US" sz="900" dirty="0"/>
          </a:p>
        </p:txBody>
      </p:sp>
      <p:sp>
        <p:nvSpPr>
          <p:cNvPr id="39" name="Shape 36"/>
          <p:cNvSpPr/>
          <p:nvPr/>
        </p:nvSpPr>
        <p:spPr>
          <a:xfrm>
            <a:off x="6629400" y="2997200"/>
            <a:ext cx="2413000" cy="368300"/>
          </a:xfrm>
          <a:prstGeom prst="rect">
            <a:avLst/>
          </a:prstGeom>
          <a:solidFill>
            <a:srgbClr val="2B3BFF"/>
          </a:solidFill>
          <a:ln w="13970">
            <a:solidFill>
              <a:srgbClr val="14161B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6743700" y="2997200"/>
            <a:ext cx="635000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3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#2</a:t>
            </a:r>
            <a:endParaRPr lang="en-US" sz="900" dirty="0"/>
          </a:p>
        </p:txBody>
      </p:sp>
      <p:sp>
        <p:nvSpPr>
          <p:cNvPr id="41" name="Text 38"/>
          <p:cNvSpPr txBox="1"/>
          <p:nvPr/>
        </p:nvSpPr>
        <p:spPr>
          <a:xfrm>
            <a:off x="8001000" y="2997200"/>
            <a:ext cx="927100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3F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请求 B</a:t>
            </a: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6629400" y="3416300"/>
            <a:ext cx="2413000" cy="368300"/>
          </a:xfrm>
          <a:prstGeom prst="rect">
            <a:avLst/>
          </a:prstGeom>
          <a:solidFill>
            <a:srgbClr val="FF4F1F"/>
          </a:solidFill>
          <a:ln w="13970">
            <a:solidFill>
              <a:srgbClr val="14161B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743700" y="3416300"/>
            <a:ext cx="635000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16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#3</a:t>
            </a:r>
            <a:endParaRPr lang="en-US" sz="900" dirty="0"/>
          </a:p>
        </p:txBody>
      </p:sp>
      <p:sp>
        <p:nvSpPr>
          <p:cNvPr id="44" name="Text 41"/>
          <p:cNvSpPr txBox="1"/>
          <p:nvPr/>
        </p:nvSpPr>
        <p:spPr>
          <a:xfrm>
            <a:off x="8001000" y="3416300"/>
            <a:ext cx="927100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416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请求 A</a:t>
            </a:r>
            <a:endParaRPr lang="en-US" sz="900" dirty="0"/>
          </a:p>
        </p:txBody>
      </p:sp>
      <p:sp>
        <p:nvSpPr>
          <p:cNvPr id="45" name="Shape 42"/>
          <p:cNvSpPr/>
          <p:nvPr/>
        </p:nvSpPr>
        <p:spPr>
          <a:xfrm>
            <a:off x="6629400" y="3835400"/>
            <a:ext cx="2413000" cy="368300"/>
          </a:xfrm>
          <a:prstGeom prst="rect">
            <a:avLst/>
          </a:prstGeom>
          <a:solidFill>
            <a:srgbClr val="FBFAF6"/>
          </a:solidFill>
          <a:ln w="13970">
            <a:solidFill>
              <a:srgbClr val="14161B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6743700" y="3835400"/>
            <a:ext cx="635000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16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#4</a:t>
            </a:r>
            <a:endParaRPr lang="en-US" sz="900" dirty="0"/>
          </a:p>
        </p:txBody>
      </p:sp>
      <p:sp>
        <p:nvSpPr>
          <p:cNvPr id="47" name="Text 44"/>
          <p:cNvSpPr txBox="1"/>
          <p:nvPr/>
        </p:nvSpPr>
        <p:spPr>
          <a:xfrm>
            <a:off x="8001000" y="3835400"/>
            <a:ext cx="927100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416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空闲</a:t>
            </a:r>
            <a:endParaRPr lang="en-US" sz="900" dirty="0"/>
          </a:p>
        </p:txBody>
      </p:sp>
      <p:sp>
        <p:nvSpPr>
          <p:cNvPr id="48" name="Shape 45"/>
          <p:cNvSpPr/>
          <p:nvPr/>
        </p:nvSpPr>
        <p:spPr>
          <a:xfrm>
            <a:off x="6629400" y="4254500"/>
            <a:ext cx="2413000" cy="368300"/>
          </a:xfrm>
          <a:prstGeom prst="rect">
            <a:avLst/>
          </a:prstGeom>
          <a:solidFill>
            <a:srgbClr val="FF4F1F"/>
          </a:solidFill>
          <a:ln w="13970">
            <a:solidFill>
              <a:srgbClr val="14161B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6743700" y="4254500"/>
            <a:ext cx="635000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16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#5</a:t>
            </a:r>
            <a:endParaRPr lang="en-US" sz="900" dirty="0"/>
          </a:p>
        </p:txBody>
      </p:sp>
      <p:sp>
        <p:nvSpPr>
          <p:cNvPr id="50" name="Text 47"/>
          <p:cNvSpPr txBox="1"/>
          <p:nvPr/>
        </p:nvSpPr>
        <p:spPr>
          <a:xfrm>
            <a:off x="8001000" y="4254500"/>
            <a:ext cx="927100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416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请求 A</a:t>
            </a:r>
            <a:endParaRPr lang="en-US" sz="900" dirty="0"/>
          </a:p>
        </p:txBody>
      </p:sp>
      <p:sp>
        <p:nvSpPr>
          <p:cNvPr id="51" name="Shape 48"/>
          <p:cNvSpPr/>
          <p:nvPr/>
        </p:nvSpPr>
        <p:spPr>
          <a:xfrm>
            <a:off x="6629400" y="4673600"/>
            <a:ext cx="2413000" cy="368300"/>
          </a:xfrm>
          <a:prstGeom prst="rect">
            <a:avLst/>
          </a:prstGeom>
          <a:solidFill>
            <a:srgbClr val="2B3BFF"/>
          </a:solidFill>
          <a:ln w="13970">
            <a:solidFill>
              <a:srgbClr val="14161B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6743700" y="4673600"/>
            <a:ext cx="635000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3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#6</a:t>
            </a:r>
            <a:endParaRPr lang="en-US" sz="900" dirty="0"/>
          </a:p>
        </p:txBody>
      </p:sp>
      <p:sp>
        <p:nvSpPr>
          <p:cNvPr id="53" name="Text 50"/>
          <p:cNvSpPr txBox="1"/>
          <p:nvPr/>
        </p:nvSpPr>
        <p:spPr>
          <a:xfrm>
            <a:off x="8001000" y="4673600"/>
            <a:ext cx="927100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3F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请求 B</a:t>
            </a:r>
            <a:endParaRPr lang="en-US" sz="900" dirty="0"/>
          </a:p>
        </p:txBody>
      </p:sp>
      <p:sp>
        <p:nvSpPr>
          <p:cNvPr id="54" name="Shape 51"/>
          <p:cNvSpPr/>
          <p:nvPr/>
        </p:nvSpPr>
        <p:spPr>
          <a:xfrm>
            <a:off x="6629400" y="5092700"/>
            <a:ext cx="2413000" cy="368300"/>
          </a:xfrm>
          <a:prstGeom prst="rect">
            <a:avLst/>
          </a:prstGeom>
          <a:solidFill>
            <a:srgbClr val="FF4F1F"/>
          </a:solidFill>
          <a:ln w="13970">
            <a:solidFill>
              <a:srgbClr val="14161B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6743700" y="5092700"/>
            <a:ext cx="635000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16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#7</a:t>
            </a:r>
            <a:endParaRPr lang="en-US" sz="900" dirty="0"/>
          </a:p>
        </p:txBody>
      </p:sp>
      <p:sp>
        <p:nvSpPr>
          <p:cNvPr id="56" name="Text 53"/>
          <p:cNvSpPr txBox="1"/>
          <p:nvPr/>
        </p:nvSpPr>
        <p:spPr>
          <a:xfrm>
            <a:off x="8001000" y="5092700"/>
            <a:ext cx="927100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416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请求 A</a:t>
            </a:r>
            <a:endParaRPr lang="en-US" sz="900" dirty="0"/>
          </a:p>
        </p:txBody>
      </p:sp>
      <p:sp>
        <p:nvSpPr>
          <p:cNvPr id="57" name="Text 54"/>
          <p:cNvSpPr txBox="1"/>
          <p:nvPr/>
        </p:nvSpPr>
        <p:spPr>
          <a:xfrm>
            <a:off x="9398000" y="2159000"/>
            <a:ext cx="21844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■"/>
            </a:pPr>
            <a:r>
              <a:rPr lang="en-US" sz="1150" dirty="0">
                <a:solidFill>
                  <a:srgbClr val="3A3E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物理块不必连续，按需一块一块分配</a:t>
            </a:r>
            <a:endParaRPr lang="en-US" sz="115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■"/>
            </a:pPr>
            <a:r>
              <a:rPr lang="en-US" sz="1150" dirty="0">
                <a:solidFill>
                  <a:srgbClr val="3A3E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浪费只发生在每个序列的最后一块</a:t>
            </a:r>
            <a:endParaRPr lang="en-US" sz="115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■"/>
            </a:pPr>
            <a:r>
              <a:rPr lang="en-US" sz="1150" dirty="0">
                <a:solidFill>
                  <a:srgbClr val="3A3E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多个请求可共享相同前缀的块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600" y="330200"/>
            <a:ext cx="381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1416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vLLM</a:t>
            </a:r>
            <a:pPr indent="0" marL="0">
              <a:buNone/>
            </a:pPr>
            <a:r>
              <a:rPr lang="en-US" sz="850" spc="100" kern="0" dirty="0">
                <a:solidFill>
                  <a:srgbClr val="1416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／  大模型推理框架介绍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4191000" y="330200"/>
            <a:ext cx="381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5E62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— 核心特性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10883900" y="330200"/>
            <a:ext cx="6985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spc="100" kern="0" dirty="0">
                <a:solidFill>
                  <a:srgbClr val="1416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/ 12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9601200" y="368300"/>
            <a:ext cx="76200" cy="76200"/>
          </a:xfrm>
          <a:prstGeom prst="roundRect">
            <a:avLst>
              <a:gd name="adj" fmla="val 36000"/>
            </a:avLst>
          </a:prstGeom>
          <a:solidFill>
            <a:srgbClr val="14161B"/>
          </a:solidFill>
          <a:ln w="12700">
            <a:solidFill>
              <a:srgbClr val="14161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702800" y="368300"/>
            <a:ext cx="76200" cy="76200"/>
          </a:xfrm>
          <a:prstGeom prst="roundRect">
            <a:avLst>
              <a:gd name="adj" fmla="val 36000"/>
            </a:avLst>
          </a:prstGeom>
          <a:solidFill>
            <a:srgbClr val="14161B"/>
          </a:solidFill>
          <a:ln w="12700">
            <a:solidFill>
              <a:srgbClr val="14161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804400" y="368300"/>
            <a:ext cx="76200" cy="76200"/>
          </a:xfrm>
          <a:prstGeom prst="roundRect">
            <a:avLst>
              <a:gd name="adj" fmla="val 36000"/>
            </a:avLst>
          </a:prstGeom>
          <a:solidFill>
            <a:srgbClr val="14161B"/>
          </a:solidFill>
          <a:ln w="12700">
            <a:solidFill>
              <a:srgbClr val="14161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906000" y="368300"/>
            <a:ext cx="76200" cy="76200"/>
          </a:xfrm>
          <a:prstGeom prst="roundRect">
            <a:avLst>
              <a:gd name="adj" fmla="val 36000"/>
            </a:avLst>
          </a:prstGeom>
          <a:solidFill>
            <a:srgbClr val="14161B"/>
          </a:solidFill>
          <a:ln w="12700">
            <a:solidFill>
              <a:srgbClr val="14161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007600" y="368300"/>
            <a:ext cx="76200" cy="76200"/>
          </a:xfrm>
          <a:prstGeom prst="roundRect">
            <a:avLst>
              <a:gd name="adj" fmla="val 36000"/>
            </a:avLst>
          </a:prstGeom>
          <a:solidFill>
            <a:srgbClr val="14161B"/>
          </a:solidFill>
          <a:ln w="12700">
            <a:solidFill>
              <a:srgbClr val="14161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109200" y="368300"/>
            <a:ext cx="76200" cy="76200"/>
          </a:xfrm>
          <a:prstGeom prst="roundRect">
            <a:avLst>
              <a:gd name="adj" fmla="val 36000"/>
            </a:avLst>
          </a:prstGeom>
          <a:solidFill>
            <a:srgbClr val="FF4F1F"/>
          </a:solidFill>
          <a:ln w="12700">
            <a:solidFill>
              <a:srgbClr val="FF4F1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210800" y="368300"/>
            <a:ext cx="76200" cy="76200"/>
          </a:xfrm>
          <a:prstGeom prst="roundRect">
            <a:avLst>
              <a:gd name="adj" fmla="val 36000"/>
            </a:avLst>
          </a:prstGeom>
          <a:ln w="12700">
            <a:solidFill>
              <a:srgbClr val="14161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312400" y="368300"/>
            <a:ext cx="76200" cy="76200"/>
          </a:xfrm>
          <a:prstGeom prst="roundRect">
            <a:avLst>
              <a:gd name="adj" fmla="val 36000"/>
            </a:avLst>
          </a:prstGeom>
          <a:ln w="12700">
            <a:solidFill>
              <a:srgbClr val="14161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414000" y="368300"/>
            <a:ext cx="76200" cy="76200"/>
          </a:xfrm>
          <a:prstGeom prst="roundRect">
            <a:avLst>
              <a:gd name="adj" fmla="val 36000"/>
            </a:avLst>
          </a:prstGeom>
          <a:ln w="12700">
            <a:solidFill>
              <a:srgbClr val="14161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515600" y="368300"/>
            <a:ext cx="76200" cy="76200"/>
          </a:xfrm>
          <a:prstGeom prst="roundRect">
            <a:avLst>
              <a:gd name="adj" fmla="val 36000"/>
            </a:avLst>
          </a:prstGeom>
          <a:ln w="12700">
            <a:solidFill>
              <a:srgbClr val="14161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617200" y="368300"/>
            <a:ext cx="76200" cy="76200"/>
          </a:xfrm>
          <a:prstGeom prst="roundRect">
            <a:avLst>
              <a:gd name="adj" fmla="val 36000"/>
            </a:avLst>
          </a:prstGeom>
          <a:ln w="12700">
            <a:solidFill>
              <a:srgbClr val="14161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718800" y="368300"/>
            <a:ext cx="76200" cy="76200"/>
          </a:xfrm>
          <a:prstGeom prst="roundRect">
            <a:avLst>
              <a:gd name="adj" fmla="val 36000"/>
            </a:avLst>
          </a:prstGeom>
          <a:ln w="12700">
            <a:solidFill>
              <a:srgbClr val="14161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9600" y="647700"/>
            <a:ext cx="10972800" cy="0"/>
          </a:xfrm>
          <a:prstGeom prst="line">
            <a:avLst/>
          </a:prstGeom>
          <a:noFill/>
          <a:ln w="28575">
            <a:solidFill>
              <a:srgbClr val="14161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09600" y="952500"/>
            <a:ext cx="381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5E62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BEYOND PAGEDATTENTION</a:t>
            </a:r>
            <a:endParaRPr lang="en-US" sz="850" dirty="0"/>
          </a:p>
        </p:txBody>
      </p:sp>
      <p:sp>
        <p:nvSpPr>
          <p:cNvPr id="19" name="Text 17"/>
          <p:cNvSpPr txBox="1"/>
          <p:nvPr/>
        </p:nvSpPr>
        <p:spPr>
          <a:xfrm>
            <a:off x="609600" y="1130300"/>
            <a:ext cx="6350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416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不止于分页：六项核心能力</a:t>
            </a:r>
            <a:endParaRPr lang="en-US" sz="3200" dirty="0"/>
          </a:p>
        </p:txBody>
      </p:sp>
      <p:sp>
        <p:nvSpPr>
          <p:cNvPr id="20" name="Text 18"/>
          <p:cNvSpPr txBox="1"/>
          <p:nvPr/>
        </p:nvSpPr>
        <p:spPr>
          <a:xfrm>
            <a:off x="8255000" y="1308100"/>
            <a:ext cx="33274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A3E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这些特性大多可以叠加开启，按业务的延迟 / 吞吐目标组合使用。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09600" y="1968500"/>
            <a:ext cx="3536950" cy="1968500"/>
          </a:xfrm>
          <a:prstGeom prst="rect">
            <a:avLst/>
          </a:prstGeom>
          <a:solidFill>
            <a:srgbClr val="FBFAF6"/>
          </a:solidFill>
          <a:ln w="13970">
            <a:solidFill>
              <a:srgbClr val="14161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12800" y="2146300"/>
            <a:ext cx="508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416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1498600" y="2146300"/>
            <a:ext cx="24447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5E62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CONTINUOUS BATCHING</a:t>
            </a:r>
            <a:endParaRPr lang="en-US" sz="800" dirty="0"/>
          </a:p>
        </p:txBody>
      </p:sp>
      <p:sp>
        <p:nvSpPr>
          <p:cNvPr id="24" name="Text 22"/>
          <p:cNvSpPr txBox="1"/>
          <p:nvPr/>
        </p:nvSpPr>
        <p:spPr>
          <a:xfrm>
            <a:off x="812800" y="2755900"/>
            <a:ext cx="313055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16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连续批处理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812800" y="3136900"/>
            <a:ext cx="313055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A3E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以迭代（token）为粒度调度：一个请求结束立刻补入新请求，不再等整批跑完，GPU 始终满载。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324350" y="1968500"/>
            <a:ext cx="3536950" cy="1968500"/>
          </a:xfrm>
          <a:prstGeom prst="rect">
            <a:avLst/>
          </a:prstGeom>
          <a:solidFill>
            <a:srgbClr val="FBFAF6"/>
          </a:solidFill>
          <a:ln w="13970">
            <a:solidFill>
              <a:srgbClr val="14161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527550" y="2146300"/>
            <a:ext cx="508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416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850" dirty="0"/>
          </a:p>
        </p:txBody>
      </p:sp>
      <p:sp>
        <p:nvSpPr>
          <p:cNvPr id="28" name="Text 26"/>
          <p:cNvSpPr txBox="1"/>
          <p:nvPr/>
        </p:nvSpPr>
        <p:spPr>
          <a:xfrm>
            <a:off x="5213350" y="2146300"/>
            <a:ext cx="24447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5E62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PREFIX CACHING</a:t>
            </a:r>
            <a:endParaRPr lang="en-US" sz="800" dirty="0"/>
          </a:p>
        </p:txBody>
      </p:sp>
      <p:sp>
        <p:nvSpPr>
          <p:cNvPr id="29" name="Text 27"/>
          <p:cNvSpPr txBox="1"/>
          <p:nvPr/>
        </p:nvSpPr>
        <p:spPr>
          <a:xfrm>
            <a:off x="4527550" y="2755900"/>
            <a:ext cx="313055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16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自动前缀缓存</a:t>
            </a:r>
            <a:endParaRPr lang="en-US" sz="1800" dirty="0"/>
          </a:p>
        </p:txBody>
      </p:sp>
      <p:sp>
        <p:nvSpPr>
          <p:cNvPr id="30" name="Text 28"/>
          <p:cNvSpPr txBox="1"/>
          <p:nvPr/>
        </p:nvSpPr>
        <p:spPr>
          <a:xfrm>
            <a:off x="4527550" y="3136900"/>
            <a:ext cx="313055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A3E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相同 system prompt、多轮对话历史对应的 KV 块按哈希复用，首 token 延迟显著下降。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039100" y="1968500"/>
            <a:ext cx="3536950" cy="1968500"/>
          </a:xfrm>
          <a:prstGeom prst="rect">
            <a:avLst/>
          </a:prstGeom>
          <a:solidFill>
            <a:srgbClr val="FF4F1F"/>
          </a:solidFill>
          <a:ln w="13970">
            <a:solidFill>
              <a:srgbClr val="FF4F1F"/>
            </a:solidFill>
            <a:prstDash val="solid"/>
          </a:ln>
          <a:effectLst>
            <a:outerShdw sx="100000" sy="100000" kx="0" ky="0" algn="bl" rotWithShape="0" blurRad="101600" dist="63500" dir="2700000">
              <a:srgbClr val="14161B">
                <a:alpha val="100000"/>
              </a:srgbClr>
            </a:outerShdw>
          </a:effectLst>
        </p:spPr>
      </p:sp>
      <p:sp>
        <p:nvSpPr>
          <p:cNvPr id="32" name="Text 30"/>
          <p:cNvSpPr txBox="1"/>
          <p:nvPr/>
        </p:nvSpPr>
        <p:spPr>
          <a:xfrm>
            <a:off x="8242300" y="2146300"/>
            <a:ext cx="508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416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850" dirty="0"/>
          </a:p>
        </p:txBody>
      </p:sp>
      <p:sp>
        <p:nvSpPr>
          <p:cNvPr id="33" name="Text 31"/>
          <p:cNvSpPr txBox="1"/>
          <p:nvPr/>
        </p:nvSpPr>
        <p:spPr>
          <a:xfrm>
            <a:off x="8928100" y="2146300"/>
            <a:ext cx="24447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1416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CHUNKED PREFILL</a:t>
            </a:r>
            <a:endParaRPr lang="en-US" sz="800" dirty="0"/>
          </a:p>
        </p:txBody>
      </p:sp>
      <p:sp>
        <p:nvSpPr>
          <p:cNvPr id="34" name="Text 32"/>
          <p:cNvSpPr txBox="1"/>
          <p:nvPr/>
        </p:nvSpPr>
        <p:spPr>
          <a:xfrm>
            <a:off x="8242300" y="2755900"/>
            <a:ext cx="313055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16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分块预填充</a:t>
            </a:r>
            <a:endParaRPr lang="en-US" sz="1800" dirty="0"/>
          </a:p>
        </p:txBody>
      </p:sp>
      <p:sp>
        <p:nvSpPr>
          <p:cNvPr id="35" name="Text 33"/>
          <p:cNvSpPr txBox="1"/>
          <p:nvPr/>
        </p:nvSpPr>
        <p:spPr>
          <a:xfrm>
            <a:off x="8242300" y="3136900"/>
            <a:ext cx="313055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416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把长 prompt 的预填充切成小块，与解码请求混合调度，平滑长短请求之间的延迟抖动。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09600" y="4127500"/>
            <a:ext cx="3536950" cy="1968500"/>
          </a:xfrm>
          <a:prstGeom prst="rect">
            <a:avLst/>
          </a:prstGeom>
          <a:solidFill>
            <a:srgbClr val="FBFAF6"/>
          </a:solidFill>
          <a:ln w="13970">
            <a:solidFill>
              <a:srgbClr val="14161B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812800" y="4305300"/>
            <a:ext cx="508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416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850" dirty="0"/>
          </a:p>
        </p:txBody>
      </p:sp>
      <p:sp>
        <p:nvSpPr>
          <p:cNvPr id="38" name="Text 36"/>
          <p:cNvSpPr txBox="1"/>
          <p:nvPr/>
        </p:nvSpPr>
        <p:spPr>
          <a:xfrm>
            <a:off x="1498600" y="4305300"/>
            <a:ext cx="24447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5E62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SPECULATIVE DECODING</a:t>
            </a:r>
            <a:endParaRPr lang="en-US" sz="800" dirty="0"/>
          </a:p>
        </p:txBody>
      </p:sp>
      <p:sp>
        <p:nvSpPr>
          <p:cNvPr id="39" name="Text 37"/>
          <p:cNvSpPr txBox="1"/>
          <p:nvPr/>
        </p:nvSpPr>
        <p:spPr>
          <a:xfrm>
            <a:off x="812800" y="4914900"/>
            <a:ext cx="313055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16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投机解码</a:t>
            </a:r>
            <a:endParaRPr lang="en-US" sz="1800" dirty="0"/>
          </a:p>
        </p:txBody>
      </p:sp>
      <p:sp>
        <p:nvSpPr>
          <p:cNvPr id="40" name="Text 38"/>
          <p:cNvSpPr txBox="1"/>
          <p:nvPr/>
        </p:nvSpPr>
        <p:spPr>
          <a:xfrm>
            <a:off x="812800" y="5295900"/>
            <a:ext cx="313055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A3E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小模型 / n-gram / EAGLE 等先“猜”多个 token，大模型一次验证，降低单请求延迟。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324350" y="4127500"/>
            <a:ext cx="3536950" cy="1968500"/>
          </a:xfrm>
          <a:prstGeom prst="rect">
            <a:avLst/>
          </a:prstGeom>
          <a:solidFill>
            <a:srgbClr val="FBFAF6"/>
          </a:solidFill>
          <a:ln w="13970">
            <a:solidFill>
              <a:srgbClr val="14161B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4527550" y="4305300"/>
            <a:ext cx="508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416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850" dirty="0"/>
          </a:p>
        </p:txBody>
      </p:sp>
      <p:sp>
        <p:nvSpPr>
          <p:cNvPr id="43" name="Text 41"/>
          <p:cNvSpPr txBox="1"/>
          <p:nvPr/>
        </p:nvSpPr>
        <p:spPr>
          <a:xfrm>
            <a:off x="5213350" y="4305300"/>
            <a:ext cx="24447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5E62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QUANTIZATION</a:t>
            </a:r>
            <a:endParaRPr lang="en-US" sz="800" dirty="0"/>
          </a:p>
        </p:txBody>
      </p:sp>
      <p:sp>
        <p:nvSpPr>
          <p:cNvPr id="44" name="Text 42"/>
          <p:cNvSpPr txBox="1"/>
          <p:nvPr/>
        </p:nvSpPr>
        <p:spPr>
          <a:xfrm>
            <a:off x="4527550" y="4914900"/>
            <a:ext cx="313055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16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量化</a:t>
            </a:r>
            <a:endParaRPr lang="en-US" sz="1800" dirty="0"/>
          </a:p>
        </p:txBody>
      </p:sp>
      <p:sp>
        <p:nvSpPr>
          <p:cNvPr id="45" name="Text 43"/>
          <p:cNvSpPr txBox="1"/>
          <p:nvPr/>
        </p:nvSpPr>
        <p:spPr>
          <a:xfrm>
            <a:off x="4527550" y="5295900"/>
            <a:ext cx="313055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A3E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 GPTQ、AWQ、INT8、FP8 等权重与 KV Cache 量化，用更少显存跑更大模型。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8039100" y="4127500"/>
            <a:ext cx="3536950" cy="1968500"/>
          </a:xfrm>
          <a:prstGeom prst="rect">
            <a:avLst/>
          </a:prstGeom>
          <a:solidFill>
            <a:srgbClr val="2B3BFF"/>
          </a:solidFill>
          <a:ln w="13970">
            <a:solidFill>
              <a:srgbClr val="2B3BFF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8242300" y="4305300"/>
            <a:ext cx="508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F3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850" dirty="0"/>
          </a:p>
        </p:txBody>
      </p:sp>
      <p:sp>
        <p:nvSpPr>
          <p:cNvPr id="48" name="Text 46"/>
          <p:cNvSpPr txBox="1"/>
          <p:nvPr/>
        </p:nvSpPr>
        <p:spPr>
          <a:xfrm>
            <a:off x="8928100" y="4305300"/>
            <a:ext cx="24447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F3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DISTRIBUTED</a:t>
            </a:r>
            <a:endParaRPr lang="en-US" sz="800" dirty="0"/>
          </a:p>
        </p:txBody>
      </p:sp>
      <p:sp>
        <p:nvSpPr>
          <p:cNvPr id="49" name="Text 47"/>
          <p:cNvSpPr txBox="1"/>
          <p:nvPr/>
        </p:nvSpPr>
        <p:spPr>
          <a:xfrm>
            <a:off x="8242300" y="4914900"/>
            <a:ext cx="313055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3F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分布式并行</a:t>
            </a:r>
            <a:endParaRPr lang="en-US" sz="1800" dirty="0"/>
          </a:p>
        </p:txBody>
      </p:sp>
      <p:sp>
        <p:nvSpPr>
          <p:cNvPr id="50" name="Text 48"/>
          <p:cNvSpPr txBox="1"/>
          <p:nvPr/>
        </p:nvSpPr>
        <p:spPr>
          <a:xfrm>
            <a:off x="8242300" y="5295900"/>
            <a:ext cx="313055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F3F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张量并行、流水线并行、专家并行与数据并行，单机多卡到多机集群平滑扩展。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600" y="330200"/>
            <a:ext cx="381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1416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vLLM</a:t>
            </a:r>
            <a:pPr indent="0" marL="0">
              <a:buNone/>
            </a:pPr>
            <a:r>
              <a:rPr lang="en-US" sz="850" spc="100" kern="0" dirty="0">
                <a:solidFill>
                  <a:srgbClr val="1416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／  大模型推理框架介绍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4191000" y="330200"/>
            <a:ext cx="381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5E62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— 架构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10883900" y="330200"/>
            <a:ext cx="6985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spc="100" kern="0" dirty="0">
                <a:solidFill>
                  <a:srgbClr val="1416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/ 12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9601200" y="368300"/>
            <a:ext cx="76200" cy="76200"/>
          </a:xfrm>
          <a:prstGeom prst="roundRect">
            <a:avLst>
              <a:gd name="adj" fmla="val 36000"/>
            </a:avLst>
          </a:prstGeom>
          <a:solidFill>
            <a:srgbClr val="14161B"/>
          </a:solidFill>
          <a:ln w="12700">
            <a:solidFill>
              <a:srgbClr val="14161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702800" y="368300"/>
            <a:ext cx="76200" cy="76200"/>
          </a:xfrm>
          <a:prstGeom prst="roundRect">
            <a:avLst>
              <a:gd name="adj" fmla="val 36000"/>
            </a:avLst>
          </a:prstGeom>
          <a:solidFill>
            <a:srgbClr val="14161B"/>
          </a:solidFill>
          <a:ln w="12700">
            <a:solidFill>
              <a:srgbClr val="14161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804400" y="368300"/>
            <a:ext cx="76200" cy="76200"/>
          </a:xfrm>
          <a:prstGeom prst="roundRect">
            <a:avLst>
              <a:gd name="adj" fmla="val 36000"/>
            </a:avLst>
          </a:prstGeom>
          <a:solidFill>
            <a:srgbClr val="14161B"/>
          </a:solidFill>
          <a:ln w="12700">
            <a:solidFill>
              <a:srgbClr val="14161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906000" y="368300"/>
            <a:ext cx="76200" cy="76200"/>
          </a:xfrm>
          <a:prstGeom prst="roundRect">
            <a:avLst>
              <a:gd name="adj" fmla="val 36000"/>
            </a:avLst>
          </a:prstGeom>
          <a:solidFill>
            <a:srgbClr val="14161B"/>
          </a:solidFill>
          <a:ln w="12700">
            <a:solidFill>
              <a:srgbClr val="14161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007600" y="368300"/>
            <a:ext cx="76200" cy="76200"/>
          </a:xfrm>
          <a:prstGeom prst="roundRect">
            <a:avLst>
              <a:gd name="adj" fmla="val 36000"/>
            </a:avLst>
          </a:prstGeom>
          <a:solidFill>
            <a:srgbClr val="14161B"/>
          </a:solidFill>
          <a:ln w="12700">
            <a:solidFill>
              <a:srgbClr val="14161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109200" y="368300"/>
            <a:ext cx="76200" cy="76200"/>
          </a:xfrm>
          <a:prstGeom prst="roundRect">
            <a:avLst>
              <a:gd name="adj" fmla="val 36000"/>
            </a:avLst>
          </a:prstGeom>
          <a:solidFill>
            <a:srgbClr val="14161B"/>
          </a:solidFill>
          <a:ln w="12700">
            <a:solidFill>
              <a:srgbClr val="14161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210800" y="368300"/>
            <a:ext cx="76200" cy="76200"/>
          </a:xfrm>
          <a:prstGeom prst="roundRect">
            <a:avLst>
              <a:gd name="adj" fmla="val 36000"/>
            </a:avLst>
          </a:prstGeom>
          <a:solidFill>
            <a:srgbClr val="FF4F1F"/>
          </a:solidFill>
          <a:ln w="12700">
            <a:solidFill>
              <a:srgbClr val="FF4F1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312400" y="368300"/>
            <a:ext cx="76200" cy="76200"/>
          </a:xfrm>
          <a:prstGeom prst="roundRect">
            <a:avLst>
              <a:gd name="adj" fmla="val 36000"/>
            </a:avLst>
          </a:prstGeom>
          <a:ln w="12700">
            <a:solidFill>
              <a:srgbClr val="14161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414000" y="368300"/>
            <a:ext cx="76200" cy="76200"/>
          </a:xfrm>
          <a:prstGeom prst="roundRect">
            <a:avLst>
              <a:gd name="adj" fmla="val 36000"/>
            </a:avLst>
          </a:prstGeom>
          <a:ln w="12700">
            <a:solidFill>
              <a:srgbClr val="14161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515600" y="368300"/>
            <a:ext cx="76200" cy="76200"/>
          </a:xfrm>
          <a:prstGeom prst="roundRect">
            <a:avLst>
              <a:gd name="adj" fmla="val 36000"/>
            </a:avLst>
          </a:prstGeom>
          <a:ln w="12700">
            <a:solidFill>
              <a:srgbClr val="14161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617200" y="368300"/>
            <a:ext cx="76200" cy="76200"/>
          </a:xfrm>
          <a:prstGeom prst="roundRect">
            <a:avLst>
              <a:gd name="adj" fmla="val 36000"/>
            </a:avLst>
          </a:prstGeom>
          <a:ln w="12700">
            <a:solidFill>
              <a:srgbClr val="14161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718800" y="368300"/>
            <a:ext cx="76200" cy="76200"/>
          </a:xfrm>
          <a:prstGeom prst="roundRect">
            <a:avLst>
              <a:gd name="adj" fmla="val 36000"/>
            </a:avLst>
          </a:prstGeom>
          <a:ln w="12700">
            <a:solidFill>
              <a:srgbClr val="14161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9600" y="647700"/>
            <a:ext cx="10972800" cy="0"/>
          </a:xfrm>
          <a:prstGeom prst="line">
            <a:avLst/>
          </a:prstGeom>
          <a:noFill/>
          <a:ln w="28575">
            <a:solidFill>
              <a:srgbClr val="14161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09600" y="952500"/>
            <a:ext cx="381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5E62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V1 ENGINE ARCHITECTURE</a:t>
            </a:r>
            <a:endParaRPr lang="en-US" sz="850" dirty="0"/>
          </a:p>
        </p:txBody>
      </p:sp>
      <p:sp>
        <p:nvSpPr>
          <p:cNvPr id="19" name="Text 17"/>
          <p:cNvSpPr txBox="1"/>
          <p:nvPr/>
        </p:nvSpPr>
        <p:spPr>
          <a:xfrm>
            <a:off x="609600" y="1130300"/>
            <a:ext cx="6350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416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一次请求的旅程</a:t>
            </a:r>
            <a:endParaRPr lang="en-US" sz="3200" dirty="0"/>
          </a:p>
        </p:txBody>
      </p:sp>
      <p:sp>
        <p:nvSpPr>
          <p:cNvPr id="20" name="Shape 18"/>
          <p:cNvSpPr/>
          <p:nvPr/>
        </p:nvSpPr>
        <p:spPr>
          <a:xfrm>
            <a:off x="609600" y="1968500"/>
            <a:ext cx="7213600" cy="825500"/>
          </a:xfrm>
          <a:prstGeom prst="rect">
            <a:avLst/>
          </a:prstGeom>
          <a:solidFill>
            <a:srgbClr val="FBFAF6"/>
          </a:solidFill>
          <a:ln w="13970">
            <a:solidFill>
              <a:srgbClr val="14161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60600" y="1968500"/>
            <a:ext cx="0" cy="825500"/>
          </a:xfrm>
          <a:prstGeom prst="line">
            <a:avLst/>
          </a:prstGeom>
          <a:noFill/>
          <a:ln w="13970">
            <a:solidFill>
              <a:srgbClr val="14161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87400" y="2133600"/>
            <a:ext cx="1397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1416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ENTRY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2438400" y="2095500"/>
            <a:ext cx="520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16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API Server · OpenAI 兼容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2438400" y="2362200"/>
            <a:ext cx="5207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A3E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/v1/chat/completions、/v1/completions、流式输出；也可用 Python LLM 类离线批量推理。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09600" y="2921000"/>
            <a:ext cx="7213600" cy="825500"/>
          </a:xfrm>
          <a:prstGeom prst="rect">
            <a:avLst/>
          </a:prstGeom>
          <a:solidFill>
            <a:srgbClr val="FBFAF6"/>
          </a:solidFill>
          <a:ln w="13970">
            <a:solidFill>
              <a:srgbClr val="14161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260600" y="2921000"/>
            <a:ext cx="0" cy="825500"/>
          </a:xfrm>
          <a:prstGeom prst="line">
            <a:avLst/>
          </a:prstGeom>
          <a:noFill/>
          <a:ln w="13970">
            <a:solidFill>
              <a:srgbClr val="14161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87400" y="3086100"/>
            <a:ext cx="1397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1416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FRONTEND</a:t>
            </a:r>
            <a:endParaRPr lang="en-US" sz="850" dirty="0"/>
          </a:p>
        </p:txBody>
      </p:sp>
      <p:sp>
        <p:nvSpPr>
          <p:cNvPr id="28" name="Text 26"/>
          <p:cNvSpPr txBox="1"/>
          <p:nvPr/>
        </p:nvSpPr>
        <p:spPr>
          <a:xfrm>
            <a:off x="2438400" y="3048000"/>
            <a:ext cx="520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16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AsyncLLM · 分词与输出处理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2438400" y="3314700"/>
            <a:ext cx="5207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A3E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Tokenize / Detokenize 与请求管理放在独立进程，和 GPU 计算重叠执行。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09600" y="3873500"/>
            <a:ext cx="7213600" cy="825500"/>
          </a:xfrm>
          <a:prstGeom prst="rect">
            <a:avLst/>
          </a:prstGeom>
          <a:solidFill>
            <a:srgbClr val="FF4F1F"/>
          </a:solidFill>
          <a:ln w="13970">
            <a:solidFill>
              <a:srgbClr val="14161B"/>
            </a:solidFill>
            <a:prstDash val="solid"/>
          </a:ln>
          <a:effectLst>
            <a:outerShdw sx="100000" sy="100000" kx="0" ky="0" algn="bl" rotWithShape="0" blurRad="101600" dist="63500" dir="2700000">
              <a:srgbClr val="14161B">
                <a:alpha val="10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260600" y="3873500"/>
            <a:ext cx="0" cy="825500"/>
          </a:xfrm>
          <a:prstGeom prst="line">
            <a:avLst/>
          </a:prstGeom>
          <a:noFill/>
          <a:ln w="13970">
            <a:solidFill>
              <a:srgbClr val="14161B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87400" y="4038600"/>
            <a:ext cx="1397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1416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CORE</a:t>
            </a:r>
            <a:endParaRPr lang="en-US" sz="850" dirty="0"/>
          </a:p>
        </p:txBody>
      </p:sp>
      <p:sp>
        <p:nvSpPr>
          <p:cNvPr id="33" name="Text 31"/>
          <p:cNvSpPr txBox="1"/>
          <p:nvPr/>
        </p:nvSpPr>
        <p:spPr>
          <a:xfrm>
            <a:off x="2438400" y="4000500"/>
            <a:ext cx="520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16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EngineCore · Scheduler + KV Cache Manager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2438400" y="4267200"/>
            <a:ext cx="5207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A3E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每一步决定哪些请求进批、分配哪些物理块；统一处理预填充、解码、前缀命中与抢占。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09600" y="4826000"/>
            <a:ext cx="7213600" cy="825500"/>
          </a:xfrm>
          <a:prstGeom prst="rect">
            <a:avLst/>
          </a:prstGeom>
          <a:solidFill>
            <a:srgbClr val="2B3BFF"/>
          </a:solidFill>
          <a:ln w="13970">
            <a:solidFill>
              <a:srgbClr val="14161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260600" y="4826000"/>
            <a:ext cx="0" cy="825500"/>
          </a:xfrm>
          <a:prstGeom prst="line">
            <a:avLst/>
          </a:prstGeom>
          <a:noFill/>
          <a:ln w="13970">
            <a:solidFill>
              <a:srgbClr val="14161B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87400" y="4991100"/>
            <a:ext cx="1397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F3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EXECUTOR</a:t>
            </a:r>
            <a:endParaRPr lang="en-US" sz="850" dirty="0"/>
          </a:p>
        </p:txBody>
      </p:sp>
      <p:sp>
        <p:nvSpPr>
          <p:cNvPr id="38" name="Text 36"/>
          <p:cNvSpPr txBox="1"/>
          <p:nvPr/>
        </p:nvSpPr>
        <p:spPr>
          <a:xfrm>
            <a:off x="2438400" y="4953000"/>
            <a:ext cx="520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3F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Model Executor · Workers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2438400" y="5219700"/>
            <a:ext cx="5207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3F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按张量 / 流水线并行把模型切到多张 GPU；CUDA Graph、torch.compile 与高效注意力内核。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8280400" y="1968500"/>
            <a:ext cx="3302000" cy="1460500"/>
          </a:xfrm>
          <a:prstGeom prst="rect">
            <a:avLst/>
          </a:prstGeom>
          <a:solidFill>
            <a:srgbClr val="E8E3D6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8483600" y="2133600"/>
            <a:ext cx="254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1416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DESIGN NOTE</a:t>
            </a:r>
            <a:endParaRPr lang="en-US" sz="850" dirty="0"/>
          </a:p>
        </p:txBody>
      </p:sp>
      <p:sp>
        <p:nvSpPr>
          <p:cNvPr id="42" name="Text 40"/>
          <p:cNvSpPr txBox="1"/>
          <p:nvPr/>
        </p:nvSpPr>
        <p:spPr>
          <a:xfrm>
            <a:off x="8483600" y="2387600"/>
            <a:ext cx="28956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A3E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V1 把 CPU 侧开销（调度、分词、输出处理）从 GPU 关键路径上剥离，多进程 + 零拷贝通信，让 GPU 尽量不空转。</a:t>
            </a:r>
            <a:endParaRPr lang="en-US" sz="1100" dirty="0"/>
          </a:p>
        </p:txBody>
      </p:sp>
      <p:sp>
        <p:nvSpPr>
          <p:cNvPr id="43" name="Text 41"/>
          <p:cNvSpPr txBox="1"/>
          <p:nvPr/>
        </p:nvSpPr>
        <p:spPr>
          <a:xfrm>
            <a:off x="8280400" y="3683000"/>
            <a:ext cx="3302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■"/>
            </a:pPr>
            <a:r>
              <a:rPr lang="en-US" sz="1100" dirty="0">
                <a:solidFill>
                  <a:srgbClr val="3A3E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统一调度器：不再区分 prefill / decode 两套逻辑</a:t>
            </a:r>
            <a:endParaRPr lang="en-US" sz="110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■"/>
            </a:pPr>
            <a:r>
              <a:rPr lang="en-US" sz="1100" dirty="0">
                <a:solidFill>
                  <a:srgbClr val="3A3E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默认开启前缀缓存与分块预填充</a:t>
            </a:r>
            <a:endParaRPr lang="en-US" sz="110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■"/>
            </a:pPr>
            <a:r>
              <a:rPr lang="en-US" sz="1100" dirty="0">
                <a:solidFill>
                  <a:srgbClr val="3A3E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硬件：NVIDIA、AMD、Intel、TPU 等多后端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8280400" y="5715000"/>
            <a:ext cx="152400" cy="152400"/>
          </a:xfrm>
          <a:prstGeom prst="roundRect">
            <a:avLst>
              <a:gd name="adj" fmla="val 18000"/>
            </a:avLst>
          </a:prstGeom>
          <a:solidFill>
            <a:srgbClr val="FF4F1F"/>
          </a:solidFill>
          <a:ln w="12700">
            <a:solidFill>
              <a:srgbClr val="FF4F1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470900" y="5715000"/>
            <a:ext cx="152400" cy="152400"/>
          </a:xfrm>
          <a:prstGeom prst="roundRect">
            <a:avLst>
              <a:gd name="adj" fmla="val 18000"/>
            </a:avLst>
          </a:prstGeom>
          <a:solidFill>
            <a:srgbClr val="FF4F1F"/>
          </a:solidFill>
          <a:ln w="12700">
            <a:solidFill>
              <a:srgbClr val="FF4F1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661400" y="5715000"/>
            <a:ext cx="152400" cy="152400"/>
          </a:xfrm>
          <a:prstGeom prst="roundRect">
            <a:avLst>
              <a:gd name="adj" fmla="val 18000"/>
            </a:avLst>
          </a:prstGeom>
          <a:solidFill>
            <a:srgbClr val="2B3BFF"/>
          </a:solidFill>
          <a:ln w="12700">
            <a:solidFill>
              <a:srgbClr val="2B3BF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851900" y="5715000"/>
            <a:ext cx="152400" cy="152400"/>
          </a:xfrm>
          <a:prstGeom prst="roundRect">
            <a:avLst>
              <a:gd name="adj" fmla="val 18000"/>
            </a:avLst>
          </a:prstGeom>
          <a:solidFill>
            <a:srgbClr val="2B3BFF"/>
          </a:solidFill>
          <a:ln w="12700">
            <a:solidFill>
              <a:srgbClr val="2B3BF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042400" y="5715000"/>
            <a:ext cx="152400" cy="152400"/>
          </a:xfrm>
          <a:prstGeom prst="roundRect">
            <a:avLst>
              <a:gd name="adj" fmla="val 18000"/>
            </a:avLst>
          </a:prstGeom>
          <a:solidFill>
            <a:srgbClr val="2B3BFF"/>
          </a:solidFill>
          <a:ln w="12700">
            <a:solidFill>
              <a:srgbClr val="2B3BF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9232900" y="5715000"/>
            <a:ext cx="152400" cy="152400"/>
          </a:xfrm>
          <a:prstGeom prst="roundRect">
            <a:avLst>
              <a:gd name="adj" fmla="val 18000"/>
            </a:avLst>
          </a:prstGeom>
          <a:solidFill>
            <a:srgbClr val="14161B"/>
          </a:solidFill>
          <a:ln w="12700">
            <a:solidFill>
              <a:srgbClr val="14161B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9423400" y="5715000"/>
            <a:ext cx="152400" cy="152400"/>
          </a:xfrm>
          <a:prstGeom prst="roundRect">
            <a:avLst>
              <a:gd name="adj" fmla="val 18000"/>
            </a:avLst>
          </a:prstGeom>
          <a:ln w="12700">
            <a:solidFill>
              <a:srgbClr val="14161B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9613900" y="5715000"/>
            <a:ext cx="152400" cy="152400"/>
          </a:xfrm>
          <a:prstGeom prst="roundRect">
            <a:avLst>
              <a:gd name="adj" fmla="val 18000"/>
            </a:avLst>
          </a:prstGeom>
          <a:ln w="12700">
            <a:solidFill>
              <a:srgbClr val="14161B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9804400" y="5715000"/>
            <a:ext cx="152400" cy="152400"/>
          </a:xfrm>
          <a:prstGeom prst="roundRect">
            <a:avLst>
              <a:gd name="adj" fmla="val 18000"/>
            </a:avLst>
          </a:prstGeom>
          <a:solidFill>
            <a:srgbClr val="D4F24A"/>
          </a:solidFill>
          <a:ln w="12700">
            <a:solidFill>
              <a:srgbClr val="14161B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9994900" y="5715000"/>
            <a:ext cx="152400" cy="152400"/>
          </a:xfrm>
          <a:prstGeom prst="roundRect">
            <a:avLst>
              <a:gd name="adj" fmla="val 18000"/>
            </a:avLst>
          </a:prstGeom>
          <a:ln w="12700">
            <a:solidFill>
              <a:srgbClr val="14161B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600" y="330200"/>
            <a:ext cx="381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1416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vLLM</a:t>
            </a:r>
            <a:pPr indent="0" marL="0">
              <a:buNone/>
            </a:pPr>
            <a:r>
              <a:rPr lang="en-US" sz="850" spc="100" kern="0" dirty="0">
                <a:solidFill>
                  <a:srgbClr val="1416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／  大模型推理框架介绍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4191000" y="330200"/>
            <a:ext cx="381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5E62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— 性能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10883900" y="330200"/>
            <a:ext cx="6985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spc="100" kern="0" dirty="0">
                <a:solidFill>
                  <a:srgbClr val="1416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/ 12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9601200" y="368300"/>
            <a:ext cx="76200" cy="76200"/>
          </a:xfrm>
          <a:prstGeom prst="roundRect">
            <a:avLst>
              <a:gd name="adj" fmla="val 36000"/>
            </a:avLst>
          </a:prstGeom>
          <a:solidFill>
            <a:srgbClr val="14161B"/>
          </a:solidFill>
          <a:ln w="12700">
            <a:solidFill>
              <a:srgbClr val="14161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702800" y="368300"/>
            <a:ext cx="76200" cy="76200"/>
          </a:xfrm>
          <a:prstGeom prst="roundRect">
            <a:avLst>
              <a:gd name="adj" fmla="val 36000"/>
            </a:avLst>
          </a:prstGeom>
          <a:solidFill>
            <a:srgbClr val="14161B"/>
          </a:solidFill>
          <a:ln w="12700">
            <a:solidFill>
              <a:srgbClr val="14161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804400" y="368300"/>
            <a:ext cx="76200" cy="76200"/>
          </a:xfrm>
          <a:prstGeom prst="roundRect">
            <a:avLst>
              <a:gd name="adj" fmla="val 36000"/>
            </a:avLst>
          </a:prstGeom>
          <a:solidFill>
            <a:srgbClr val="14161B"/>
          </a:solidFill>
          <a:ln w="12700">
            <a:solidFill>
              <a:srgbClr val="14161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906000" y="368300"/>
            <a:ext cx="76200" cy="76200"/>
          </a:xfrm>
          <a:prstGeom prst="roundRect">
            <a:avLst>
              <a:gd name="adj" fmla="val 36000"/>
            </a:avLst>
          </a:prstGeom>
          <a:solidFill>
            <a:srgbClr val="14161B"/>
          </a:solidFill>
          <a:ln w="12700">
            <a:solidFill>
              <a:srgbClr val="14161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007600" y="368300"/>
            <a:ext cx="76200" cy="76200"/>
          </a:xfrm>
          <a:prstGeom prst="roundRect">
            <a:avLst>
              <a:gd name="adj" fmla="val 36000"/>
            </a:avLst>
          </a:prstGeom>
          <a:solidFill>
            <a:srgbClr val="14161B"/>
          </a:solidFill>
          <a:ln w="12700">
            <a:solidFill>
              <a:srgbClr val="14161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109200" y="368300"/>
            <a:ext cx="76200" cy="76200"/>
          </a:xfrm>
          <a:prstGeom prst="roundRect">
            <a:avLst>
              <a:gd name="adj" fmla="val 36000"/>
            </a:avLst>
          </a:prstGeom>
          <a:solidFill>
            <a:srgbClr val="14161B"/>
          </a:solidFill>
          <a:ln w="12700">
            <a:solidFill>
              <a:srgbClr val="14161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210800" y="368300"/>
            <a:ext cx="76200" cy="76200"/>
          </a:xfrm>
          <a:prstGeom prst="roundRect">
            <a:avLst>
              <a:gd name="adj" fmla="val 36000"/>
            </a:avLst>
          </a:prstGeom>
          <a:solidFill>
            <a:srgbClr val="14161B"/>
          </a:solidFill>
          <a:ln w="12700">
            <a:solidFill>
              <a:srgbClr val="14161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312400" y="368300"/>
            <a:ext cx="76200" cy="76200"/>
          </a:xfrm>
          <a:prstGeom prst="roundRect">
            <a:avLst>
              <a:gd name="adj" fmla="val 36000"/>
            </a:avLst>
          </a:prstGeom>
          <a:solidFill>
            <a:srgbClr val="FF4F1F"/>
          </a:solidFill>
          <a:ln w="12700">
            <a:solidFill>
              <a:srgbClr val="FF4F1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414000" y="368300"/>
            <a:ext cx="76200" cy="76200"/>
          </a:xfrm>
          <a:prstGeom prst="roundRect">
            <a:avLst>
              <a:gd name="adj" fmla="val 36000"/>
            </a:avLst>
          </a:prstGeom>
          <a:ln w="12700">
            <a:solidFill>
              <a:srgbClr val="14161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515600" y="368300"/>
            <a:ext cx="76200" cy="76200"/>
          </a:xfrm>
          <a:prstGeom prst="roundRect">
            <a:avLst>
              <a:gd name="adj" fmla="val 36000"/>
            </a:avLst>
          </a:prstGeom>
          <a:ln w="12700">
            <a:solidFill>
              <a:srgbClr val="14161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617200" y="368300"/>
            <a:ext cx="76200" cy="76200"/>
          </a:xfrm>
          <a:prstGeom prst="roundRect">
            <a:avLst>
              <a:gd name="adj" fmla="val 36000"/>
            </a:avLst>
          </a:prstGeom>
          <a:ln w="12700">
            <a:solidFill>
              <a:srgbClr val="14161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718800" y="368300"/>
            <a:ext cx="76200" cy="76200"/>
          </a:xfrm>
          <a:prstGeom prst="roundRect">
            <a:avLst>
              <a:gd name="adj" fmla="val 36000"/>
            </a:avLst>
          </a:prstGeom>
          <a:ln w="12700">
            <a:solidFill>
              <a:srgbClr val="14161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9600" y="647700"/>
            <a:ext cx="10972800" cy="0"/>
          </a:xfrm>
          <a:prstGeom prst="line">
            <a:avLst/>
          </a:prstGeom>
          <a:noFill/>
          <a:ln w="28575">
            <a:solidFill>
              <a:srgbClr val="14161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09600" y="952500"/>
            <a:ext cx="381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5E62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THROUGHPUT</a:t>
            </a:r>
            <a:endParaRPr lang="en-US" sz="850" dirty="0"/>
          </a:p>
        </p:txBody>
      </p:sp>
      <p:sp>
        <p:nvSpPr>
          <p:cNvPr id="19" name="Text 17"/>
          <p:cNvSpPr txBox="1"/>
          <p:nvPr/>
        </p:nvSpPr>
        <p:spPr>
          <a:xfrm>
            <a:off x="609600" y="1130300"/>
            <a:ext cx="7620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416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同样的 GPU，</a:t>
            </a:r>
            <a:pPr indent="0" marL="0">
              <a:buNone/>
            </a:pPr>
            <a:r>
              <a:rPr lang="en-US" sz="3200" b="1" dirty="0">
                <a:solidFill>
                  <a:srgbClr val="14161B"/>
                </a:solidFill>
                <a:highlight>
                  <a:srgbClr val="D4F24A"/>
                </a:highlight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更高的吞吐</a:t>
            </a:r>
            <a:endParaRPr lang="en-US" sz="3200" dirty="0"/>
          </a:p>
        </p:txBody>
      </p:sp>
      <p:sp>
        <p:nvSpPr>
          <p:cNvPr id="20" name="Shape 18"/>
          <p:cNvSpPr/>
          <p:nvPr/>
        </p:nvSpPr>
        <p:spPr>
          <a:xfrm>
            <a:off x="609600" y="1905000"/>
            <a:ext cx="10972800" cy="0"/>
          </a:xfrm>
          <a:prstGeom prst="line">
            <a:avLst/>
          </a:prstGeom>
          <a:noFill/>
          <a:ln w="28575">
            <a:solidFill>
              <a:srgbClr val="14161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09600" y="2032000"/>
            <a:ext cx="3429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0" dirty="0">
                <a:solidFill>
                  <a:srgbClr val="FF4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24×</a:t>
            </a:r>
            <a:endParaRPr lang="en-US" sz="8800" dirty="0"/>
          </a:p>
        </p:txBody>
      </p:sp>
      <p:sp>
        <p:nvSpPr>
          <p:cNvPr id="22" name="Text 20"/>
          <p:cNvSpPr txBox="1"/>
          <p:nvPr/>
        </p:nvSpPr>
        <p:spPr>
          <a:xfrm>
            <a:off x="609600" y="3429000"/>
            <a:ext cx="330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16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vs HuggingFace Transformers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09600" y="3721100"/>
            <a:ext cx="3175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A3E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LLaMA-7B / 13B 服务场景下的最高吞吐提升。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140200" y="2032000"/>
            <a:ext cx="0" cy="2413000"/>
          </a:xfrm>
          <a:prstGeom prst="line">
            <a:avLst/>
          </a:prstGeom>
          <a:noFill/>
          <a:ln w="9525">
            <a:solidFill>
              <a:srgbClr val="CFC8B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394200" y="2032000"/>
            <a:ext cx="3429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0" dirty="0">
                <a:solidFill>
                  <a:srgbClr val="1416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3.5×</a:t>
            </a:r>
            <a:endParaRPr lang="en-US" sz="8800" dirty="0"/>
          </a:p>
        </p:txBody>
      </p:sp>
      <p:sp>
        <p:nvSpPr>
          <p:cNvPr id="26" name="Text 24"/>
          <p:cNvSpPr txBox="1"/>
          <p:nvPr/>
        </p:nvSpPr>
        <p:spPr>
          <a:xfrm>
            <a:off x="4394200" y="3429000"/>
            <a:ext cx="330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16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vs Text Generation Inference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4394200" y="3721100"/>
            <a:ext cx="3175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A3E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同一组测试中的最高吞吐提升。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797800" y="2032000"/>
            <a:ext cx="0" cy="2413000"/>
          </a:xfrm>
          <a:prstGeom prst="line">
            <a:avLst/>
          </a:prstGeom>
          <a:noFill/>
          <a:ln w="9525">
            <a:solidFill>
              <a:srgbClr val="CFC8B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051800" y="2032000"/>
            <a:ext cx="3429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0" dirty="0">
                <a:solidFill>
                  <a:srgbClr val="2B3B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&lt;4</a:t>
            </a:r>
            <a:pPr indent="0" marL="0">
              <a:buNone/>
            </a:pPr>
            <a:r>
              <a:rPr lang="en-US" sz="4800" dirty="0">
                <a:solidFill>
                  <a:srgbClr val="2B3B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%</a:t>
            </a:r>
            <a:endParaRPr lang="en-US" sz="8800" dirty="0"/>
          </a:p>
        </p:txBody>
      </p:sp>
      <p:sp>
        <p:nvSpPr>
          <p:cNvPr id="30" name="Text 28"/>
          <p:cNvSpPr txBox="1"/>
          <p:nvPr/>
        </p:nvSpPr>
        <p:spPr>
          <a:xfrm>
            <a:off x="8051800" y="3429000"/>
            <a:ext cx="330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16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KV Cache 显存浪费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8051800" y="3721100"/>
            <a:ext cx="3175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A3E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传统方案为 60%–80%，节省的显存直接转化为更大的 batch。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609600" y="4826000"/>
            <a:ext cx="1524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16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vLLM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2286000" y="4838700"/>
            <a:ext cx="4953000" cy="228600"/>
          </a:xfrm>
          <a:prstGeom prst="rect">
            <a:avLst/>
          </a:prstGeom>
          <a:solidFill>
            <a:srgbClr val="E8E3D6"/>
          </a:solidFill>
          <a:ln/>
        </p:spPr>
      </p:sp>
      <p:sp>
        <p:nvSpPr>
          <p:cNvPr id="34" name="Shape 32"/>
          <p:cNvSpPr/>
          <p:nvPr/>
        </p:nvSpPr>
        <p:spPr>
          <a:xfrm>
            <a:off x="2286000" y="4838700"/>
            <a:ext cx="4953000" cy="228600"/>
          </a:xfrm>
          <a:prstGeom prst="rect">
            <a:avLst/>
          </a:prstGeom>
          <a:solidFill>
            <a:srgbClr val="FF4F1F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7366000" y="4787900"/>
            <a:ext cx="889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dirty="0">
                <a:solidFill>
                  <a:srgbClr val="1416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24×</a:t>
            </a:r>
            <a:endParaRPr lang="en-US" sz="2200" dirty="0"/>
          </a:p>
        </p:txBody>
      </p:sp>
      <p:sp>
        <p:nvSpPr>
          <p:cNvPr id="36" name="Text 34"/>
          <p:cNvSpPr txBox="1"/>
          <p:nvPr/>
        </p:nvSpPr>
        <p:spPr>
          <a:xfrm>
            <a:off x="609600" y="5232400"/>
            <a:ext cx="1524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16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TGI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2286000" y="5245100"/>
            <a:ext cx="4953000" cy="228600"/>
          </a:xfrm>
          <a:prstGeom prst="rect">
            <a:avLst/>
          </a:prstGeom>
          <a:solidFill>
            <a:srgbClr val="E8E3D6"/>
          </a:solidFill>
          <a:ln/>
        </p:spPr>
      </p:sp>
      <p:sp>
        <p:nvSpPr>
          <p:cNvPr id="38" name="Shape 36"/>
          <p:cNvSpPr/>
          <p:nvPr/>
        </p:nvSpPr>
        <p:spPr>
          <a:xfrm>
            <a:off x="2286000" y="5245100"/>
            <a:ext cx="1416558" cy="228600"/>
          </a:xfrm>
          <a:prstGeom prst="rect">
            <a:avLst/>
          </a:prstGeom>
          <a:solidFill>
            <a:srgbClr val="14161B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7366000" y="5194300"/>
            <a:ext cx="889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dirty="0">
                <a:solidFill>
                  <a:srgbClr val="1416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6.9×</a:t>
            </a:r>
            <a:endParaRPr lang="en-US" sz="2200" dirty="0"/>
          </a:p>
        </p:txBody>
      </p:sp>
      <p:sp>
        <p:nvSpPr>
          <p:cNvPr id="40" name="Text 38"/>
          <p:cNvSpPr txBox="1"/>
          <p:nvPr/>
        </p:nvSpPr>
        <p:spPr>
          <a:xfrm>
            <a:off x="609600" y="5638800"/>
            <a:ext cx="1524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16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HF Transformers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2286000" y="5651500"/>
            <a:ext cx="4953000" cy="228600"/>
          </a:xfrm>
          <a:prstGeom prst="rect">
            <a:avLst/>
          </a:prstGeom>
          <a:solidFill>
            <a:srgbClr val="E8E3D6"/>
          </a:solidFill>
          <a:ln/>
        </p:spPr>
      </p:sp>
      <p:sp>
        <p:nvSpPr>
          <p:cNvPr id="42" name="Shape 40"/>
          <p:cNvSpPr/>
          <p:nvPr/>
        </p:nvSpPr>
        <p:spPr>
          <a:xfrm>
            <a:off x="2286000" y="5651500"/>
            <a:ext cx="208026" cy="228600"/>
          </a:xfrm>
          <a:prstGeom prst="rect">
            <a:avLst/>
          </a:prstGeom>
          <a:solidFill>
            <a:srgbClr val="14161B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7366000" y="5600700"/>
            <a:ext cx="889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dirty="0">
                <a:solidFill>
                  <a:srgbClr val="1416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1×</a:t>
            </a:r>
            <a:endParaRPr lang="en-US" sz="2200" dirty="0"/>
          </a:p>
        </p:txBody>
      </p:sp>
      <p:sp>
        <p:nvSpPr>
          <p:cNvPr id="44" name="Text 42"/>
          <p:cNvSpPr txBox="1"/>
          <p:nvPr/>
        </p:nvSpPr>
        <p:spPr>
          <a:xfrm>
            <a:off x="8636000" y="4826000"/>
            <a:ext cx="2946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800" dirty="0">
                <a:solidFill>
                  <a:srgbClr val="5E62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相对吞吐，以 HF Transformers 为 1×（TGI 值由 24÷3.5 推算，仅作示意）。</a:t>
            </a:r>
            <a:endParaRPr lang="en-US" sz="8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800" dirty="0">
                <a:solidFill>
                  <a:srgbClr val="5E62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来源：vLLM 官方博客《vLLM: Easy, Fast, and Cheap LLM Serving with PagedAttention》，2023.06。实际收益随模型、硬件与负载变化。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600" y="330200"/>
            <a:ext cx="381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1416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vLLM</a:t>
            </a:r>
            <a:pPr indent="0" marL="0">
              <a:buNone/>
            </a:pPr>
            <a:r>
              <a:rPr lang="en-US" sz="850" spc="100" kern="0" dirty="0">
                <a:solidFill>
                  <a:srgbClr val="1416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／  大模型推理框架介绍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4191000" y="330200"/>
            <a:ext cx="381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5E62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— 快速上手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10883900" y="330200"/>
            <a:ext cx="6985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spc="100" kern="0" dirty="0">
                <a:solidFill>
                  <a:srgbClr val="1416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/ 12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9601200" y="368300"/>
            <a:ext cx="76200" cy="76200"/>
          </a:xfrm>
          <a:prstGeom prst="roundRect">
            <a:avLst>
              <a:gd name="adj" fmla="val 36000"/>
            </a:avLst>
          </a:prstGeom>
          <a:solidFill>
            <a:srgbClr val="14161B"/>
          </a:solidFill>
          <a:ln w="12700">
            <a:solidFill>
              <a:srgbClr val="14161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702800" y="368300"/>
            <a:ext cx="76200" cy="76200"/>
          </a:xfrm>
          <a:prstGeom prst="roundRect">
            <a:avLst>
              <a:gd name="adj" fmla="val 36000"/>
            </a:avLst>
          </a:prstGeom>
          <a:solidFill>
            <a:srgbClr val="14161B"/>
          </a:solidFill>
          <a:ln w="12700">
            <a:solidFill>
              <a:srgbClr val="14161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804400" y="368300"/>
            <a:ext cx="76200" cy="76200"/>
          </a:xfrm>
          <a:prstGeom prst="roundRect">
            <a:avLst>
              <a:gd name="adj" fmla="val 36000"/>
            </a:avLst>
          </a:prstGeom>
          <a:solidFill>
            <a:srgbClr val="14161B"/>
          </a:solidFill>
          <a:ln w="12700">
            <a:solidFill>
              <a:srgbClr val="14161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906000" y="368300"/>
            <a:ext cx="76200" cy="76200"/>
          </a:xfrm>
          <a:prstGeom prst="roundRect">
            <a:avLst>
              <a:gd name="adj" fmla="val 36000"/>
            </a:avLst>
          </a:prstGeom>
          <a:solidFill>
            <a:srgbClr val="14161B"/>
          </a:solidFill>
          <a:ln w="12700">
            <a:solidFill>
              <a:srgbClr val="14161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007600" y="368300"/>
            <a:ext cx="76200" cy="76200"/>
          </a:xfrm>
          <a:prstGeom prst="roundRect">
            <a:avLst>
              <a:gd name="adj" fmla="val 36000"/>
            </a:avLst>
          </a:prstGeom>
          <a:solidFill>
            <a:srgbClr val="14161B"/>
          </a:solidFill>
          <a:ln w="12700">
            <a:solidFill>
              <a:srgbClr val="14161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109200" y="368300"/>
            <a:ext cx="76200" cy="76200"/>
          </a:xfrm>
          <a:prstGeom prst="roundRect">
            <a:avLst>
              <a:gd name="adj" fmla="val 36000"/>
            </a:avLst>
          </a:prstGeom>
          <a:solidFill>
            <a:srgbClr val="14161B"/>
          </a:solidFill>
          <a:ln w="12700">
            <a:solidFill>
              <a:srgbClr val="14161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210800" y="368300"/>
            <a:ext cx="76200" cy="76200"/>
          </a:xfrm>
          <a:prstGeom prst="roundRect">
            <a:avLst>
              <a:gd name="adj" fmla="val 36000"/>
            </a:avLst>
          </a:prstGeom>
          <a:solidFill>
            <a:srgbClr val="14161B"/>
          </a:solidFill>
          <a:ln w="12700">
            <a:solidFill>
              <a:srgbClr val="14161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312400" y="368300"/>
            <a:ext cx="76200" cy="76200"/>
          </a:xfrm>
          <a:prstGeom prst="roundRect">
            <a:avLst>
              <a:gd name="adj" fmla="val 36000"/>
            </a:avLst>
          </a:prstGeom>
          <a:solidFill>
            <a:srgbClr val="14161B"/>
          </a:solidFill>
          <a:ln w="12700">
            <a:solidFill>
              <a:srgbClr val="14161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414000" y="368300"/>
            <a:ext cx="76200" cy="76200"/>
          </a:xfrm>
          <a:prstGeom prst="roundRect">
            <a:avLst>
              <a:gd name="adj" fmla="val 36000"/>
            </a:avLst>
          </a:prstGeom>
          <a:solidFill>
            <a:srgbClr val="FF4F1F"/>
          </a:solidFill>
          <a:ln w="12700">
            <a:solidFill>
              <a:srgbClr val="FF4F1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515600" y="368300"/>
            <a:ext cx="76200" cy="76200"/>
          </a:xfrm>
          <a:prstGeom prst="roundRect">
            <a:avLst>
              <a:gd name="adj" fmla="val 36000"/>
            </a:avLst>
          </a:prstGeom>
          <a:ln w="12700">
            <a:solidFill>
              <a:srgbClr val="14161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617200" y="368300"/>
            <a:ext cx="76200" cy="76200"/>
          </a:xfrm>
          <a:prstGeom prst="roundRect">
            <a:avLst>
              <a:gd name="adj" fmla="val 36000"/>
            </a:avLst>
          </a:prstGeom>
          <a:ln w="12700">
            <a:solidFill>
              <a:srgbClr val="14161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718800" y="368300"/>
            <a:ext cx="76200" cy="76200"/>
          </a:xfrm>
          <a:prstGeom prst="roundRect">
            <a:avLst>
              <a:gd name="adj" fmla="val 36000"/>
            </a:avLst>
          </a:prstGeom>
          <a:ln w="12700">
            <a:solidFill>
              <a:srgbClr val="14161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9600" y="647700"/>
            <a:ext cx="10972800" cy="0"/>
          </a:xfrm>
          <a:prstGeom prst="line">
            <a:avLst/>
          </a:prstGeom>
          <a:noFill/>
          <a:ln w="28575">
            <a:solidFill>
              <a:srgbClr val="14161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09600" y="952500"/>
            <a:ext cx="381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5E62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QUICKSTART</a:t>
            </a:r>
            <a:endParaRPr lang="en-US" sz="850" dirty="0"/>
          </a:p>
        </p:txBody>
      </p:sp>
      <p:sp>
        <p:nvSpPr>
          <p:cNvPr id="19" name="Text 17"/>
          <p:cNvSpPr txBox="1"/>
          <p:nvPr/>
        </p:nvSpPr>
        <p:spPr>
          <a:xfrm>
            <a:off x="609600" y="1130300"/>
            <a:ext cx="3810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1416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三步起一个</a:t>
            </a:r>
            <a:endParaRPr lang="en-US" sz="3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1416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推理服务</a:t>
            </a:r>
            <a:endParaRPr lang="en-US" sz="3200" dirty="0"/>
          </a:p>
        </p:txBody>
      </p:sp>
      <p:sp>
        <p:nvSpPr>
          <p:cNvPr id="20" name="Shape 18"/>
          <p:cNvSpPr/>
          <p:nvPr/>
        </p:nvSpPr>
        <p:spPr>
          <a:xfrm>
            <a:off x="609600" y="2667000"/>
            <a:ext cx="3810000" cy="0"/>
          </a:xfrm>
          <a:prstGeom prst="line">
            <a:avLst/>
          </a:prstGeom>
          <a:noFill/>
          <a:ln w="28575">
            <a:solidFill>
              <a:srgbClr val="14161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09600" y="2832100"/>
            <a:ext cx="381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B533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1168400" y="2794000"/>
            <a:ext cx="3251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16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安装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168400" y="3060700"/>
            <a:ext cx="32512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A3E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一条 pip 命令，自带预编译 CUDA 内核。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09600" y="3683000"/>
            <a:ext cx="3810000" cy="0"/>
          </a:xfrm>
          <a:prstGeom prst="line">
            <a:avLst/>
          </a:prstGeom>
          <a:noFill/>
          <a:ln w="9525">
            <a:solidFill>
              <a:srgbClr val="CFC8B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09600" y="3848100"/>
            <a:ext cx="381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B533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1168400" y="3810000"/>
            <a:ext cx="3251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16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启动 OpenAI 兼容服务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1168400" y="4076700"/>
            <a:ext cx="32512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A3E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vllm serve 直接加载 Hugging Face 上的模型。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09600" y="4699000"/>
            <a:ext cx="3810000" cy="0"/>
          </a:xfrm>
          <a:prstGeom prst="line">
            <a:avLst/>
          </a:prstGeom>
          <a:noFill/>
          <a:ln w="9525">
            <a:solidFill>
              <a:srgbClr val="CFC8B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09600" y="4864100"/>
            <a:ext cx="381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B533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1168400" y="4826000"/>
            <a:ext cx="3251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16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用现有 SDK 调用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1168400" y="5092700"/>
            <a:ext cx="32512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A3E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 base_url 指向本地端口，业务代码几乎零改动。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876800" y="1117600"/>
            <a:ext cx="6705600" cy="2159000"/>
          </a:xfrm>
          <a:prstGeom prst="rect">
            <a:avLst/>
          </a:prstGeom>
          <a:solidFill>
            <a:srgbClr val="14161B"/>
          </a:solidFill>
          <a:ln/>
          <a:effectLst>
            <a:outerShdw sx="100000" sy="100000" kx="0" ky="0" algn="bl" rotWithShape="0" blurRad="101600" dist="63500" dir="2700000">
              <a:srgbClr val="14161B">
                <a:alpha val="100000"/>
              </a:srgbClr>
            </a:outerShdw>
          </a:effectLst>
        </p:spPr>
      </p:sp>
      <p:sp>
        <p:nvSpPr>
          <p:cNvPr id="33" name="Text 31"/>
          <p:cNvSpPr txBox="1"/>
          <p:nvPr/>
        </p:nvSpPr>
        <p:spPr>
          <a:xfrm>
            <a:off x="5080000" y="1206500"/>
            <a:ext cx="254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8C91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TERMINAL</a:t>
            </a:r>
            <a:endParaRPr lang="en-US" sz="800" dirty="0"/>
          </a:p>
        </p:txBody>
      </p:sp>
      <p:sp>
        <p:nvSpPr>
          <p:cNvPr id="34" name="Text 32"/>
          <p:cNvSpPr txBox="1"/>
          <p:nvPr/>
        </p:nvSpPr>
        <p:spPr>
          <a:xfrm>
            <a:off x="10109200" y="1206500"/>
            <a:ext cx="127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spc="150" kern="0" dirty="0">
                <a:solidFill>
                  <a:srgbClr val="D4F2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BASH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876800" y="1435100"/>
            <a:ext cx="6705600" cy="0"/>
          </a:xfrm>
          <a:prstGeom prst="line">
            <a:avLst/>
          </a:prstGeom>
          <a:noFill/>
          <a:ln w="9525">
            <a:solidFill>
              <a:srgbClr val="3A3E47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080000" y="1562100"/>
            <a:ext cx="6299200" cy="162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8C91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 · 安装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FF4F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F3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vllm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F3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8C91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 · 启动服务（默认端口 8000）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FF4F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F3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vllm serve </a:t>
            </a:r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FF8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Qwen/Qwen2.5-7B-Instruct</a:t>
            </a:r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F3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\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F3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9AA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--tensor-parallel-size</a:t>
            </a:r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F3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\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F3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9AA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--gpu-memory-utilization</a:t>
            </a:r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F3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0.90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876800" y="3556000"/>
            <a:ext cx="6705600" cy="2095500"/>
          </a:xfrm>
          <a:prstGeom prst="rect">
            <a:avLst/>
          </a:prstGeom>
          <a:solidFill>
            <a:srgbClr val="14161B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5080000" y="3644900"/>
            <a:ext cx="254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8C91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CLIENT.PY</a:t>
            </a:r>
            <a:endParaRPr lang="en-US" sz="800" dirty="0"/>
          </a:p>
        </p:txBody>
      </p:sp>
      <p:sp>
        <p:nvSpPr>
          <p:cNvPr id="39" name="Text 37"/>
          <p:cNvSpPr txBox="1"/>
          <p:nvPr/>
        </p:nvSpPr>
        <p:spPr>
          <a:xfrm>
            <a:off x="10109200" y="3644900"/>
            <a:ext cx="127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spc="150" kern="0" dirty="0">
                <a:solidFill>
                  <a:srgbClr val="D4F2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876800" y="3873500"/>
            <a:ext cx="6705600" cy="0"/>
          </a:xfrm>
          <a:prstGeom prst="line">
            <a:avLst/>
          </a:prstGeom>
          <a:noFill/>
          <a:ln w="9525">
            <a:solidFill>
              <a:srgbClr val="3A3E47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5080000" y="4000500"/>
            <a:ext cx="6299200" cy="156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D4F2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F3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openai </a:t>
            </a:r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D4F2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F3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OpenAI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F3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 = </a:t>
            </a:r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9AA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OpenAI</a:t>
            </a:r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F3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(base_url=</a:t>
            </a:r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FF8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"http://localhost:8000/v1"</a:t>
            </a:r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F3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api_key=</a:t>
            </a:r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FF8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"EMPTY"</a:t>
            </a:r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F3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F3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 = client.chat.completions.</a:t>
            </a:r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9AA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</a:t>
            </a:r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F3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F3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model=</a:t>
            </a:r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FF8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"Qwen/Qwen2.5-7B-Instruct"</a:t>
            </a:r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F3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F3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messages=[{</a:t>
            </a:r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FF8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"role"</a:t>
            </a:r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F3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FF8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"user"</a:t>
            </a:r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F3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FF8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"content"</a:t>
            </a:r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F3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FF8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"介绍一下 vLLM"</a:t>
            </a:r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F3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}])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600" y="330200"/>
            <a:ext cx="381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1416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vLLM</a:t>
            </a:r>
            <a:pPr indent="0" marL="0">
              <a:buNone/>
            </a:pPr>
            <a:r>
              <a:rPr lang="en-US" sz="850" spc="100" kern="0" dirty="0">
                <a:solidFill>
                  <a:srgbClr val="1416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／  大模型推理框架介绍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4191000" y="330200"/>
            <a:ext cx="381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5E62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— 调优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10883900" y="330200"/>
            <a:ext cx="6985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spc="100" kern="0" dirty="0">
                <a:solidFill>
                  <a:srgbClr val="1416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12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9601200" y="368300"/>
            <a:ext cx="76200" cy="76200"/>
          </a:xfrm>
          <a:prstGeom prst="roundRect">
            <a:avLst>
              <a:gd name="adj" fmla="val 36000"/>
            </a:avLst>
          </a:prstGeom>
          <a:solidFill>
            <a:srgbClr val="14161B"/>
          </a:solidFill>
          <a:ln w="12700">
            <a:solidFill>
              <a:srgbClr val="14161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702800" y="368300"/>
            <a:ext cx="76200" cy="76200"/>
          </a:xfrm>
          <a:prstGeom prst="roundRect">
            <a:avLst>
              <a:gd name="adj" fmla="val 36000"/>
            </a:avLst>
          </a:prstGeom>
          <a:solidFill>
            <a:srgbClr val="14161B"/>
          </a:solidFill>
          <a:ln w="12700">
            <a:solidFill>
              <a:srgbClr val="14161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804400" y="368300"/>
            <a:ext cx="76200" cy="76200"/>
          </a:xfrm>
          <a:prstGeom prst="roundRect">
            <a:avLst>
              <a:gd name="adj" fmla="val 36000"/>
            </a:avLst>
          </a:prstGeom>
          <a:solidFill>
            <a:srgbClr val="14161B"/>
          </a:solidFill>
          <a:ln w="12700">
            <a:solidFill>
              <a:srgbClr val="14161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906000" y="368300"/>
            <a:ext cx="76200" cy="76200"/>
          </a:xfrm>
          <a:prstGeom prst="roundRect">
            <a:avLst>
              <a:gd name="adj" fmla="val 36000"/>
            </a:avLst>
          </a:prstGeom>
          <a:solidFill>
            <a:srgbClr val="14161B"/>
          </a:solidFill>
          <a:ln w="12700">
            <a:solidFill>
              <a:srgbClr val="14161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007600" y="368300"/>
            <a:ext cx="76200" cy="76200"/>
          </a:xfrm>
          <a:prstGeom prst="roundRect">
            <a:avLst>
              <a:gd name="adj" fmla="val 36000"/>
            </a:avLst>
          </a:prstGeom>
          <a:solidFill>
            <a:srgbClr val="14161B"/>
          </a:solidFill>
          <a:ln w="12700">
            <a:solidFill>
              <a:srgbClr val="14161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109200" y="368300"/>
            <a:ext cx="76200" cy="76200"/>
          </a:xfrm>
          <a:prstGeom prst="roundRect">
            <a:avLst>
              <a:gd name="adj" fmla="val 36000"/>
            </a:avLst>
          </a:prstGeom>
          <a:solidFill>
            <a:srgbClr val="14161B"/>
          </a:solidFill>
          <a:ln w="12700">
            <a:solidFill>
              <a:srgbClr val="14161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210800" y="368300"/>
            <a:ext cx="76200" cy="76200"/>
          </a:xfrm>
          <a:prstGeom prst="roundRect">
            <a:avLst>
              <a:gd name="adj" fmla="val 36000"/>
            </a:avLst>
          </a:prstGeom>
          <a:solidFill>
            <a:srgbClr val="14161B"/>
          </a:solidFill>
          <a:ln w="12700">
            <a:solidFill>
              <a:srgbClr val="14161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312400" y="368300"/>
            <a:ext cx="76200" cy="76200"/>
          </a:xfrm>
          <a:prstGeom prst="roundRect">
            <a:avLst>
              <a:gd name="adj" fmla="val 36000"/>
            </a:avLst>
          </a:prstGeom>
          <a:solidFill>
            <a:srgbClr val="14161B"/>
          </a:solidFill>
          <a:ln w="12700">
            <a:solidFill>
              <a:srgbClr val="14161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414000" y="368300"/>
            <a:ext cx="76200" cy="76200"/>
          </a:xfrm>
          <a:prstGeom prst="roundRect">
            <a:avLst>
              <a:gd name="adj" fmla="val 36000"/>
            </a:avLst>
          </a:prstGeom>
          <a:solidFill>
            <a:srgbClr val="14161B"/>
          </a:solidFill>
          <a:ln w="12700">
            <a:solidFill>
              <a:srgbClr val="14161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515600" y="368300"/>
            <a:ext cx="76200" cy="76200"/>
          </a:xfrm>
          <a:prstGeom prst="roundRect">
            <a:avLst>
              <a:gd name="adj" fmla="val 36000"/>
            </a:avLst>
          </a:prstGeom>
          <a:solidFill>
            <a:srgbClr val="FF4F1F"/>
          </a:solidFill>
          <a:ln w="12700">
            <a:solidFill>
              <a:srgbClr val="FF4F1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617200" y="368300"/>
            <a:ext cx="76200" cy="76200"/>
          </a:xfrm>
          <a:prstGeom prst="roundRect">
            <a:avLst>
              <a:gd name="adj" fmla="val 36000"/>
            </a:avLst>
          </a:prstGeom>
          <a:ln w="12700">
            <a:solidFill>
              <a:srgbClr val="14161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718800" y="368300"/>
            <a:ext cx="76200" cy="76200"/>
          </a:xfrm>
          <a:prstGeom prst="roundRect">
            <a:avLst>
              <a:gd name="adj" fmla="val 36000"/>
            </a:avLst>
          </a:prstGeom>
          <a:ln w="12700">
            <a:solidFill>
              <a:srgbClr val="14161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9600" y="647700"/>
            <a:ext cx="10972800" cy="0"/>
          </a:xfrm>
          <a:prstGeom prst="line">
            <a:avLst/>
          </a:prstGeom>
          <a:noFill/>
          <a:ln w="28575">
            <a:solidFill>
              <a:srgbClr val="14161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09600" y="952500"/>
            <a:ext cx="381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5E62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TUNING CHEATSHEET</a:t>
            </a:r>
            <a:endParaRPr lang="en-US" sz="850" dirty="0"/>
          </a:p>
        </p:txBody>
      </p:sp>
      <p:sp>
        <p:nvSpPr>
          <p:cNvPr id="19" name="Text 17"/>
          <p:cNvSpPr txBox="1"/>
          <p:nvPr/>
        </p:nvSpPr>
        <p:spPr>
          <a:xfrm>
            <a:off x="609600" y="1130300"/>
            <a:ext cx="6985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416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七个最常调的启动参数</a:t>
            </a:r>
            <a:endParaRPr lang="en-US" sz="3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600" y="1905000"/>
          <a:ext cx="7848600" cy="914400"/>
        </p:xfrm>
        <a:graphic>
          <a:graphicData uri="http://schemas.openxmlformats.org/drawingml/2006/table">
            <a:tbl>
              <a:tblPr/>
              <a:tblGrid>
                <a:gridCol w="2413000"/>
                <a:gridCol w="1079500"/>
                <a:gridCol w="4356100"/>
              </a:tblGrid>
              <a:tr h="3175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E62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参数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8575" cap="flat" cmpd="sng" algn="ctr">
                      <a:solidFill>
                        <a:srgbClr val="14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E62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默认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8575" cap="flat" cmpd="sng" algn="ctr">
                      <a:solidFill>
                        <a:srgbClr val="14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E62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作用与建议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8575" cap="flat" cmpd="sng" algn="ctr">
                      <a:solidFill>
                        <a:srgbClr val="1416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4161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--gpu-memory-utilization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F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E4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0.9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F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E4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为模型权重 + KV Cache 预留的显存比例；越高可并发越多，但要给其他进程留余量。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F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4161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--max-model-len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F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E4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模型上限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F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E4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最大上下文长度。调小可显著减少单序列 KV 占用，提升并发。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F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4161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--max-num-seqs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F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E4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按版本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F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E4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单步调度的最大并发序列数；延迟敏感场景可调低。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F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4161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--tensor-parallel-size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F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1D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E4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F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1D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E4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张量并行的 GPU 数；模型放不下单卡时首先调它。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F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1D3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4161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--enable-prefix-caching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F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E4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V1 默认开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F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E4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复用相同前缀的 KV 块；长 system prompt、多轮对话收益最大。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F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4161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--kv-cache-dtype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F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E4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auto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F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E4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设为 fp8 可让 KV Cache 占用减半，需关注精度。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F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4161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--quantization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F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E4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自动识别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F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E4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指定 awq / gptq / fp8 等权重量化方式。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F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1" name="Shape 18"/>
          <p:cNvSpPr/>
          <p:nvPr/>
        </p:nvSpPr>
        <p:spPr>
          <a:xfrm>
            <a:off x="8915400" y="1905000"/>
            <a:ext cx="2667000" cy="2095500"/>
          </a:xfrm>
          <a:prstGeom prst="rect">
            <a:avLst/>
          </a:prstGeom>
          <a:solidFill>
            <a:srgbClr val="FBFAF6"/>
          </a:solidFill>
          <a:ln w="13970">
            <a:solidFill>
              <a:srgbClr val="14161B"/>
            </a:solidFill>
            <a:prstDash val="solid"/>
          </a:ln>
          <a:effectLst>
            <a:outerShdw sx="100000" sy="100000" kx="0" ky="0" algn="bl" rotWithShape="0" blurRad="101600" dist="63500" dir="2700000">
              <a:srgbClr val="14161B">
                <a:alpha val="100000"/>
              </a:srgbClr>
            </a:outerShdw>
          </a:effectLst>
        </p:spPr>
      </p:sp>
      <p:sp>
        <p:nvSpPr>
          <p:cNvPr id="22" name="Text 19"/>
          <p:cNvSpPr txBox="1"/>
          <p:nvPr/>
        </p:nvSpPr>
        <p:spPr>
          <a:xfrm>
            <a:off x="9118600" y="2070100"/>
            <a:ext cx="2286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B533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RULE OF THUMB</a:t>
            </a:r>
            <a:endParaRPr lang="en-US" sz="850" dirty="0"/>
          </a:p>
        </p:txBody>
      </p:sp>
      <p:sp>
        <p:nvSpPr>
          <p:cNvPr id="23" name="Text 20"/>
          <p:cNvSpPr txBox="1"/>
          <p:nvPr/>
        </p:nvSpPr>
        <p:spPr>
          <a:xfrm>
            <a:off x="9118600" y="2324100"/>
            <a:ext cx="2260600" cy="158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3A3E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先定 </a:t>
            </a:r>
            <a:pPr indent="0" marL="0">
              <a:lnSpc>
                <a:spcPct val="145000"/>
              </a:lnSpc>
              <a:buNone/>
            </a:pPr>
            <a:r>
              <a:rPr lang="en-US" sz="1200" b="1" dirty="0">
                <a:solidFill>
                  <a:srgbClr val="3A3E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max-model-len</a:t>
            </a:r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3A3E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，再用 </a:t>
            </a:r>
            <a:pPr indent="0" marL="0">
              <a:lnSpc>
                <a:spcPct val="145000"/>
              </a:lnSpc>
              <a:buNone/>
            </a:pPr>
            <a:r>
              <a:rPr lang="en-US" sz="1200" b="1" dirty="0">
                <a:solidFill>
                  <a:srgbClr val="3A3E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gpu-memory-utilization</a:t>
            </a:r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3A3E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把剩余显存都给 KV Cache，最后用 </a:t>
            </a:r>
            <a:pPr indent="0" marL="0">
              <a:lnSpc>
                <a:spcPct val="145000"/>
              </a:lnSpc>
              <a:buNone/>
            </a:pPr>
            <a:r>
              <a:rPr lang="en-US" sz="1200" b="1" dirty="0">
                <a:solidFill>
                  <a:srgbClr val="3A3E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max-num-seqs</a:t>
            </a:r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3A3E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在吞吐与延迟之间取舍。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8915400" y="4191000"/>
            <a:ext cx="2667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E62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默认值随版本变化，以 vllm serve --help 输出为准。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600" y="330200"/>
            <a:ext cx="381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1416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vLLM</a:t>
            </a:r>
            <a:pPr indent="0" marL="0">
              <a:buNone/>
            </a:pPr>
            <a:r>
              <a:rPr lang="en-US" sz="850" spc="100" kern="0" dirty="0">
                <a:solidFill>
                  <a:srgbClr val="1416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／  大模型推理框架介绍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4191000" y="330200"/>
            <a:ext cx="381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5E62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TAKEAWAYS ／ 小结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10883900" y="330200"/>
            <a:ext cx="6985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spc="100" kern="0" dirty="0">
                <a:solidFill>
                  <a:srgbClr val="1416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/ 12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9601200" y="368300"/>
            <a:ext cx="76200" cy="76200"/>
          </a:xfrm>
          <a:prstGeom prst="roundRect">
            <a:avLst>
              <a:gd name="adj" fmla="val 36000"/>
            </a:avLst>
          </a:prstGeom>
          <a:solidFill>
            <a:srgbClr val="14161B"/>
          </a:solidFill>
          <a:ln w="12700">
            <a:solidFill>
              <a:srgbClr val="14161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702800" y="368300"/>
            <a:ext cx="76200" cy="76200"/>
          </a:xfrm>
          <a:prstGeom prst="roundRect">
            <a:avLst>
              <a:gd name="adj" fmla="val 36000"/>
            </a:avLst>
          </a:prstGeom>
          <a:solidFill>
            <a:srgbClr val="14161B"/>
          </a:solidFill>
          <a:ln w="12700">
            <a:solidFill>
              <a:srgbClr val="14161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804400" y="368300"/>
            <a:ext cx="76200" cy="76200"/>
          </a:xfrm>
          <a:prstGeom prst="roundRect">
            <a:avLst>
              <a:gd name="adj" fmla="val 36000"/>
            </a:avLst>
          </a:prstGeom>
          <a:solidFill>
            <a:srgbClr val="14161B"/>
          </a:solidFill>
          <a:ln w="12700">
            <a:solidFill>
              <a:srgbClr val="14161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906000" y="368300"/>
            <a:ext cx="76200" cy="76200"/>
          </a:xfrm>
          <a:prstGeom prst="roundRect">
            <a:avLst>
              <a:gd name="adj" fmla="val 36000"/>
            </a:avLst>
          </a:prstGeom>
          <a:solidFill>
            <a:srgbClr val="14161B"/>
          </a:solidFill>
          <a:ln w="12700">
            <a:solidFill>
              <a:srgbClr val="14161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007600" y="368300"/>
            <a:ext cx="76200" cy="76200"/>
          </a:xfrm>
          <a:prstGeom prst="roundRect">
            <a:avLst>
              <a:gd name="adj" fmla="val 36000"/>
            </a:avLst>
          </a:prstGeom>
          <a:solidFill>
            <a:srgbClr val="14161B"/>
          </a:solidFill>
          <a:ln w="12700">
            <a:solidFill>
              <a:srgbClr val="14161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109200" y="368300"/>
            <a:ext cx="76200" cy="76200"/>
          </a:xfrm>
          <a:prstGeom prst="roundRect">
            <a:avLst>
              <a:gd name="adj" fmla="val 36000"/>
            </a:avLst>
          </a:prstGeom>
          <a:solidFill>
            <a:srgbClr val="14161B"/>
          </a:solidFill>
          <a:ln w="12700">
            <a:solidFill>
              <a:srgbClr val="14161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210800" y="368300"/>
            <a:ext cx="76200" cy="76200"/>
          </a:xfrm>
          <a:prstGeom prst="roundRect">
            <a:avLst>
              <a:gd name="adj" fmla="val 36000"/>
            </a:avLst>
          </a:prstGeom>
          <a:solidFill>
            <a:srgbClr val="14161B"/>
          </a:solidFill>
          <a:ln w="12700">
            <a:solidFill>
              <a:srgbClr val="14161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312400" y="368300"/>
            <a:ext cx="76200" cy="76200"/>
          </a:xfrm>
          <a:prstGeom prst="roundRect">
            <a:avLst>
              <a:gd name="adj" fmla="val 36000"/>
            </a:avLst>
          </a:prstGeom>
          <a:solidFill>
            <a:srgbClr val="14161B"/>
          </a:solidFill>
          <a:ln w="12700">
            <a:solidFill>
              <a:srgbClr val="14161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414000" y="368300"/>
            <a:ext cx="76200" cy="76200"/>
          </a:xfrm>
          <a:prstGeom prst="roundRect">
            <a:avLst>
              <a:gd name="adj" fmla="val 36000"/>
            </a:avLst>
          </a:prstGeom>
          <a:solidFill>
            <a:srgbClr val="14161B"/>
          </a:solidFill>
          <a:ln w="12700">
            <a:solidFill>
              <a:srgbClr val="14161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515600" y="368300"/>
            <a:ext cx="76200" cy="76200"/>
          </a:xfrm>
          <a:prstGeom prst="roundRect">
            <a:avLst>
              <a:gd name="adj" fmla="val 36000"/>
            </a:avLst>
          </a:prstGeom>
          <a:solidFill>
            <a:srgbClr val="14161B"/>
          </a:solidFill>
          <a:ln w="12700">
            <a:solidFill>
              <a:srgbClr val="14161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617200" y="368300"/>
            <a:ext cx="76200" cy="76200"/>
          </a:xfrm>
          <a:prstGeom prst="roundRect">
            <a:avLst>
              <a:gd name="adj" fmla="val 36000"/>
            </a:avLst>
          </a:prstGeom>
          <a:solidFill>
            <a:srgbClr val="FF4F1F"/>
          </a:solidFill>
          <a:ln w="12700">
            <a:solidFill>
              <a:srgbClr val="FF4F1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718800" y="368300"/>
            <a:ext cx="76200" cy="76200"/>
          </a:xfrm>
          <a:prstGeom prst="roundRect">
            <a:avLst>
              <a:gd name="adj" fmla="val 36000"/>
            </a:avLst>
          </a:prstGeom>
          <a:ln w="12700">
            <a:solidFill>
              <a:srgbClr val="14161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9600" y="647700"/>
            <a:ext cx="10972800" cy="0"/>
          </a:xfrm>
          <a:prstGeom prst="line">
            <a:avLst/>
          </a:prstGeom>
          <a:noFill/>
          <a:ln w="28575">
            <a:solidFill>
              <a:srgbClr val="14161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09600" y="1270000"/>
            <a:ext cx="1270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0" dirty="0">
                <a:solidFill>
                  <a:srgbClr val="FF4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12000" dirty="0"/>
          </a:p>
        </p:txBody>
      </p:sp>
      <p:sp>
        <p:nvSpPr>
          <p:cNvPr id="19" name="Text 17"/>
          <p:cNvSpPr txBox="1"/>
          <p:nvPr/>
        </p:nvSpPr>
        <p:spPr>
          <a:xfrm>
            <a:off x="609600" y="2413000"/>
            <a:ext cx="6985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3800" b="1" dirty="0">
                <a:solidFill>
                  <a:srgbClr val="1416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推理框架的竞争，</a:t>
            </a:r>
            <a:endParaRPr lang="en-US" sz="3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3800" b="1" dirty="0">
                <a:solidFill>
                  <a:srgbClr val="1416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本质是</a:t>
            </a:r>
            <a:pPr indent="0" marL="0">
              <a:lnSpc>
                <a:spcPct val="125000"/>
              </a:lnSpc>
              <a:buNone/>
            </a:pPr>
            <a:r>
              <a:rPr lang="en-US" sz="3800" b="1" dirty="0">
                <a:solidFill>
                  <a:srgbClr val="14161B"/>
                </a:solidFill>
                <a:highlight>
                  <a:srgbClr val="D4F24A"/>
                </a:highlight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显存调度</a:t>
            </a:r>
            <a:pPr indent="0" marL="0">
              <a:lnSpc>
                <a:spcPct val="125000"/>
              </a:lnSpc>
              <a:buNone/>
            </a:pPr>
            <a:r>
              <a:rPr lang="en-US" sz="3800" b="1" dirty="0">
                <a:solidFill>
                  <a:srgbClr val="1416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的竞争。</a:t>
            </a:r>
            <a:endParaRPr lang="en-US" sz="3800" dirty="0"/>
          </a:p>
        </p:txBody>
      </p:sp>
      <p:sp>
        <p:nvSpPr>
          <p:cNvPr id="20" name="Text 18"/>
          <p:cNvSpPr txBox="1"/>
          <p:nvPr/>
        </p:nvSpPr>
        <p:spPr>
          <a:xfrm>
            <a:off x="609600" y="4191000"/>
            <a:ext cx="6350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3A3E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vLLM 用分页管理 KV Cache，用连续批处理喂饱 GPU，再以 OpenAI 兼容接口降低迁移成本——这是它成为开源推理事实标准的三块基石。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8026400" y="2413000"/>
            <a:ext cx="3556000" cy="0"/>
          </a:xfrm>
          <a:prstGeom prst="line">
            <a:avLst/>
          </a:prstGeom>
          <a:noFill/>
          <a:ln w="28575">
            <a:solidFill>
              <a:srgbClr val="14161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026400" y="2578100"/>
            <a:ext cx="381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B533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8585200" y="2540000"/>
            <a:ext cx="2997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16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省显存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8585200" y="2806700"/>
            <a:ext cx="29972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A3E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PagedAttention 让 KV 浪费 &lt; 4%。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026400" y="3302000"/>
            <a:ext cx="3556000" cy="0"/>
          </a:xfrm>
          <a:prstGeom prst="line">
            <a:avLst/>
          </a:prstGeom>
          <a:noFill/>
          <a:ln w="9525">
            <a:solidFill>
              <a:srgbClr val="CFC8B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026400" y="3467100"/>
            <a:ext cx="381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B533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8585200" y="3429000"/>
            <a:ext cx="2997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16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满载 GPU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8585200" y="3695700"/>
            <a:ext cx="29972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A3E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迭代级调度 + 前缀缓存 + 分块预填充。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026400" y="4191000"/>
            <a:ext cx="3556000" cy="0"/>
          </a:xfrm>
          <a:prstGeom prst="line">
            <a:avLst/>
          </a:prstGeom>
          <a:noFill/>
          <a:ln w="9525">
            <a:solidFill>
              <a:srgbClr val="CFC8B8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026400" y="4356100"/>
            <a:ext cx="381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B533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8585200" y="4318000"/>
            <a:ext cx="2997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16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易落地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8585200" y="4584700"/>
            <a:ext cx="29972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A3E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一条命令部署，生态覆盖主流模型与硬件。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600" y="609600"/>
            <a:ext cx="381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5E62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THANK YOU  ／  Q&amp;A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508000" y="1079500"/>
            <a:ext cx="7302500" cy="2159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3600" i="1" spc="-300" kern="0" dirty="0">
                <a:solidFill>
                  <a:srgbClr val="1416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Thanks.</a:t>
            </a:r>
            <a:endParaRPr lang="en-US" sz="13600" dirty="0"/>
          </a:p>
        </p:txBody>
      </p:sp>
      <p:sp>
        <p:nvSpPr>
          <p:cNvPr id="4" name="Text 2"/>
          <p:cNvSpPr txBox="1"/>
          <p:nvPr/>
        </p:nvSpPr>
        <p:spPr>
          <a:xfrm>
            <a:off x="609600" y="3556000"/>
            <a:ext cx="635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3E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欢迎提问与交流 —— 让我们一起把推理成本降下来。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026400" y="1143000"/>
            <a:ext cx="3556000" cy="0"/>
          </a:xfrm>
          <a:prstGeom prst="line">
            <a:avLst/>
          </a:prstGeom>
          <a:noFill/>
          <a:ln w="28575">
            <a:solidFill>
              <a:srgbClr val="14161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026400" y="1244600"/>
            <a:ext cx="127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E62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文档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8026400" y="1422400"/>
            <a:ext cx="3556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16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docs.vllm.ai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026400" y="1841500"/>
            <a:ext cx="3556000" cy="0"/>
          </a:xfrm>
          <a:prstGeom prst="line">
            <a:avLst/>
          </a:prstGeom>
          <a:noFill/>
          <a:ln w="9525">
            <a:solidFill>
              <a:srgbClr val="CFC8B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026400" y="1943100"/>
            <a:ext cx="127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E62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8026400" y="2120900"/>
            <a:ext cx="3556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16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github.com/vllm-project/vllm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26400" y="2540000"/>
            <a:ext cx="3556000" cy="0"/>
          </a:xfrm>
          <a:prstGeom prst="line">
            <a:avLst/>
          </a:prstGeom>
          <a:noFill/>
          <a:ln w="9525">
            <a:solidFill>
              <a:srgbClr val="CFC8B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026400" y="2641600"/>
            <a:ext cx="127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E62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8026400" y="2819400"/>
            <a:ext cx="3556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16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PagedAttention · SOSP 2023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0" y="4953000"/>
            <a:ext cx="12192000" cy="1905000"/>
          </a:xfrm>
          <a:prstGeom prst="rect">
            <a:avLst/>
          </a:prstGeom>
          <a:solidFill>
            <a:srgbClr val="FF4F1F"/>
          </a:solidFill>
          <a:ln/>
        </p:spPr>
      </p:sp>
      <p:sp>
        <p:nvSpPr>
          <p:cNvPr id="15" name="Shape 13"/>
          <p:cNvSpPr/>
          <p:nvPr/>
        </p:nvSpPr>
        <p:spPr>
          <a:xfrm>
            <a:off x="10287000" y="4953000"/>
            <a:ext cx="1905000" cy="1905000"/>
          </a:xfrm>
          <a:prstGeom prst="rect">
            <a:avLst/>
          </a:prstGeom>
          <a:solidFill>
            <a:srgbClr val="2B3BF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09600" y="5016500"/>
            <a:ext cx="5080000" cy="165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0000" i="1" spc="-200" kern="0" dirty="0">
                <a:solidFill>
                  <a:srgbClr val="1416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Q&amp;A</a:t>
            </a:r>
            <a:endParaRPr lang="en-US" sz="10000" dirty="0"/>
          </a:p>
        </p:txBody>
      </p:sp>
      <p:sp>
        <p:nvSpPr>
          <p:cNvPr id="17" name="Text 15"/>
          <p:cNvSpPr txBox="1"/>
          <p:nvPr/>
        </p:nvSpPr>
        <p:spPr>
          <a:xfrm>
            <a:off x="6350000" y="6413500"/>
            <a:ext cx="3632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1416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vLLM ／ 大模型推理框架介绍 · 2026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600" y="457200"/>
            <a:ext cx="5715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B533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APPENDIX ／ 元件库 · 复制使用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609600" y="952500"/>
            <a:ext cx="254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5E62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TAGS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609600" y="1206500"/>
            <a:ext cx="825500" cy="254000"/>
          </a:xfrm>
          <a:prstGeom prst="roundRect">
            <a:avLst>
              <a:gd name="adj" fmla="val 50400"/>
            </a:avLst>
          </a:prstGeom>
          <a:solidFill>
            <a:srgbClr val="FBFAF6"/>
          </a:solidFill>
          <a:ln w="13970">
            <a:solidFill>
              <a:srgbClr val="1416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1416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DEFAULT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536700" y="1206500"/>
            <a:ext cx="825500" cy="254000"/>
          </a:xfrm>
          <a:prstGeom prst="roundRect">
            <a:avLst>
              <a:gd name="adj" fmla="val 50400"/>
            </a:avLst>
          </a:prstGeom>
          <a:solidFill>
            <a:srgbClr val="14161B"/>
          </a:solidFill>
          <a:ln w="13970">
            <a:solidFill>
              <a:srgbClr val="1416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F3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INK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2463800" y="1206500"/>
            <a:ext cx="825500" cy="254000"/>
          </a:xfrm>
          <a:prstGeom prst="roundRect">
            <a:avLst>
              <a:gd name="adj" fmla="val 50400"/>
            </a:avLst>
          </a:prstGeom>
          <a:solidFill>
            <a:srgbClr val="FF4F1F"/>
          </a:solidFill>
          <a:ln w="13970">
            <a:solidFill>
              <a:srgbClr val="FF4F1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1416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SIGNAL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3390900" y="1206500"/>
            <a:ext cx="825500" cy="254000"/>
          </a:xfrm>
          <a:prstGeom prst="roundRect">
            <a:avLst>
              <a:gd name="adj" fmla="val 50400"/>
            </a:avLst>
          </a:prstGeom>
          <a:solidFill>
            <a:srgbClr val="D4F24A"/>
          </a:solidFill>
          <a:ln w="13970">
            <a:solidFill>
              <a:srgbClr val="1416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1416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LIME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6400800" y="952500"/>
            <a:ext cx="254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5E62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HIGHLIGHT</a:t>
            </a:r>
            <a:endParaRPr 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6400800" y="1193800"/>
            <a:ext cx="5181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3E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KV Cache 浪费降到 </a:t>
            </a:r>
            <a:pPr indent="0" marL="0">
              <a:buNone/>
            </a:pPr>
            <a:r>
              <a:rPr lang="en-US" sz="1500" dirty="0">
                <a:solidFill>
                  <a:srgbClr val="3A3E47"/>
                </a:solidFill>
                <a:highlight>
                  <a:srgbClr val="D4F24A"/>
                </a:highlight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4% 以下</a:t>
            </a:r>
            <a:pPr indent="0" marL="0">
              <a:buNone/>
            </a:pPr>
            <a:r>
              <a:rPr lang="en-US" sz="1500" dirty="0">
                <a:solidFill>
                  <a:srgbClr val="3A3E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，吞吐提升 </a:t>
            </a:r>
            <a:pPr indent="0" marL="0">
              <a:buNone/>
            </a:pPr>
            <a:r>
              <a:rPr lang="en-US" sz="1500" b="1" dirty="0">
                <a:solidFill>
                  <a:srgbClr val="B533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24×</a:t>
            </a:r>
            <a:pPr indent="0" marL="0">
              <a:buNone/>
            </a:pPr>
            <a:r>
              <a:rPr lang="en-US" sz="1500" dirty="0">
                <a:solidFill>
                  <a:srgbClr val="3A3E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09600" y="2540000"/>
            <a:ext cx="254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5E62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KV BLOCKS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09600" y="2794000"/>
            <a:ext cx="177800" cy="177800"/>
          </a:xfrm>
          <a:prstGeom prst="roundRect">
            <a:avLst>
              <a:gd name="adj" fmla="val 15429"/>
            </a:avLst>
          </a:prstGeom>
          <a:solidFill>
            <a:srgbClr val="FF4F1F"/>
          </a:solidFill>
          <a:ln w="12700">
            <a:solidFill>
              <a:srgbClr val="FF4F1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5500" y="2794000"/>
            <a:ext cx="177800" cy="177800"/>
          </a:xfrm>
          <a:prstGeom prst="roundRect">
            <a:avLst>
              <a:gd name="adj" fmla="val 15429"/>
            </a:avLst>
          </a:prstGeom>
          <a:solidFill>
            <a:srgbClr val="FF4F1F"/>
          </a:solidFill>
          <a:ln w="12700">
            <a:solidFill>
              <a:srgbClr val="FF4F1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41400" y="2794000"/>
            <a:ext cx="177800" cy="177800"/>
          </a:xfrm>
          <a:prstGeom prst="roundRect">
            <a:avLst>
              <a:gd name="adj" fmla="val 15429"/>
            </a:avLst>
          </a:prstGeom>
          <a:solidFill>
            <a:srgbClr val="FF4F1F"/>
          </a:solidFill>
          <a:ln w="12700">
            <a:solidFill>
              <a:srgbClr val="FF4F1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57300" y="2794000"/>
            <a:ext cx="177800" cy="177800"/>
          </a:xfrm>
          <a:prstGeom prst="roundRect">
            <a:avLst>
              <a:gd name="adj" fmla="val 15429"/>
            </a:avLst>
          </a:prstGeom>
          <a:solidFill>
            <a:srgbClr val="2B3BFF"/>
          </a:solidFill>
          <a:ln w="12700">
            <a:solidFill>
              <a:srgbClr val="2B3B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473200" y="2794000"/>
            <a:ext cx="177800" cy="177800"/>
          </a:xfrm>
          <a:prstGeom prst="roundRect">
            <a:avLst>
              <a:gd name="adj" fmla="val 15429"/>
            </a:avLst>
          </a:prstGeom>
          <a:solidFill>
            <a:srgbClr val="2B3BFF"/>
          </a:solidFill>
          <a:ln w="12700">
            <a:solidFill>
              <a:srgbClr val="2B3B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89100" y="2794000"/>
            <a:ext cx="177800" cy="177800"/>
          </a:xfrm>
          <a:prstGeom prst="roundRect">
            <a:avLst>
              <a:gd name="adj" fmla="val 15429"/>
            </a:avLst>
          </a:prstGeom>
          <a:solidFill>
            <a:srgbClr val="D4F24A"/>
          </a:solidFill>
          <a:ln w="12700">
            <a:solidFill>
              <a:srgbClr val="14161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905000" y="2794000"/>
            <a:ext cx="177800" cy="177800"/>
          </a:xfrm>
          <a:prstGeom prst="roundRect">
            <a:avLst>
              <a:gd name="adj" fmla="val 15429"/>
            </a:avLst>
          </a:prstGeom>
          <a:solidFill>
            <a:srgbClr val="14161B"/>
          </a:solidFill>
          <a:ln w="12700">
            <a:solidFill>
              <a:srgbClr val="14161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120900" y="2794000"/>
            <a:ext cx="177800" cy="177800"/>
          </a:xfrm>
          <a:prstGeom prst="roundRect">
            <a:avLst>
              <a:gd name="adj" fmla="val 15429"/>
            </a:avLst>
          </a:prstGeom>
          <a:ln w="12700">
            <a:solidFill>
              <a:srgbClr val="14161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336800" y="2794000"/>
            <a:ext cx="177800" cy="177800"/>
          </a:xfrm>
          <a:prstGeom prst="roundRect">
            <a:avLst>
              <a:gd name="adj" fmla="val 15429"/>
            </a:avLst>
          </a:prstGeom>
          <a:ln w="12700">
            <a:solidFill>
              <a:srgbClr val="14161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552700" y="2794000"/>
            <a:ext cx="177800" cy="177800"/>
          </a:xfrm>
          <a:prstGeom prst="roundRect">
            <a:avLst>
              <a:gd name="adj" fmla="val 15429"/>
            </a:avLst>
          </a:prstGeom>
          <a:ln w="12700">
            <a:solidFill>
              <a:srgbClr val="CFC8B8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2768600" y="2794000"/>
            <a:ext cx="177800" cy="177800"/>
          </a:xfrm>
          <a:prstGeom prst="roundRect">
            <a:avLst>
              <a:gd name="adj" fmla="val 15429"/>
            </a:avLst>
          </a:prstGeom>
          <a:ln w="12700">
            <a:solidFill>
              <a:srgbClr val="CFC8B8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2984500" y="2794000"/>
            <a:ext cx="177800" cy="177800"/>
          </a:xfrm>
          <a:prstGeom prst="roundRect">
            <a:avLst>
              <a:gd name="adj" fmla="val 15429"/>
            </a:avLst>
          </a:prstGeom>
          <a:ln w="12700">
            <a:solidFill>
              <a:srgbClr val="CFC8B8"/>
            </a:solidFill>
            <a:prstDash val="dash"/>
          </a:ln>
        </p:spPr>
      </p:sp>
      <p:sp>
        <p:nvSpPr>
          <p:cNvPr id="23" name="Text 21"/>
          <p:cNvSpPr txBox="1"/>
          <p:nvPr/>
        </p:nvSpPr>
        <p:spPr>
          <a:xfrm>
            <a:off x="609600" y="3111500"/>
            <a:ext cx="508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E62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信号橙 · 钴蓝 · 青柠 · 墨 · 空 · 虚线=未分配</a:t>
            </a:r>
            <a:endParaRPr lang="en-US" sz="8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0" y="2540000"/>
            <a:ext cx="254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5E62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CALLOUT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400800" y="2794000"/>
            <a:ext cx="5181600" cy="762000"/>
          </a:xfrm>
          <a:prstGeom prst="rect">
            <a:avLst/>
          </a:prstGeom>
          <a:solidFill>
            <a:srgbClr val="FFE1D3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604000" y="2933700"/>
            <a:ext cx="4826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416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416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物理块不必连续，按需分配、随用随还。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609600" y="4064000"/>
            <a:ext cx="254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5E62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CARDS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09600" y="4318000"/>
            <a:ext cx="2540000" cy="1905000"/>
          </a:xfrm>
          <a:prstGeom prst="rect">
            <a:avLst/>
          </a:prstGeom>
          <a:solidFill>
            <a:srgbClr val="FBFAF6"/>
          </a:solidFill>
          <a:ln w="13970">
            <a:solidFill>
              <a:srgbClr val="14161B"/>
            </a:solidFill>
            <a:prstDash val="solid"/>
          </a:ln>
          <a:effectLst>
            <a:outerShdw sx="100000" sy="100000" kx="0" ky="0" algn="bl" rotWithShape="0" blurRad="101600" dist="63500" dir="2700000">
              <a:srgbClr val="14161B">
                <a:alpha val="100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812800" y="4495800"/>
            <a:ext cx="508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416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850" dirty="0"/>
          </a:p>
        </p:txBody>
      </p:sp>
      <p:sp>
        <p:nvSpPr>
          <p:cNvPr id="30" name="Text 28"/>
          <p:cNvSpPr txBox="1"/>
          <p:nvPr/>
        </p:nvSpPr>
        <p:spPr>
          <a:xfrm>
            <a:off x="812800" y="5270500"/>
            <a:ext cx="2159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16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重点卡片</a:t>
            </a:r>
            <a:endParaRPr lang="en-US" sz="1800" dirty="0"/>
          </a:p>
        </p:txBody>
      </p:sp>
      <p:sp>
        <p:nvSpPr>
          <p:cNvPr id="31" name="Text 29"/>
          <p:cNvSpPr txBox="1"/>
          <p:nvPr/>
        </p:nvSpPr>
        <p:spPr>
          <a:xfrm>
            <a:off x="812800" y="5651500"/>
            <a:ext cx="215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A3E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每页最多一个，带硬边投影。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429000" y="4318000"/>
            <a:ext cx="2540000" cy="1905000"/>
          </a:xfrm>
          <a:prstGeom prst="rect">
            <a:avLst/>
          </a:prstGeom>
          <a:solidFill>
            <a:srgbClr val="2B3BFF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3632200" y="4495800"/>
            <a:ext cx="508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F3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850" dirty="0"/>
          </a:p>
        </p:txBody>
      </p:sp>
      <p:sp>
        <p:nvSpPr>
          <p:cNvPr id="34" name="Text 32"/>
          <p:cNvSpPr txBox="1"/>
          <p:nvPr/>
        </p:nvSpPr>
        <p:spPr>
          <a:xfrm>
            <a:off x="3632200" y="5270500"/>
            <a:ext cx="2159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3F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钴蓝卡片</a:t>
            </a:r>
            <a:endParaRPr lang="en-US" sz="1800" dirty="0"/>
          </a:p>
        </p:txBody>
      </p:sp>
      <p:sp>
        <p:nvSpPr>
          <p:cNvPr id="35" name="Text 33"/>
          <p:cNvSpPr txBox="1"/>
          <p:nvPr/>
        </p:nvSpPr>
        <p:spPr>
          <a:xfrm>
            <a:off x="3632200" y="5651500"/>
            <a:ext cx="215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F3F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钴蓝底一律配 paper 色文字。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6400800" y="4064000"/>
            <a:ext cx="254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5E62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</a:t>
            </a:r>
            <a:endParaRPr lang="en-US" sz="850" dirty="0"/>
          </a:p>
        </p:txBody>
      </p:sp>
      <p:sp>
        <p:nvSpPr>
          <p:cNvPr id="37" name="Text 35"/>
          <p:cNvSpPr txBox="1"/>
          <p:nvPr/>
        </p:nvSpPr>
        <p:spPr>
          <a:xfrm>
            <a:off x="6400800" y="4318000"/>
            <a:ext cx="51816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3A3E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方块项目符号，信号橙</a:t>
            </a:r>
            <a:endParaRPr lang="en-US" sz="120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3A3E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每条不超过两行</a:t>
            </a:r>
            <a:endParaRPr lang="en-US" sz="120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3A3E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一页不超过 5 条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大模型推理框架 vLLM 介绍 · Paged Daylight</dc:title>
  <dc:subject>PptxGenJS Presentation</dc:subject>
  <dc:creator>PptxGenJS</dc:creator>
  <cp:lastModifiedBy>PptxGenJS</cp:lastModifiedBy>
  <cp:revision>1</cp:revision>
  <dcterms:created xsi:type="dcterms:W3CDTF">2026-09-24T12:39:01Z</dcterms:created>
  <dcterms:modified xsi:type="dcterms:W3CDTF">2026-09-24T12:39:01Z</dcterms:modified>
</cp:coreProperties>
</file>