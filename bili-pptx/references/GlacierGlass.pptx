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" y="355600"/>
            <a:ext cx="1823244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pic>
        <p:nvPicPr>
          <p:cNvPr id="3" name="Image 0" descr="/tmp/claude-0/-home-claude/2b35665f-05e8-5c23-bf82-e38526784130/scratchpad/pptx/build/s0_r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" y="425450"/>
            <a:ext cx="165100" cy="1651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35050" y="428625"/>
            <a:ext cx="155654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344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· 大模型推理框架介绍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10299898" y="434975"/>
            <a:ext cx="1210424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TALK</a:t>
            </a:r>
            <a:pPr algn="l" indent="0" marL="0">
              <a:buNone/>
            </a:pPr>
            <a:r>
              <a:rPr lang="en-US" sz="100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10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pPr algn="l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79450" y="1767880"/>
            <a:ext cx="127000" cy="127000"/>
          </a:xfrm>
          <a:prstGeom prst="ellipse">
            <a:avLst/>
          </a:prstGeom>
          <a:solidFill>
            <a:srgbClr val="F27C7C">
              <a:alpha val="1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11200" y="1799630"/>
            <a:ext cx="63500" cy="63500"/>
          </a:xfrm>
          <a:prstGeom prst="ellipse">
            <a:avLst/>
          </a:prstGeom>
          <a:solidFill>
            <a:srgbClr val="F27C7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0900" y="1761530"/>
            <a:ext cx="2617105" cy="156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spc="230" kern="0" dirty="0">
                <a:solidFill>
                  <a:srgbClr val="3F6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INFERENCE &amp; SERVING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711200" y="2117130"/>
            <a:ext cx="7083552" cy="64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spc="50" kern="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大模型推理框架</a:t>
            </a:r>
            <a:endParaRPr lang="en-US" sz="4600" dirty="0"/>
          </a:p>
        </p:txBody>
      </p:sp>
      <p:sp>
        <p:nvSpPr>
          <p:cNvPr id="10" name="Text 7"/>
          <p:cNvSpPr txBox="1"/>
          <p:nvPr/>
        </p:nvSpPr>
        <p:spPr>
          <a:xfrm>
            <a:off x="711200" y="2797770"/>
            <a:ext cx="6482715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0" b="1" spc="-380" kern="0" dirty="0">
                <a:gradFill rotWithShape="1">
                  <a:gsLst>
                    <a:gs pos="0">
                      <a:srgbClr val="2F66EE"/>
                    </a:gs>
                    <a:gs pos="50000">
                      <a:srgbClr val="4F8DFA"/>
                    </a:gs>
                    <a:gs pos="100000">
                      <a:srgbClr val="35B3DA"/>
                    </a:gs>
                  </a:gsLst>
                  <a:lin ang="0" scaled="0"/>
                </a:gra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</a:t>
            </a:r>
            <a:pPr algn="l" indent="0" marL="0">
              <a:buNone/>
            </a:pPr>
            <a:r>
              <a:rPr lang="en-US" sz="120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46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</a:t>
            </a:r>
            <a:endParaRPr lang="en-US" sz="9500" dirty="0"/>
          </a:p>
        </p:txBody>
      </p:sp>
      <p:sp>
        <p:nvSpPr>
          <p:cNvPr id="11" name="Text 8"/>
          <p:cNvSpPr txBox="1"/>
          <p:nvPr/>
        </p:nvSpPr>
        <p:spPr>
          <a:xfrm>
            <a:off x="711200" y="4220170"/>
            <a:ext cx="58578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F4E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PagedAttention 到高吞吐服务：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F4E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核心原理、系统架构与工程实践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11200" y="5045670"/>
            <a:ext cx="3867051" cy="660400"/>
          </a:xfrm>
          <a:prstGeom prst="roundRect">
            <a:avLst>
              <a:gd name="adj" fmla="val 2307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946150" y="5204420"/>
            <a:ext cx="966688" cy="115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PRESENTER</a:t>
            </a:r>
            <a:endParaRPr lang="en-US" sz="700" dirty="0"/>
          </a:p>
        </p:txBody>
      </p:sp>
      <p:sp>
        <p:nvSpPr>
          <p:cNvPr id="14" name="Text 11"/>
          <p:cNvSpPr txBox="1"/>
          <p:nvPr/>
        </p:nvSpPr>
        <p:spPr>
          <a:xfrm>
            <a:off x="946150" y="5344120"/>
            <a:ext cx="96668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[汇报人姓名]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001738" y="5204420"/>
            <a:ext cx="6350" cy="342900"/>
          </a:xfrm>
          <a:prstGeom prst="rect">
            <a:avLst/>
          </a:prstGeom>
          <a:solidFill>
            <a:srgbClr val="506EAA">
              <a:alpha val="20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287488" y="5204420"/>
            <a:ext cx="1083072" cy="115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AFFILIATION</a:t>
            </a:r>
            <a:endParaRPr lang="en-US" sz="700" dirty="0"/>
          </a:p>
        </p:txBody>
      </p:sp>
      <p:sp>
        <p:nvSpPr>
          <p:cNvPr id="17" name="Text 14"/>
          <p:cNvSpPr txBox="1"/>
          <p:nvPr/>
        </p:nvSpPr>
        <p:spPr>
          <a:xfrm>
            <a:off x="2287488" y="5344120"/>
            <a:ext cx="108307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[单位 / 实验室]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459460" y="5204420"/>
            <a:ext cx="6350" cy="342900"/>
          </a:xfrm>
          <a:prstGeom prst="rect">
            <a:avLst/>
          </a:prstGeom>
          <a:solidFill>
            <a:srgbClr val="506EAA">
              <a:alpha val="20000"/>
            </a:srgbClr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745210" y="5204420"/>
            <a:ext cx="788591" cy="115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700" dirty="0"/>
          </a:p>
        </p:txBody>
      </p:sp>
      <p:sp>
        <p:nvSpPr>
          <p:cNvPr id="20" name="Text 17"/>
          <p:cNvSpPr txBox="1"/>
          <p:nvPr/>
        </p:nvSpPr>
        <p:spPr>
          <a:xfrm>
            <a:off x="3745210" y="5344120"/>
            <a:ext cx="788591" cy="181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[2026.09]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543800" y="1765300"/>
            <a:ext cx="3937000" cy="3937000"/>
          </a:xfrm>
          <a:prstGeom prst="ellipse">
            <a:avLst/>
          </a:prstGeom>
          <a:ln w="9525">
            <a:solidFill>
              <a:srgbClr val="4F86F7">
                <a:alpha val="28000"/>
              </a:srgbClr>
            </a:solidFill>
            <a:prstDash val="solid"/>
          </a:ln>
        </p:spPr>
      </p:sp>
      <p:pic>
        <p:nvPicPr>
          <p:cNvPr id="22" name="Image 1" descr="/tmp/claude-0/-home-claude/2b35665f-05e8-5c23-bf82-e38526784130/scratchpad/pptx/build/s0_r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7450" y="2000250"/>
            <a:ext cx="2438400" cy="243840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778750" y="3333750"/>
            <a:ext cx="2057400" cy="2057400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8486577" y="4178300"/>
            <a:ext cx="832247" cy="115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IDEA</a:t>
            </a:r>
            <a:endParaRPr lang="en-US" sz="700" dirty="0"/>
          </a:p>
        </p:txBody>
      </p:sp>
      <p:sp>
        <p:nvSpPr>
          <p:cNvPr id="25" name="Text 21"/>
          <p:cNvSpPr txBox="1"/>
          <p:nvPr/>
        </p:nvSpPr>
        <p:spPr>
          <a:xfrm>
            <a:off x="8116987" y="4330700"/>
            <a:ext cx="157142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spc="-10" kern="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PagedAttention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" y="355600"/>
            <a:ext cx="1823244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pic>
        <p:nvPicPr>
          <p:cNvPr id="3" name="Image 0" descr="/tmp/claude-0/-home-claude/2b35665f-05e8-5c23-bf82-e38526784130/scratchpad/pptx/build/s1_r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" y="425450"/>
            <a:ext cx="165100" cy="1651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35050" y="428625"/>
            <a:ext cx="155654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344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· 大模型推理框架介绍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10376297" y="434975"/>
            <a:ext cx="11321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CONTENTS</a:t>
            </a:r>
            <a:pPr algn="l" indent="0" marL="0">
              <a:buNone/>
            </a:pPr>
            <a:r>
              <a:rPr lang="en-US" sz="100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10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pPr algn="l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79450" y="904875"/>
            <a:ext cx="127000" cy="127000"/>
          </a:xfrm>
          <a:prstGeom prst="ellipse">
            <a:avLst/>
          </a:prstGeom>
          <a:solidFill>
            <a:srgbClr val="F27C7C">
              <a:alpha val="1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11200" y="936625"/>
            <a:ext cx="63500" cy="63500"/>
          </a:xfrm>
          <a:prstGeom prst="ellipse">
            <a:avLst/>
          </a:prstGeom>
          <a:solidFill>
            <a:srgbClr val="F27C7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0900" y="889000"/>
            <a:ext cx="1430139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190" kern="0" dirty="0">
                <a:solidFill>
                  <a:srgbClr val="3F6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CONTENTS · 目录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11200" y="1136650"/>
            <a:ext cx="12061952" cy="423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40"/>
              </a:lnSpc>
              <a:buNone/>
            </a:pPr>
            <a:r>
              <a:rPr lang="en-US" sz="2900" b="1" spc="-30" kern="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今天我们聊什么</a:t>
            </a:r>
            <a:endParaRPr lang="en-US" sz="2900" dirty="0"/>
          </a:p>
        </p:txBody>
      </p:sp>
      <p:sp>
        <p:nvSpPr>
          <p:cNvPr id="10" name="Shape 7"/>
          <p:cNvSpPr/>
          <p:nvPr/>
        </p:nvSpPr>
        <p:spPr>
          <a:xfrm>
            <a:off x="711200" y="1788716"/>
            <a:ext cx="3471267" cy="2064742"/>
          </a:xfrm>
          <a:prstGeom prst="roundRect">
            <a:avLst>
              <a:gd name="adj" fmla="val 8611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11" name="Image 1" descr="/tmp/claude-0/-home-claude/2b35665f-05e8-5c23-bf82-e38526784130/scratchpad/pptx/build/s1_r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117" y="1788716"/>
            <a:ext cx="1022350" cy="102235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46150" y="2023666"/>
            <a:ext cx="3361531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spc="-60" kern="0" dirty="0">
                <a:solidFill>
                  <a:srgbClr val="2A4FB8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01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946150" y="2544366"/>
            <a:ext cx="3361531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推理的挑战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946150" y="2874566"/>
            <a:ext cx="3361531" cy="14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INFERENCE IS HARD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946150" y="3115866"/>
            <a:ext cx="3361531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Cache 显存、碎片化与访存瓶颈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360267" y="1788716"/>
            <a:ext cx="3471366" cy="2064742"/>
          </a:xfrm>
          <a:prstGeom prst="roundRect">
            <a:avLst>
              <a:gd name="adj" fmla="val 8611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17" name="Image 2" descr="/tmp/claude-0/-home-claude/2b35665f-05e8-5c23-bf82-e38526784130/scratchpad/pptx/build/s1_r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284" y="1788716"/>
            <a:ext cx="1022350" cy="102235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95217" y="2023666"/>
            <a:ext cx="3361642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spc="-60" kern="0" dirty="0">
                <a:solidFill>
                  <a:srgbClr val="2A4FB8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02</a:t>
            </a:r>
            <a:endParaRPr lang="en-US" sz="3200" dirty="0"/>
          </a:p>
        </p:txBody>
      </p:sp>
      <p:sp>
        <p:nvSpPr>
          <p:cNvPr id="19" name="Text 14"/>
          <p:cNvSpPr txBox="1"/>
          <p:nvPr/>
        </p:nvSpPr>
        <p:spPr>
          <a:xfrm>
            <a:off x="4595217" y="2544366"/>
            <a:ext cx="3361642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概览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4595217" y="2874566"/>
            <a:ext cx="3361642" cy="14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IS VLLM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4595217" y="3115866"/>
            <a:ext cx="3361642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项目起源、定位与发展历程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009434" y="1788716"/>
            <a:ext cx="3471366" cy="2064742"/>
          </a:xfrm>
          <a:prstGeom prst="roundRect">
            <a:avLst>
              <a:gd name="adj" fmla="val 8611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23" name="Image 3" descr="/tmp/claude-0/-home-claude/2b35665f-05e8-5c23-bf82-e38526784130/scratchpad/pptx/build/s1_r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8450" y="1788716"/>
            <a:ext cx="1022350" cy="102235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244384" y="2023666"/>
            <a:ext cx="3361642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spc="-60" kern="0" dirty="0">
                <a:solidFill>
                  <a:srgbClr val="2A4FB8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Text 19"/>
          <p:cNvSpPr txBox="1"/>
          <p:nvPr/>
        </p:nvSpPr>
        <p:spPr>
          <a:xfrm>
            <a:off x="8244384" y="2544366"/>
            <a:ext cx="3361642" cy="264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PagedAttention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8244384" y="2817416"/>
            <a:ext cx="3361642" cy="14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IDEA</a:t>
            </a:r>
            <a:endParaRPr lang="en-US" sz="850" dirty="0"/>
          </a:p>
        </p:txBody>
      </p:sp>
      <p:sp>
        <p:nvSpPr>
          <p:cNvPr id="27" name="Text 21"/>
          <p:cNvSpPr txBox="1"/>
          <p:nvPr/>
        </p:nvSpPr>
        <p:spPr>
          <a:xfrm>
            <a:off x="8244384" y="3058716"/>
            <a:ext cx="3361642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分页式 KV Cache 管理与写时复制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711200" y="4031258"/>
            <a:ext cx="3471267" cy="2064742"/>
          </a:xfrm>
          <a:prstGeom prst="roundRect">
            <a:avLst>
              <a:gd name="adj" fmla="val 8611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29" name="Image 4" descr="/tmp/claude-0/-home-claude/2b35665f-05e8-5c23-bf82-e38526784130/scratchpad/pptx/build/s1_r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0117" y="4031258"/>
            <a:ext cx="1022350" cy="102235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46150" y="4266208"/>
            <a:ext cx="3361531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spc="-60" kern="0" dirty="0">
                <a:solidFill>
                  <a:srgbClr val="2A4FB8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04</a:t>
            </a:r>
            <a:endParaRPr lang="en-US" sz="3200" dirty="0"/>
          </a:p>
        </p:txBody>
      </p:sp>
      <p:sp>
        <p:nvSpPr>
          <p:cNvPr id="31" name="Text 24"/>
          <p:cNvSpPr txBox="1"/>
          <p:nvPr/>
        </p:nvSpPr>
        <p:spPr>
          <a:xfrm>
            <a:off x="946150" y="4786908"/>
            <a:ext cx="3361531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调度与连续批处理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946150" y="5117108"/>
            <a:ext cx="3361531" cy="14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SCHEDULING</a:t>
            </a:r>
            <a:endParaRPr lang="en-US" sz="850" dirty="0"/>
          </a:p>
        </p:txBody>
      </p:sp>
      <p:sp>
        <p:nvSpPr>
          <p:cNvPr id="33" name="Text 26"/>
          <p:cNvSpPr txBox="1"/>
          <p:nvPr/>
        </p:nvSpPr>
        <p:spPr>
          <a:xfrm>
            <a:off x="946150" y="5358408"/>
            <a:ext cx="3361531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迭代级调度、抢占与 Chunked Prefill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4360267" y="4031258"/>
            <a:ext cx="3471366" cy="2064742"/>
          </a:xfrm>
          <a:prstGeom prst="roundRect">
            <a:avLst>
              <a:gd name="adj" fmla="val 8611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35" name="Image 5" descr="/tmp/claude-0/-home-claude/2b35665f-05e8-5c23-bf82-e38526784130/scratchpad/pptx/build/s1_r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9284" y="4031258"/>
            <a:ext cx="1022350" cy="102235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4595217" y="4266208"/>
            <a:ext cx="3361642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spc="-60" kern="0" dirty="0">
                <a:solidFill>
                  <a:srgbClr val="2A4FB8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05</a:t>
            </a:r>
            <a:endParaRPr lang="en-US" sz="3200" dirty="0"/>
          </a:p>
        </p:txBody>
      </p:sp>
      <p:sp>
        <p:nvSpPr>
          <p:cNvPr id="37" name="Text 29"/>
          <p:cNvSpPr txBox="1"/>
          <p:nvPr/>
        </p:nvSpPr>
        <p:spPr>
          <a:xfrm>
            <a:off x="4595217" y="4786908"/>
            <a:ext cx="3361642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1600" dirty="0"/>
          </a:p>
        </p:txBody>
      </p:sp>
      <p:sp>
        <p:nvSpPr>
          <p:cNvPr id="38" name="Text 30"/>
          <p:cNvSpPr txBox="1"/>
          <p:nvPr/>
        </p:nvSpPr>
        <p:spPr>
          <a:xfrm>
            <a:off x="4595217" y="5117108"/>
            <a:ext cx="3361642" cy="14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39" name="Text 31"/>
          <p:cNvSpPr txBox="1"/>
          <p:nvPr/>
        </p:nvSpPr>
        <p:spPr>
          <a:xfrm>
            <a:off x="4595217" y="5358408"/>
            <a:ext cx="3361642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引擎：EngineCore、Scheduler、Worker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8009434" y="4031258"/>
            <a:ext cx="3471366" cy="2064742"/>
          </a:xfrm>
          <a:prstGeom prst="roundRect">
            <a:avLst>
              <a:gd name="adj" fmla="val 8611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41" name="Image 6" descr="/tmp/claude-0/-home-claude/2b35665f-05e8-5c23-bf82-e38526784130/scratchpad/pptx/build/s1_r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58450" y="4031258"/>
            <a:ext cx="1022350" cy="102235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8244384" y="4266208"/>
            <a:ext cx="3361642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spc="-60" kern="0" dirty="0">
                <a:solidFill>
                  <a:srgbClr val="2A4FB8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06</a:t>
            </a:r>
            <a:endParaRPr lang="en-US" sz="3200" dirty="0"/>
          </a:p>
        </p:txBody>
      </p:sp>
      <p:sp>
        <p:nvSpPr>
          <p:cNvPr id="43" name="Text 34"/>
          <p:cNvSpPr txBox="1"/>
          <p:nvPr/>
        </p:nvSpPr>
        <p:spPr>
          <a:xfrm>
            <a:off x="8244384" y="4786908"/>
            <a:ext cx="3361642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特性、性能与实践</a:t>
            </a:r>
            <a:endParaRPr lang="en-US" sz="1600" dirty="0"/>
          </a:p>
        </p:txBody>
      </p:sp>
      <p:sp>
        <p:nvSpPr>
          <p:cNvPr id="44" name="Text 35"/>
          <p:cNvSpPr txBox="1"/>
          <p:nvPr/>
        </p:nvSpPr>
        <p:spPr>
          <a:xfrm>
            <a:off x="8244384" y="5117108"/>
            <a:ext cx="3361642" cy="14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FEATURES &amp; PRACTICE</a:t>
            </a:r>
            <a:endParaRPr lang="en-US" sz="850" dirty="0"/>
          </a:p>
        </p:txBody>
      </p:sp>
      <p:sp>
        <p:nvSpPr>
          <p:cNvPr id="45" name="Text 36"/>
          <p:cNvSpPr txBox="1"/>
          <p:nvPr/>
        </p:nvSpPr>
        <p:spPr>
          <a:xfrm>
            <a:off x="8244384" y="5358408"/>
            <a:ext cx="3361642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功能矩阵、性能数据与快速上手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711200" y="6324600"/>
            <a:ext cx="10769600" cy="0"/>
          </a:xfrm>
          <a:prstGeom prst="line">
            <a:avLst/>
          </a:prstGeom>
          <a:noFill/>
          <a:ln w="9525">
            <a:solidFill>
              <a:srgbClr val="506EAA">
                <a:alpha val="16000"/>
              </a:srgbClr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711200" y="6445250"/>
            <a:ext cx="110609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技术分享 · 目录</a:t>
            </a:r>
            <a:endParaRPr lang="en-US" sz="750" dirty="0"/>
          </a:p>
        </p:txBody>
      </p:sp>
      <p:sp>
        <p:nvSpPr>
          <p:cNvPr id="48" name="Text 39"/>
          <p:cNvSpPr txBox="1"/>
          <p:nvPr/>
        </p:nvSpPr>
        <p:spPr>
          <a:xfrm>
            <a:off x="9594751" y="6457950"/>
            <a:ext cx="21123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 · FAST · CHEAP LLM SERVING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" y="355600"/>
            <a:ext cx="1823244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pic>
        <p:nvPicPr>
          <p:cNvPr id="3" name="Image 0" descr="/tmp/claude-0/-home-claude/2b35665f-05e8-5c23-bf82-e38526784130/scratchpad/pptx/build/s2_r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" y="425450"/>
            <a:ext cx="165100" cy="1651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35050" y="428625"/>
            <a:ext cx="155654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344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· 大模型推理框架介绍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9841508" y="434975"/>
            <a:ext cx="1680274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CHALLENGES</a:t>
            </a:r>
            <a:pPr algn="l" indent="0" marL="0">
              <a:buNone/>
            </a:pPr>
            <a:r>
              <a:rPr lang="en-US" sz="100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10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pPr algn="l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79450" y="889000"/>
            <a:ext cx="127000" cy="127000"/>
          </a:xfrm>
          <a:prstGeom prst="ellipse">
            <a:avLst/>
          </a:prstGeom>
          <a:solidFill>
            <a:srgbClr val="F27C7C">
              <a:alpha val="1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11200" y="920750"/>
            <a:ext cx="63500" cy="63500"/>
          </a:xfrm>
          <a:prstGeom prst="ellipse">
            <a:avLst/>
          </a:prstGeom>
          <a:solidFill>
            <a:srgbClr val="F27C7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0900" y="889000"/>
            <a:ext cx="1521619" cy="14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190" kern="0" dirty="0">
                <a:solidFill>
                  <a:srgbClr val="3F6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CHALLENGES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11200" y="1104900"/>
            <a:ext cx="12061952" cy="423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40"/>
              </a:lnSpc>
              <a:buNone/>
            </a:pPr>
            <a:r>
              <a:rPr lang="en-US" sz="2900" b="1" spc="-30" kern="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推理的核心挑战：瓶颈在显存，而非算力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711200" y="1617266"/>
            <a:ext cx="91122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A5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自回归生成分为 </a:t>
            </a:r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4A5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Prefill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A5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（并行处理整段 prompt，计算密集）与 </a:t>
            </a:r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4A5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A5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（每步只产出一个 token，访存密集）两个阶段。为避免重复计算，每个 token 的 Key / Value 都需缓存在 GPU 显存中，这就是 KV Cache。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1200" y="2333427"/>
            <a:ext cx="3471267" cy="3762573"/>
          </a:xfrm>
          <a:prstGeom prst="roundRect">
            <a:avLst>
              <a:gd name="adj" fmla="val 512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12" name="Image 1" descr="/tmp/claude-0/-home-claude/2b35665f-05e8-5c23-bf82-e38526784130/scratchpad/pptx/build/s2_r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50" y="2542977"/>
            <a:ext cx="368300" cy="368300"/>
          </a:xfrm>
          <a:prstGeom prst="rect">
            <a:avLst/>
          </a:prstGeom>
        </p:spPr>
      </p:pic>
      <p:pic>
        <p:nvPicPr>
          <p:cNvPr id="13" name="Image 2" descr="/tmp/claude-0/-home-claude/2b35665f-05e8-5c23-bf82-e38526784130/scratchpad/pptx/build/s2_r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2638227"/>
            <a:ext cx="177800" cy="177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03350" y="2587427"/>
            <a:ext cx="190879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Cache 显存巨大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920750" y="3025577"/>
            <a:ext cx="31284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spc="-50" kern="0" dirty="0">
                <a:solidFill>
                  <a:srgbClr val="2A4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KB</a:t>
            </a:r>
            <a:pPr algn="l" indent="0" marL="0">
              <a:buNone/>
            </a:pPr>
            <a:r>
              <a:rPr lang="en-US" sz="90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90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OPT-13B 每 token</a:t>
            </a:r>
            <a:endParaRPr lang="en-US" sz="2600" dirty="0"/>
          </a:p>
        </p:txBody>
      </p:sp>
      <p:sp>
        <p:nvSpPr>
          <p:cNvPr id="16" name="Text 11"/>
          <p:cNvSpPr txBox="1"/>
          <p:nvPr/>
        </p:nvSpPr>
        <p:spPr>
          <a:xfrm>
            <a:off x="920750" y="3520877"/>
            <a:ext cx="3128471" cy="906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0"/>
              </a:lnSpc>
              <a:buNone/>
            </a:pPr>
            <a:r>
              <a:rPr lang="en-US" sz="1050" dirty="0">
                <a:solidFill>
                  <a:srgbClr val="3F4E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Cache 随序列长度与并发数线性增长。单个 2048 token 的请求即可占用约 1.6 GB 显存，模型权重之外的显存很快被耗尽，直接限制了可同时处理的请求数。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360267" y="2333427"/>
            <a:ext cx="3471366" cy="3762573"/>
          </a:xfrm>
          <a:prstGeom prst="roundRect">
            <a:avLst>
              <a:gd name="adj" fmla="val 512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18" name="Image 3" descr="/tmp/claude-0/-home-claude/2b35665f-05e8-5c23-bf82-e38526784130/scratchpad/pptx/build/s2_r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9817" y="2542977"/>
            <a:ext cx="368300" cy="368300"/>
          </a:xfrm>
          <a:prstGeom prst="rect">
            <a:avLst/>
          </a:prstGeom>
        </p:spPr>
      </p:pic>
      <p:pic>
        <p:nvPicPr>
          <p:cNvPr id="19" name="Image 4" descr="/tmp/claude-0/-home-claude/2b35665f-05e8-5c23-bf82-e38526784130/scratchpad/pptx/build/s2_r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5067" y="2638227"/>
            <a:ext cx="177800" cy="1778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052417" y="2587427"/>
            <a:ext cx="1714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碎片化与过度预留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4569817" y="3025577"/>
            <a:ext cx="312857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spc="-50" kern="0" dirty="0">
                <a:solidFill>
                  <a:srgbClr val="2A4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20–38%</a:t>
            </a:r>
            <a:pPr algn="l" indent="0" marL="0">
              <a:buNone/>
            </a:pPr>
            <a:r>
              <a:rPr lang="en-US" sz="90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90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显存被有效利用</a:t>
            </a:r>
            <a:endParaRPr lang="en-US" sz="2600" dirty="0"/>
          </a:p>
        </p:txBody>
      </p:sp>
      <p:sp>
        <p:nvSpPr>
          <p:cNvPr id="22" name="Text 15"/>
          <p:cNvSpPr txBox="1"/>
          <p:nvPr/>
        </p:nvSpPr>
        <p:spPr>
          <a:xfrm>
            <a:off x="4569817" y="3520877"/>
            <a:ext cx="3128573" cy="906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0"/>
              </a:lnSpc>
              <a:buNone/>
            </a:pPr>
            <a:r>
              <a:rPr lang="en-US" sz="1050" dirty="0">
                <a:solidFill>
                  <a:srgbClr val="3F4E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传统系统按最大长度为每个请求预分配连续显存，产生预留浪费、内部碎片与外部碎片。论文实测现有系统中仅 20.4%–38.2% 的 KV Cache 空间存放了真实 token。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8009434" y="2333427"/>
            <a:ext cx="3471366" cy="3762573"/>
          </a:xfrm>
          <a:prstGeom prst="roundRect">
            <a:avLst>
              <a:gd name="adj" fmla="val 512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24" name="Image 5" descr="/tmp/claude-0/-home-claude/2b35665f-05e8-5c23-bf82-e38526784130/scratchpad/pptx/build/s2_r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8984" y="2542977"/>
            <a:ext cx="368300" cy="368300"/>
          </a:xfrm>
          <a:prstGeom prst="rect">
            <a:avLst/>
          </a:prstGeom>
        </p:spPr>
      </p:pic>
      <p:pic>
        <p:nvPicPr>
          <p:cNvPr id="25" name="Image 6" descr="/tmp/claude-0/-home-claude/2b35665f-05e8-5c23-bf82-e38526784130/scratchpad/pptx/build/s2_r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4234" y="2638227"/>
            <a:ext cx="177800" cy="17780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8701584" y="2587427"/>
            <a:ext cx="169366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 访存受限</a:t>
            </a:r>
            <a:endParaRPr lang="en-US" sz="1500" dirty="0"/>
          </a:p>
        </p:txBody>
      </p:sp>
      <p:sp>
        <p:nvSpPr>
          <p:cNvPr id="27" name="Text 18"/>
          <p:cNvSpPr txBox="1"/>
          <p:nvPr/>
        </p:nvSpPr>
        <p:spPr>
          <a:xfrm>
            <a:off x="8218984" y="3025577"/>
            <a:ext cx="312857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spc="-50" kern="0" dirty="0">
                <a:solidFill>
                  <a:srgbClr val="2A4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Batch ↑</a:t>
            </a:r>
            <a:pPr algn="l" indent="0" marL="0">
              <a:buNone/>
            </a:pPr>
            <a:r>
              <a:rPr lang="en-US" sz="90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90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吞吐的关键</a:t>
            </a:r>
            <a:endParaRPr lang="en-US" sz="2600" dirty="0"/>
          </a:p>
        </p:txBody>
      </p:sp>
      <p:sp>
        <p:nvSpPr>
          <p:cNvPr id="28" name="Text 19"/>
          <p:cNvSpPr txBox="1"/>
          <p:nvPr/>
        </p:nvSpPr>
        <p:spPr>
          <a:xfrm>
            <a:off x="8218984" y="3520877"/>
            <a:ext cx="3128573" cy="906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0"/>
              </a:lnSpc>
              <a:buNone/>
            </a:pPr>
            <a:r>
              <a:rPr lang="en-US" sz="1050" dirty="0">
                <a:solidFill>
                  <a:srgbClr val="3F4E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 阶段 GPU 算力利用率低，只有增大批处理规模才能摊薄权重读取成本。但批大小又受限于 KV Cache 显存，形成「显存 → 批大小 → 吞吐」的连锁瓶颈。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711200" y="6324600"/>
            <a:ext cx="10769600" cy="0"/>
          </a:xfrm>
          <a:prstGeom prst="line">
            <a:avLst/>
          </a:prstGeom>
          <a:noFill/>
          <a:ln w="9525">
            <a:solidFill>
              <a:srgbClr val="506EAA">
                <a:alpha val="16000"/>
              </a:srgbClr>
            </a:solidFill>
            <a:prstDash val="solid"/>
          </a:ln>
        </p:spPr>
      </p:sp>
      <p:sp>
        <p:nvSpPr>
          <p:cNvPr id="30" name="Text 21"/>
          <p:cNvSpPr txBox="1"/>
          <p:nvPr/>
        </p:nvSpPr>
        <p:spPr>
          <a:xfrm>
            <a:off x="711200" y="6445250"/>
            <a:ext cx="49472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数据来源：Kwon et al., Efficient Memory Management for LLM Serving with PagedAttention, SOSP 2023</a:t>
            </a:r>
            <a:endParaRPr lang="en-US" sz="750" dirty="0"/>
          </a:p>
        </p:txBody>
      </p:sp>
      <p:sp>
        <p:nvSpPr>
          <p:cNvPr id="31" name="Text 22"/>
          <p:cNvSpPr txBox="1"/>
          <p:nvPr/>
        </p:nvSpPr>
        <p:spPr>
          <a:xfrm>
            <a:off x="9594751" y="6457950"/>
            <a:ext cx="21123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 · FAST · CHEAP LLM SERVING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" y="355600"/>
            <a:ext cx="1823244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pic>
        <p:nvPicPr>
          <p:cNvPr id="3" name="Image 0" descr="/tmp/claude-0/-home-claude/2b35665f-05e8-5c23-bf82-e38526784130/scratchpad/pptx/build/s3_r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" y="425450"/>
            <a:ext cx="165100" cy="1651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35050" y="428625"/>
            <a:ext cx="155654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344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· 大模型推理框架介绍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9994305" y="434975"/>
            <a:ext cx="1523658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OVERVIEW</a:t>
            </a:r>
            <a:pPr algn="l" indent="0" marL="0">
              <a:buNone/>
            </a:pPr>
            <a:r>
              <a:rPr lang="en-US" sz="100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10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pPr algn="l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79450" y="889000"/>
            <a:ext cx="127000" cy="127000"/>
          </a:xfrm>
          <a:prstGeom prst="ellipse">
            <a:avLst/>
          </a:prstGeom>
          <a:solidFill>
            <a:srgbClr val="F27C7C">
              <a:alpha val="1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11200" y="920750"/>
            <a:ext cx="63500" cy="63500"/>
          </a:xfrm>
          <a:prstGeom prst="ellipse">
            <a:avLst/>
          </a:prstGeom>
          <a:solidFill>
            <a:srgbClr val="F27C7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0900" y="889000"/>
            <a:ext cx="1344216" cy="14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190" kern="0" dirty="0">
                <a:solidFill>
                  <a:srgbClr val="3F6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OVERVIEW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11200" y="1104900"/>
            <a:ext cx="12061952" cy="423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40"/>
              </a:lnSpc>
              <a:buNone/>
            </a:pPr>
            <a:r>
              <a:rPr lang="en-US" sz="2900" b="1" spc="-30" kern="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vLLM：高吞吐、显存高效的 LLM 推理与服务引擎</a:t>
            </a:r>
            <a:endParaRPr lang="en-US" sz="2900" dirty="0"/>
          </a:p>
        </p:txBody>
      </p:sp>
      <p:sp>
        <p:nvSpPr>
          <p:cNvPr id="10" name="Shape 7"/>
          <p:cNvSpPr/>
          <p:nvPr/>
        </p:nvSpPr>
        <p:spPr>
          <a:xfrm>
            <a:off x="711200" y="1756966"/>
            <a:ext cx="5508129" cy="1873250"/>
          </a:xfrm>
          <a:prstGeom prst="roundRect">
            <a:avLst>
              <a:gd name="adj" fmla="val 949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958850" y="1979216"/>
            <a:ext cx="5138150" cy="1022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0"/>
              </a:lnSpc>
              <a:buNone/>
            </a:pPr>
            <a:r>
              <a:rPr lang="en-US" sz="1150" dirty="0">
                <a:solidFill>
                  <a:srgbClr val="2E3D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最初由 </a:t>
            </a:r>
            <a:pPr algn="l" indent="0" marL="0">
              <a:lnSpc>
                <a:spcPts val="2010"/>
              </a:lnSpc>
              <a:buNone/>
            </a:pPr>
            <a:r>
              <a:rPr lang="en-US" sz="1150" b="1" dirty="0">
                <a:solidFill>
                  <a:srgbClr val="2E3D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 Berkeley Sky Computing Lab</a:t>
            </a:r>
            <a:pPr algn="l" indent="0" marL="0">
              <a:lnSpc>
                <a:spcPts val="2010"/>
              </a:lnSpc>
              <a:buNone/>
            </a:pPr>
            <a:r>
              <a:rPr lang="en-US" sz="1150" dirty="0">
                <a:solidFill>
                  <a:srgbClr val="2E3D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开发，以 </a:t>
            </a:r>
            <a:pPr algn="l" indent="0" marL="0">
              <a:lnSpc>
                <a:spcPts val="2010"/>
              </a:lnSpc>
              <a:buNone/>
            </a:pPr>
            <a:r>
              <a:rPr lang="en-US" sz="1150" b="1" dirty="0">
                <a:solidFill>
                  <a:srgbClr val="2E3D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PagedAttention</a:t>
            </a:r>
            <a:pPr algn="l" indent="0" marL="0">
              <a:lnSpc>
                <a:spcPts val="2010"/>
              </a:lnSpc>
              <a:buNone/>
            </a:pPr>
            <a:r>
              <a:rPr lang="en-US" sz="1150" dirty="0">
                <a:solidFill>
                  <a:srgbClr val="2E3D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为核心，将 KV Cache 的显存浪费降至 4% 以内，显著提升批处理规模与服务吞吐。项目以 </a:t>
            </a:r>
            <a:pPr algn="l" indent="0" marL="0">
              <a:lnSpc>
                <a:spcPts val="2010"/>
              </a:lnSpc>
              <a:buNone/>
            </a:pPr>
            <a:r>
              <a:rPr lang="en-US" sz="1150" b="1" dirty="0">
                <a:solidFill>
                  <a:srgbClr val="2E3D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Apache-2.0</a:t>
            </a:r>
            <a:pPr algn="l" indent="0" marL="0">
              <a:lnSpc>
                <a:spcPts val="2010"/>
              </a:lnSpc>
              <a:buNone/>
            </a:pPr>
            <a:r>
              <a:rPr lang="en-US" sz="1150" dirty="0">
                <a:solidFill>
                  <a:srgbClr val="2E3D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协议开源，已成为学术研究与工业部署中最常用的开源推理引擎之一。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58850" y="3128566"/>
            <a:ext cx="584200" cy="279400"/>
          </a:xfrm>
          <a:prstGeom prst="roundRect">
            <a:avLst>
              <a:gd name="adj" fmla="val 50000"/>
            </a:avLst>
          </a:prstGeom>
          <a:solidFill>
            <a:srgbClr val="78A0FF">
              <a:alpha val="16000"/>
            </a:srgbClr>
          </a:solidFill>
          <a:ln w="9525">
            <a:solidFill>
              <a:srgbClr val="78A0FF">
                <a:alpha val="3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79500" y="3185716"/>
            <a:ext cx="53340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3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高吞吐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619250" y="3128566"/>
            <a:ext cx="698500" cy="279400"/>
          </a:xfrm>
          <a:prstGeom prst="roundRect">
            <a:avLst>
              <a:gd name="adj" fmla="val 50000"/>
            </a:avLst>
          </a:prstGeom>
          <a:solidFill>
            <a:srgbClr val="8CBEFF">
              <a:alpha val="16000"/>
            </a:srgbClr>
          </a:solidFill>
          <a:ln w="9525">
            <a:solidFill>
              <a:srgbClr val="8CBEFF">
                <a:alpha val="3500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739900" y="3185716"/>
            <a:ext cx="64770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3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显存高效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393950" y="3128566"/>
            <a:ext cx="1105297" cy="279400"/>
          </a:xfrm>
          <a:prstGeom prst="roundRect">
            <a:avLst>
              <a:gd name="adj" fmla="val 50000"/>
            </a:avLst>
          </a:prstGeom>
          <a:solidFill>
            <a:srgbClr val="6ED2EB">
              <a:alpha val="16000"/>
            </a:srgbClr>
          </a:solidFill>
          <a:ln w="9525">
            <a:solidFill>
              <a:srgbClr val="6ED2EB">
                <a:alpha val="35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514600" y="3185716"/>
            <a:ext cx="105449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3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 API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75447" y="3128566"/>
            <a:ext cx="1410196" cy="279400"/>
          </a:xfrm>
          <a:prstGeom prst="roundRect">
            <a:avLst>
              <a:gd name="adj" fmla="val 50000"/>
            </a:avLst>
          </a:prstGeom>
          <a:solidFill>
            <a:srgbClr val="78D7B4">
              <a:alpha val="16000"/>
            </a:srgbClr>
          </a:solidFill>
          <a:ln w="9525">
            <a:solidFill>
              <a:srgbClr val="78D7B4">
                <a:alpha val="3500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696097" y="3185716"/>
            <a:ext cx="1359396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3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HuggingFace 模型生态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061843" y="3128566"/>
            <a:ext cx="812800" cy="279400"/>
          </a:xfrm>
          <a:prstGeom prst="roundRect">
            <a:avLst>
              <a:gd name="adj" fmla="val 50000"/>
            </a:avLst>
          </a:prstGeom>
          <a:solidFill>
            <a:srgbClr val="FFDC82">
              <a:alpha val="16000"/>
            </a:srgbClr>
          </a:solidFill>
          <a:ln w="9525">
            <a:solidFill>
              <a:srgbClr val="FFDC82">
                <a:alpha val="3500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182493" y="3185716"/>
            <a:ext cx="76200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3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多硬件后端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11200" y="3795316"/>
            <a:ext cx="1271091" cy="1225550"/>
          </a:xfrm>
          <a:prstGeom prst="roundRect">
            <a:avLst>
              <a:gd name="adj" fmla="val 14508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23" name="Image 1" descr="/tmp/claude-0/-home-claude/2b35665f-05e8-5c23-bf82-e38526784130/scratchpad/pptx/build/s3_r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941" y="4252516"/>
            <a:ext cx="895350" cy="76835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908050" y="3979466"/>
            <a:ext cx="899326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spc="-100" kern="0" dirty="0">
                <a:gradFill rotWithShape="1">
                  <a:gsLst>
                    <a:gs pos="0">
                      <a:srgbClr val="2F66EE"/>
                    </a:gs>
                    <a:gs pos="50000">
                      <a:srgbClr val="4F8DFA"/>
                    </a:gs>
                    <a:gs pos="100000">
                      <a:srgbClr val="35B3DA"/>
                    </a:gs>
                  </a:gsLst>
                  <a:lin ang="0" scaled="0"/>
                </a:gra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&lt;4</a:t>
            </a:r>
            <a:pPr algn="l" indent="0" marL="0">
              <a:buNone/>
            </a:pPr>
            <a:r>
              <a:rPr lang="en-US" sz="1200" dirty="0">
                <a:solidFill>
                  <a:srgbClr val="2A4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1300" b="1" dirty="0">
                <a:solidFill>
                  <a:srgbClr val="2A4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3400" dirty="0"/>
          </a:p>
        </p:txBody>
      </p:sp>
      <p:sp>
        <p:nvSpPr>
          <p:cNvPr id="25" name="Text 21"/>
          <p:cNvSpPr txBox="1"/>
          <p:nvPr/>
        </p:nvSpPr>
        <p:spPr>
          <a:xfrm>
            <a:off x="908050" y="4474766"/>
            <a:ext cx="89932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Cache 显存浪费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2121991" y="3795316"/>
            <a:ext cx="2270323" cy="1225550"/>
          </a:xfrm>
          <a:prstGeom prst="roundRect">
            <a:avLst>
              <a:gd name="adj" fmla="val 14508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27" name="Image 2" descr="/tmp/claude-0/-home-claude/2b35665f-05e8-5c23-bf82-e38526784130/scratchpad/pptx/build/s3_r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6965" y="4252516"/>
            <a:ext cx="895350" cy="76835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318841" y="3979466"/>
            <a:ext cx="192353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spc="-100" kern="0" dirty="0">
                <a:gradFill rotWithShape="1">
                  <a:gsLst>
                    <a:gs pos="0">
                      <a:srgbClr val="2F66EE"/>
                    </a:gs>
                    <a:gs pos="50000">
                      <a:srgbClr val="4F8DFA"/>
                    </a:gs>
                    <a:gs pos="100000">
                      <a:srgbClr val="35B3DA"/>
                    </a:gs>
                  </a:gsLst>
                  <a:lin ang="0" scaled="0"/>
                </a:gra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pPr algn="l" indent="0" marL="0">
              <a:buNone/>
            </a:pPr>
            <a:r>
              <a:rPr lang="en-US" sz="1200" dirty="0">
                <a:solidFill>
                  <a:srgbClr val="2A4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1300" b="1" dirty="0">
                <a:solidFill>
                  <a:srgbClr val="2A4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3400" dirty="0"/>
          </a:p>
        </p:txBody>
      </p:sp>
      <p:sp>
        <p:nvSpPr>
          <p:cNvPr id="29" name="Text 24"/>
          <p:cNvSpPr txBox="1"/>
          <p:nvPr/>
        </p:nvSpPr>
        <p:spPr>
          <a:xfrm>
            <a:off x="2318841" y="4474766"/>
            <a:ext cx="192353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吞吐提升（最高，对比 HF Transformers）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4532015" y="3795316"/>
            <a:ext cx="1687314" cy="1225550"/>
          </a:xfrm>
          <a:prstGeom prst="roundRect">
            <a:avLst>
              <a:gd name="adj" fmla="val 14508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31" name="Image 3" descr="/tmp/claude-0/-home-claude/2b35665f-05e8-5c23-bf82-e38526784130/scratchpad/pptx/build/s3_r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3979" y="4252516"/>
            <a:ext cx="895350" cy="76835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728865" y="3979466"/>
            <a:ext cx="1325954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spc="-100" kern="0" dirty="0">
                <a:gradFill rotWithShape="1">
                  <a:gsLst>
                    <a:gs pos="0">
                      <a:srgbClr val="2F66EE"/>
                    </a:gs>
                    <a:gs pos="50000">
                      <a:srgbClr val="4F8DFA"/>
                    </a:gs>
                    <a:gs pos="100000">
                      <a:srgbClr val="35B3DA"/>
                    </a:gs>
                  </a:gsLst>
                  <a:lin ang="0" scaled="0"/>
                </a:gra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</a:t>
            </a:r>
            <a:pPr algn="l" indent="0" marL="0">
              <a:buNone/>
            </a:pPr>
            <a:r>
              <a:rPr lang="en-US" sz="1200" dirty="0">
                <a:solidFill>
                  <a:srgbClr val="2A4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1300" b="1" dirty="0">
                <a:solidFill>
                  <a:srgbClr val="2A4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3400" dirty="0"/>
          </a:p>
        </p:txBody>
      </p:sp>
      <p:sp>
        <p:nvSpPr>
          <p:cNvPr id="33" name="Text 27"/>
          <p:cNvSpPr txBox="1"/>
          <p:nvPr/>
        </p:nvSpPr>
        <p:spPr>
          <a:xfrm>
            <a:off x="4728865" y="4474766"/>
            <a:ext cx="132595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吞吐提升（最高，对比 TGI）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6473329" y="1756966"/>
            <a:ext cx="5007471" cy="4339034"/>
          </a:xfrm>
          <a:prstGeom prst="roundRect">
            <a:avLst>
              <a:gd name="adj" fmla="val 4098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sp>
        <p:nvSpPr>
          <p:cNvPr id="35" name="Text 29"/>
          <p:cNvSpPr txBox="1"/>
          <p:nvPr/>
        </p:nvSpPr>
        <p:spPr>
          <a:xfrm>
            <a:off x="6720979" y="1991916"/>
            <a:ext cx="505363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MILESTONES · 发展历程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6695579" y="2271316"/>
            <a:ext cx="190500" cy="190500"/>
          </a:xfrm>
          <a:prstGeom prst="ellipse">
            <a:avLst/>
          </a:prstGeom>
          <a:solidFill>
            <a:srgbClr val="78A0FF">
              <a:alpha val="22000"/>
            </a:srgbClr>
          </a:solidFill>
          <a:ln/>
        </p:spPr>
      </p:sp>
      <p:sp>
        <p:nvSpPr>
          <p:cNvPr id="37" name="Shape 31"/>
          <p:cNvSpPr/>
          <p:nvPr/>
        </p:nvSpPr>
        <p:spPr>
          <a:xfrm>
            <a:off x="6733679" y="2309416"/>
            <a:ext cx="114300" cy="114300"/>
          </a:xfrm>
          <a:prstGeom prst="ellipse">
            <a:avLst/>
          </a:prstGeom>
          <a:solidFill>
            <a:srgbClr val="78A0FF"/>
          </a:solidFill>
          <a:ln/>
        </p:spPr>
      </p:sp>
      <p:pic>
        <p:nvPicPr>
          <p:cNvPr id="38" name="Image 4" descr="/tmp/claude-0/-home-claude/2b35665f-05e8-5c23-bf82-e38526784130/scratchpad/pptx/build/s3_r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479" y="2423716"/>
            <a:ext cx="12700" cy="41275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7000379" y="2258616"/>
            <a:ext cx="291541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4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2023.06</a:t>
            </a:r>
            <a:pPr algn="l" indent="0" marL="0">
              <a:buNone/>
            </a:pPr>
            <a:r>
              <a:rPr lang="en-US" sz="120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开源发布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7000379" y="2518966"/>
            <a:ext cx="318562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伯克利团队发布 vLLM 与 PagedAttention 技术博客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6695579" y="2849166"/>
            <a:ext cx="190500" cy="190500"/>
          </a:xfrm>
          <a:prstGeom prst="ellipse">
            <a:avLst/>
          </a:prstGeom>
          <a:solidFill>
            <a:srgbClr val="8CBEFF">
              <a:alpha val="22000"/>
            </a:srgbClr>
          </a:solidFill>
          <a:ln/>
        </p:spPr>
      </p:sp>
      <p:sp>
        <p:nvSpPr>
          <p:cNvPr id="42" name="Shape 35"/>
          <p:cNvSpPr/>
          <p:nvPr/>
        </p:nvSpPr>
        <p:spPr>
          <a:xfrm>
            <a:off x="6733679" y="2887266"/>
            <a:ext cx="114300" cy="114300"/>
          </a:xfrm>
          <a:prstGeom prst="ellipse">
            <a:avLst/>
          </a:prstGeom>
          <a:solidFill>
            <a:srgbClr val="8CBEFF"/>
          </a:solidFill>
          <a:ln/>
        </p:spPr>
      </p:sp>
      <p:pic>
        <p:nvPicPr>
          <p:cNvPr id="43" name="Image 5" descr="/tmp/claude-0/-home-claude/2b35665f-05e8-5c23-bf82-e38526784130/scratchpad/pptx/build/s3_r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4479" y="3001566"/>
            <a:ext cx="12700" cy="57150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7000379" y="2836466"/>
            <a:ext cx="4740704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4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2023.10</a:t>
            </a:r>
            <a:pPr algn="l" indent="0" marL="0">
              <a:buNone/>
            </a:pPr>
            <a:r>
              <a:rPr lang="en-US" sz="120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SOSP 2023</a:t>
            </a:r>
            <a:endParaRPr lang="en-US" sz="1200" dirty="0"/>
          </a:p>
        </p:txBody>
      </p:sp>
      <p:sp>
        <p:nvSpPr>
          <p:cNvPr id="45" name="Text 37"/>
          <p:cNvSpPr txBox="1"/>
          <p:nvPr/>
        </p:nvSpPr>
        <p:spPr>
          <a:xfrm>
            <a:off x="7000379" y="3052366"/>
            <a:ext cx="433859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Efficient Memory Management for LLM Serving with PagedAttention 发表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6695579" y="3585766"/>
            <a:ext cx="190500" cy="190500"/>
          </a:xfrm>
          <a:prstGeom prst="ellipse">
            <a:avLst/>
          </a:prstGeom>
          <a:solidFill>
            <a:srgbClr val="6ED2EB">
              <a:alpha val="22000"/>
            </a:srgbClr>
          </a:solidFill>
          <a:ln/>
        </p:spPr>
      </p:sp>
      <p:sp>
        <p:nvSpPr>
          <p:cNvPr id="47" name="Shape 39"/>
          <p:cNvSpPr/>
          <p:nvPr/>
        </p:nvSpPr>
        <p:spPr>
          <a:xfrm>
            <a:off x="6733679" y="3623866"/>
            <a:ext cx="114300" cy="114300"/>
          </a:xfrm>
          <a:prstGeom prst="ellipse">
            <a:avLst/>
          </a:prstGeom>
          <a:solidFill>
            <a:srgbClr val="6ED2EB"/>
          </a:solidFill>
          <a:ln/>
        </p:spPr>
      </p:sp>
      <p:pic>
        <p:nvPicPr>
          <p:cNvPr id="48" name="Image 6" descr="/tmp/claude-0/-home-claude/2b35665f-05e8-5c23-bf82-e38526784130/scratchpad/pptx/build/s3_r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4479" y="3738166"/>
            <a:ext cx="12700" cy="412750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7000379" y="3573066"/>
            <a:ext cx="4006949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4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</a:t>
            </a:r>
            <a:pPr algn="l" indent="0" marL="0">
              <a:buNone/>
            </a:pPr>
            <a:r>
              <a:rPr lang="en-US" sz="120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能力扩展</a:t>
            </a:r>
            <a:endParaRPr lang="en-US" sz="1200" dirty="0"/>
          </a:p>
        </p:txBody>
      </p:sp>
      <p:sp>
        <p:nvSpPr>
          <p:cNvPr id="50" name="Text 41"/>
          <p:cNvSpPr txBox="1"/>
          <p:nvPr/>
        </p:nvSpPr>
        <p:spPr>
          <a:xfrm>
            <a:off x="7000379" y="3833416"/>
            <a:ext cx="437832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前缀缓存、推测解码、Chunked Prefill、多模态、多硬件后端相继落地</a:t>
            </a:r>
            <a:endParaRPr lang="en-US" sz="1000" dirty="0"/>
          </a:p>
        </p:txBody>
      </p:sp>
      <p:sp>
        <p:nvSpPr>
          <p:cNvPr id="51" name="Shape 42"/>
          <p:cNvSpPr/>
          <p:nvPr/>
        </p:nvSpPr>
        <p:spPr>
          <a:xfrm>
            <a:off x="6695579" y="4163616"/>
            <a:ext cx="190500" cy="190500"/>
          </a:xfrm>
          <a:prstGeom prst="ellipse">
            <a:avLst/>
          </a:prstGeom>
          <a:solidFill>
            <a:srgbClr val="78D7B4">
              <a:alpha val="22000"/>
            </a:srgbClr>
          </a:solidFill>
          <a:ln/>
        </p:spPr>
      </p:sp>
      <p:sp>
        <p:nvSpPr>
          <p:cNvPr id="52" name="Shape 43"/>
          <p:cNvSpPr/>
          <p:nvPr/>
        </p:nvSpPr>
        <p:spPr>
          <a:xfrm>
            <a:off x="6733679" y="4201716"/>
            <a:ext cx="114300" cy="114300"/>
          </a:xfrm>
          <a:prstGeom prst="ellipse">
            <a:avLst/>
          </a:prstGeom>
          <a:solidFill>
            <a:srgbClr val="78D7B4"/>
          </a:solidFill>
          <a:ln/>
        </p:spPr>
      </p:sp>
      <p:pic>
        <p:nvPicPr>
          <p:cNvPr id="53" name="Image 7" descr="/tmp/claude-0/-home-claude/2b35665f-05e8-5c23-bf82-e38526784130/scratchpad/pptx/build/s3_r7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4479" y="4316016"/>
            <a:ext cx="12700" cy="412750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7000379" y="4150916"/>
            <a:ext cx="354452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4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</a:t>
            </a:r>
            <a:pPr algn="l" indent="0" marL="0">
              <a:buNone/>
            </a:pPr>
            <a:r>
              <a:rPr lang="en-US" sz="120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引擎 · 基金会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7000379" y="4411266"/>
            <a:ext cx="387304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核心引擎重构为 V1 架构；成为 PyTorch Foundation 托管项目</a:t>
            </a:r>
            <a:endParaRPr lang="en-US" sz="1000" dirty="0"/>
          </a:p>
        </p:txBody>
      </p:sp>
      <p:sp>
        <p:nvSpPr>
          <p:cNvPr id="56" name="Shape 46"/>
          <p:cNvSpPr/>
          <p:nvPr/>
        </p:nvSpPr>
        <p:spPr>
          <a:xfrm>
            <a:off x="711200" y="6324600"/>
            <a:ext cx="10769600" cy="0"/>
          </a:xfrm>
          <a:prstGeom prst="line">
            <a:avLst/>
          </a:prstGeom>
          <a:noFill/>
          <a:ln w="9525">
            <a:solidFill>
              <a:srgbClr val="506EAA">
                <a:alpha val="16000"/>
              </a:srgbClr>
            </a:solidFill>
            <a:prstDash val="solid"/>
          </a:ln>
        </p:spPr>
      </p:sp>
      <p:sp>
        <p:nvSpPr>
          <p:cNvPr id="57" name="Text 47"/>
          <p:cNvSpPr txBox="1"/>
          <p:nvPr/>
        </p:nvSpPr>
        <p:spPr>
          <a:xfrm>
            <a:off x="711200" y="6445250"/>
            <a:ext cx="48524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性能数据来源：vLLM 官方博客（2023.06），测试条件为 LLaMA-7B / 13B，实际表现依硬件与负载而异</a:t>
            </a:r>
            <a:endParaRPr lang="en-US" sz="750" dirty="0"/>
          </a:p>
        </p:txBody>
      </p:sp>
      <p:sp>
        <p:nvSpPr>
          <p:cNvPr id="58" name="Text 48"/>
          <p:cNvSpPr txBox="1"/>
          <p:nvPr/>
        </p:nvSpPr>
        <p:spPr>
          <a:xfrm>
            <a:off x="9594751" y="6457950"/>
            <a:ext cx="21123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 · FAST · CHEAP LLM SERVING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" y="355600"/>
            <a:ext cx="1823244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pic>
        <p:nvPicPr>
          <p:cNvPr id="3" name="Image 0" descr="/tmp/claude-0/-home-claude/2b35665f-05e8-5c23-bf82-e38526784130/scratchpad/pptx/build/s4_r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" y="425450"/>
            <a:ext cx="165100" cy="1651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35050" y="428625"/>
            <a:ext cx="155654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344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· 大模型推理框架介绍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9535914" y="434975"/>
            <a:ext cx="1993508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PAGEDATTENTION</a:t>
            </a:r>
            <a:pPr algn="l" indent="0" marL="0">
              <a:buNone/>
            </a:pPr>
            <a:r>
              <a:rPr lang="en-US" sz="100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10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pPr algn="l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79450" y="889000"/>
            <a:ext cx="127000" cy="127000"/>
          </a:xfrm>
          <a:prstGeom prst="ellipse">
            <a:avLst/>
          </a:prstGeom>
          <a:solidFill>
            <a:srgbClr val="F27C7C">
              <a:alpha val="1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11200" y="920750"/>
            <a:ext cx="63500" cy="63500"/>
          </a:xfrm>
          <a:prstGeom prst="ellipse">
            <a:avLst/>
          </a:prstGeom>
          <a:solidFill>
            <a:srgbClr val="F27C7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0900" y="889000"/>
            <a:ext cx="1888458" cy="14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190" kern="0" dirty="0">
                <a:solidFill>
                  <a:srgbClr val="3F6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PAGEDATTENTION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11200" y="1104900"/>
            <a:ext cx="12061952" cy="423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40"/>
              </a:lnSpc>
              <a:buNone/>
            </a:pPr>
            <a:r>
              <a:rPr lang="en-US" sz="2900" b="1" spc="-30" kern="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PagedAttention：把操作系统的「分页」带入 KV Cache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711200" y="1617266"/>
            <a:ext cx="91122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A5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借鉴虚拟内存与分页机制：请求的 KV Cache 被切分为固定大小的块（Block），逻辑上连续、物理上可以离散存放，由块表（Block Table）完成映射。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1200" y="2333427"/>
            <a:ext cx="10769600" cy="2139950"/>
          </a:xfrm>
          <a:prstGeom prst="roundRect">
            <a:avLst>
              <a:gd name="adj" fmla="val 8309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946150" y="2492177"/>
            <a:ext cx="374180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 KV 块 · 请求 A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46150" y="2765227"/>
            <a:ext cx="3741801" cy="115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spc="8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LOGICAL BLOCK 0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946150" y="2917627"/>
            <a:ext cx="797123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78A0FF">
                <a:alpha val="4500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7250" y="2923977"/>
            <a:ext cx="974923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3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794073" y="2917627"/>
            <a:ext cx="797123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78A0FF">
                <a:alpha val="45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705173" y="2923977"/>
            <a:ext cx="974923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3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641997" y="2917627"/>
            <a:ext cx="797123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78A0FF">
                <a:alpha val="4500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553097" y="2923977"/>
            <a:ext cx="974923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3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489920" y="2917627"/>
            <a:ext cx="797123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78A0FF">
                <a:alpha val="4500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401020" y="2923977"/>
            <a:ext cx="974923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3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seven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946150" y="3311327"/>
            <a:ext cx="3741801" cy="115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spc="8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LOGICAL BLOCK 1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946150" y="3463727"/>
            <a:ext cx="797123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78A0FF">
                <a:alpha val="4500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57250" y="3470077"/>
            <a:ext cx="974923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3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years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1794073" y="3463727"/>
            <a:ext cx="797123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78A0FF">
                <a:alpha val="4500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705173" y="3470077"/>
            <a:ext cx="974923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3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ago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641997" y="3463727"/>
            <a:ext cx="797123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78A0FF">
                <a:alpha val="4500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553097" y="3470077"/>
            <a:ext cx="974923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3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489920" y="3463727"/>
            <a:ext cx="797123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78A0FF">
                <a:alpha val="4500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401020" y="3470077"/>
            <a:ext cx="974923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3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fathers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946150" y="3857427"/>
            <a:ext cx="3741801" cy="115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spc="8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LOGICAL BLOCK 2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946150" y="4009827"/>
            <a:ext cx="797123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78A0FF">
                <a:alpha val="4500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57250" y="4016177"/>
            <a:ext cx="974923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3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brought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1794073" y="4009827"/>
            <a:ext cx="797123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78A0FF">
                <a:alpha val="4500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705173" y="4016177"/>
            <a:ext cx="974923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3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forth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2641997" y="4009827"/>
            <a:ext cx="797123" cy="304800"/>
          </a:xfrm>
          <a:prstGeom prst="roundRect">
            <a:avLst>
              <a:gd name="adj" fmla="val 25000"/>
            </a:avLst>
          </a:prstGeom>
          <a:ln w="9525">
            <a:solidFill>
              <a:srgbClr val="5A78BE">
                <a:alpha val="35000"/>
              </a:srgbClr>
            </a:solidFill>
            <a:prstDash val="dash"/>
          </a:ln>
        </p:spPr>
      </p:sp>
      <p:sp>
        <p:nvSpPr>
          <p:cNvPr id="37" name="Shape 34"/>
          <p:cNvSpPr/>
          <p:nvPr/>
        </p:nvSpPr>
        <p:spPr>
          <a:xfrm>
            <a:off x="3489920" y="4009827"/>
            <a:ext cx="797123" cy="304800"/>
          </a:xfrm>
          <a:prstGeom prst="roundRect">
            <a:avLst>
              <a:gd name="adj" fmla="val 25000"/>
            </a:avLst>
          </a:prstGeom>
          <a:ln w="9525">
            <a:solidFill>
              <a:srgbClr val="5A78BE">
                <a:alpha val="35000"/>
              </a:srgbClr>
            </a:solidFill>
            <a:prstDash val="dash"/>
          </a:ln>
        </p:spPr>
      </p:sp>
      <p:pic>
        <p:nvPicPr>
          <p:cNvPr id="38" name="Image 1" descr="/tmp/claude-0/-home-claude/2b35665f-05e8-5c23-bf82-e38526784130/scratchpad/pptx/build/s4_r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144" y="3327202"/>
            <a:ext cx="342900" cy="152400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4960144" y="2704902"/>
            <a:ext cx="239474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块表 Block Table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4960144" y="2977952"/>
            <a:ext cx="90318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逻辑块</a:t>
            </a:r>
            <a:endParaRPr lang="en-US" sz="750" dirty="0"/>
          </a:p>
        </p:txBody>
      </p:sp>
      <p:sp>
        <p:nvSpPr>
          <p:cNvPr id="41" name="Text 37"/>
          <p:cNvSpPr txBox="1"/>
          <p:nvPr/>
        </p:nvSpPr>
        <p:spPr>
          <a:xfrm>
            <a:off x="5672832" y="2977952"/>
            <a:ext cx="90318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物理块</a:t>
            </a:r>
            <a:endParaRPr lang="en-US" sz="750" dirty="0"/>
          </a:p>
        </p:txBody>
      </p:sp>
      <p:sp>
        <p:nvSpPr>
          <p:cNvPr id="42" name="Text 38"/>
          <p:cNvSpPr txBox="1"/>
          <p:nvPr/>
        </p:nvSpPr>
        <p:spPr>
          <a:xfrm>
            <a:off x="6385520" y="2977952"/>
            <a:ext cx="90328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已填充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4960144" y="3187502"/>
            <a:ext cx="2138164" cy="0"/>
          </a:xfrm>
          <a:prstGeom prst="line">
            <a:avLst/>
          </a:prstGeom>
          <a:noFill/>
          <a:ln w="9525">
            <a:solidFill>
              <a:srgbClr val="506EAA">
                <a:alpha val="1400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4960144" y="3257352"/>
            <a:ext cx="9031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5672832" y="3257352"/>
            <a:ext cx="9031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4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  <p:sp>
        <p:nvSpPr>
          <p:cNvPr id="46" name="Text 42"/>
          <p:cNvSpPr txBox="1"/>
          <p:nvPr/>
        </p:nvSpPr>
        <p:spPr>
          <a:xfrm>
            <a:off x="6385520" y="3257352"/>
            <a:ext cx="9032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4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4960144" y="3505002"/>
            <a:ext cx="2138164" cy="0"/>
          </a:xfrm>
          <a:prstGeom prst="line">
            <a:avLst/>
          </a:prstGeom>
          <a:noFill/>
          <a:ln w="9525">
            <a:solidFill>
              <a:srgbClr val="506EAA">
                <a:alpha val="1400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4960144" y="3574852"/>
            <a:ext cx="9031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49" name="Text 45"/>
          <p:cNvSpPr txBox="1"/>
          <p:nvPr/>
        </p:nvSpPr>
        <p:spPr>
          <a:xfrm>
            <a:off x="5672832" y="3574852"/>
            <a:ext cx="9031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4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50" name="Text 46"/>
          <p:cNvSpPr txBox="1"/>
          <p:nvPr/>
        </p:nvSpPr>
        <p:spPr>
          <a:xfrm>
            <a:off x="6385520" y="3574852"/>
            <a:ext cx="9032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4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4960144" y="3822502"/>
            <a:ext cx="2138164" cy="0"/>
          </a:xfrm>
          <a:prstGeom prst="line">
            <a:avLst/>
          </a:prstGeom>
          <a:noFill/>
          <a:ln w="9525">
            <a:solidFill>
              <a:srgbClr val="506EAA">
                <a:alpha val="14000"/>
              </a:srgbClr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4960144" y="3892352"/>
            <a:ext cx="9031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53" name="Text 49"/>
          <p:cNvSpPr txBox="1"/>
          <p:nvPr/>
        </p:nvSpPr>
        <p:spPr>
          <a:xfrm>
            <a:off x="5672832" y="3892352"/>
            <a:ext cx="9031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4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54" name="Text 50"/>
          <p:cNvSpPr txBox="1"/>
          <p:nvPr/>
        </p:nvSpPr>
        <p:spPr>
          <a:xfrm>
            <a:off x="6385520" y="3892352"/>
            <a:ext cx="9032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4</a:t>
            </a:r>
            <a:endParaRPr lang="en-US" sz="1000" dirty="0"/>
          </a:p>
        </p:txBody>
      </p:sp>
      <p:pic>
        <p:nvPicPr>
          <p:cNvPr id="55" name="Image 2" descr="/tmp/claude-0/-home-claude/2b35665f-05e8-5c23-bf82-e38526784130/scratchpad/pptx/build/s4_r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408" y="3327202"/>
            <a:ext cx="342900" cy="152400"/>
          </a:xfrm>
          <a:prstGeom prst="rect">
            <a:avLst/>
          </a:prstGeom>
        </p:spPr>
      </p:pic>
      <p:sp>
        <p:nvSpPr>
          <p:cNvPr id="56" name="Text 51"/>
          <p:cNvSpPr txBox="1"/>
          <p:nvPr/>
        </p:nvSpPr>
        <p:spPr>
          <a:xfrm>
            <a:off x="7771408" y="2727127"/>
            <a:ext cx="3891486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物理 KV 块</a:t>
            </a:r>
            <a:endParaRPr lang="en-US" sz="1000" dirty="0"/>
          </a:p>
        </p:txBody>
      </p:sp>
      <p:sp>
        <p:nvSpPr>
          <p:cNvPr id="57" name="Shape 52"/>
          <p:cNvSpPr/>
          <p:nvPr/>
        </p:nvSpPr>
        <p:spPr>
          <a:xfrm>
            <a:off x="7771408" y="3000177"/>
            <a:ext cx="820936" cy="508000"/>
          </a:xfrm>
          <a:prstGeom prst="roundRect">
            <a:avLst>
              <a:gd name="adj" fmla="val 20000"/>
            </a:avLst>
          </a:prstGeom>
          <a:ln w="9525">
            <a:solidFill>
              <a:srgbClr val="5A78BE">
                <a:alpha val="35000"/>
              </a:srgbClr>
            </a:solidFill>
            <a:prstDash val="dash"/>
          </a:ln>
        </p:spPr>
      </p:sp>
      <p:sp>
        <p:nvSpPr>
          <p:cNvPr id="58" name="Text 53"/>
          <p:cNvSpPr txBox="1"/>
          <p:nvPr/>
        </p:nvSpPr>
        <p:spPr>
          <a:xfrm>
            <a:off x="7850783" y="3193852"/>
            <a:ext cx="852686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6B7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0 · 空闲</a:t>
            </a:r>
            <a:endParaRPr lang="en-US" sz="650" dirty="0"/>
          </a:p>
        </p:txBody>
      </p:sp>
      <p:pic>
        <p:nvPicPr>
          <p:cNvPr id="59" name="Image 3" descr="/tmp/claude-0/-home-claude/2b35665f-05e8-5c23-bf82-e38526784130/scratchpad/pptx/build/s4_r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5844" y="3000177"/>
            <a:ext cx="821035" cy="508000"/>
          </a:xfrm>
          <a:prstGeom prst="rect">
            <a:avLst/>
          </a:prstGeom>
        </p:spPr>
      </p:pic>
      <p:sp>
        <p:nvSpPr>
          <p:cNvPr id="60" name="Text 54"/>
          <p:cNvSpPr txBox="1"/>
          <p:nvPr/>
        </p:nvSpPr>
        <p:spPr>
          <a:xfrm>
            <a:off x="8892381" y="3124002"/>
            <a:ext cx="538460" cy="107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344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1</a:t>
            </a:r>
            <a:endParaRPr lang="en-US" sz="650" dirty="0"/>
          </a:p>
        </p:txBody>
      </p:sp>
      <p:sp>
        <p:nvSpPr>
          <p:cNvPr id="61" name="Text 55"/>
          <p:cNvSpPr txBox="1"/>
          <p:nvPr/>
        </p:nvSpPr>
        <p:spPr>
          <a:xfrm>
            <a:off x="8805763" y="3231952"/>
            <a:ext cx="71169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A · B1</a:t>
            </a:r>
            <a:endParaRPr lang="en-US" sz="800" dirty="0"/>
          </a:p>
        </p:txBody>
      </p:sp>
      <p:pic>
        <p:nvPicPr>
          <p:cNvPr id="62" name="Image 4" descr="/tmp/claude-0/-home-claude/2b35665f-05e8-5c23-bf82-e38526784130/scratchpad/pptx/build/s4_r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0379" y="3000177"/>
            <a:ext cx="821035" cy="508000"/>
          </a:xfrm>
          <a:prstGeom prst="rect">
            <a:avLst/>
          </a:prstGeom>
        </p:spPr>
      </p:pic>
      <p:sp>
        <p:nvSpPr>
          <p:cNvPr id="63" name="Text 56"/>
          <p:cNvSpPr txBox="1"/>
          <p:nvPr/>
        </p:nvSpPr>
        <p:spPr>
          <a:xfrm>
            <a:off x="9776916" y="3124002"/>
            <a:ext cx="538460" cy="107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344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2</a:t>
            </a:r>
            <a:endParaRPr lang="en-US" sz="650" dirty="0"/>
          </a:p>
        </p:txBody>
      </p:sp>
      <p:sp>
        <p:nvSpPr>
          <p:cNvPr id="64" name="Text 57"/>
          <p:cNvSpPr txBox="1"/>
          <p:nvPr/>
        </p:nvSpPr>
        <p:spPr>
          <a:xfrm>
            <a:off x="9688413" y="3231952"/>
            <a:ext cx="71546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B · C0</a:t>
            </a:r>
            <a:endParaRPr lang="en-US" sz="800" dirty="0"/>
          </a:p>
        </p:txBody>
      </p:sp>
      <p:pic>
        <p:nvPicPr>
          <p:cNvPr id="65" name="Image 5" descr="/tmp/claude-0/-home-claude/2b35665f-05e8-5c23-bf82-e38526784130/scratchpad/pptx/build/s4_r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914" y="3000177"/>
            <a:ext cx="821035" cy="508000"/>
          </a:xfrm>
          <a:prstGeom prst="rect">
            <a:avLst/>
          </a:prstGeom>
        </p:spPr>
      </p:pic>
      <p:sp>
        <p:nvSpPr>
          <p:cNvPr id="66" name="Text 58"/>
          <p:cNvSpPr txBox="1"/>
          <p:nvPr/>
        </p:nvSpPr>
        <p:spPr>
          <a:xfrm>
            <a:off x="10661452" y="3124002"/>
            <a:ext cx="538460" cy="107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344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3</a:t>
            </a:r>
            <a:endParaRPr lang="en-US" sz="650" dirty="0"/>
          </a:p>
        </p:txBody>
      </p:sp>
      <p:sp>
        <p:nvSpPr>
          <p:cNvPr id="67" name="Text 59"/>
          <p:cNvSpPr txBox="1"/>
          <p:nvPr/>
        </p:nvSpPr>
        <p:spPr>
          <a:xfrm>
            <a:off x="10574834" y="3231952"/>
            <a:ext cx="71169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A · B2</a:t>
            </a:r>
            <a:endParaRPr lang="en-US" sz="800" dirty="0"/>
          </a:p>
        </p:txBody>
      </p:sp>
      <p:sp>
        <p:nvSpPr>
          <p:cNvPr id="68" name="Shape 60"/>
          <p:cNvSpPr/>
          <p:nvPr/>
        </p:nvSpPr>
        <p:spPr>
          <a:xfrm>
            <a:off x="7771408" y="3571677"/>
            <a:ext cx="820936" cy="508000"/>
          </a:xfrm>
          <a:prstGeom prst="roundRect">
            <a:avLst>
              <a:gd name="adj" fmla="val 20000"/>
            </a:avLst>
          </a:prstGeom>
          <a:ln w="9525">
            <a:solidFill>
              <a:srgbClr val="5A78BE">
                <a:alpha val="35000"/>
              </a:srgbClr>
            </a:solidFill>
            <a:prstDash val="dash"/>
          </a:ln>
        </p:spPr>
      </p:sp>
      <p:sp>
        <p:nvSpPr>
          <p:cNvPr id="69" name="Text 61"/>
          <p:cNvSpPr txBox="1"/>
          <p:nvPr/>
        </p:nvSpPr>
        <p:spPr>
          <a:xfrm>
            <a:off x="7850783" y="3765352"/>
            <a:ext cx="852686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6B7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4 · 空闲</a:t>
            </a:r>
            <a:endParaRPr lang="en-US" sz="650" dirty="0"/>
          </a:p>
        </p:txBody>
      </p:sp>
      <p:pic>
        <p:nvPicPr>
          <p:cNvPr id="70" name="Image 6" descr="/tmp/claude-0/-home-claude/2b35665f-05e8-5c23-bf82-e38526784130/scratchpad/pptx/build/s4_r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5844" y="3571677"/>
            <a:ext cx="821035" cy="508000"/>
          </a:xfrm>
          <a:prstGeom prst="rect">
            <a:avLst/>
          </a:prstGeom>
        </p:spPr>
      </p:pic>
      <p:sp>
        <p:nvSpPr>
          <p:cNvPr id="71" name="Text 62"/>
          <p:cNvSpPr txBox="1"/>
          <p:nvPr/>
        </p:nvSpPr>
        <p:spPr>
          <a:xfrm>
            <a:off x="8892381" y="3695502"/>
            <a:ext cx="538460" cy="107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344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5</a:t>
            </a:r>
            <a:endParaRPr lang="en-US" sz="650" dirty="0"/>
          </a:p>
        </p:txBody>
      </p:sp>
      <p:sp>
        <p:nvSpPr>
          <p:cNvPr id="72" name="Text 63"/>
          <p:cNvSpPr txBox="1"/>
          <p:nvPr/>
        </p:nvSpPr>
        <p:spPr>
          <a:xfrm>
            <a:off x="8803878" y="3803452"/>
            <a:ext cx="71546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B · C1</a:t>
            </a:r>
            <a:endParaRPr lang="en-US" sz="800" dirty="0"/>
          </a:p>
        </p:txBody>
      </p:sp>
      <p:sp>
        <p:nvSpPr>
          <p:cNvPr id="73" name="Shape 64"/>
          <p:cNvSpPr/>
          <p:nvPr/>
        </p:nvSpPr>
        <p:spPr>
          <a:xfrm>
            <a:off x="9540379" y="3571677"/>
            <a:ext cx="821035" cy="508000"/>
          </a:xfrm>
          <a:prstGeom prst="roundRect">
            <a:avLst>
              <a:gd name="adj" fmla="val 20000"/>
            </a:avLst>
          </a:prstGeom>
          <a:ln w="9525">
            <a:solidFill>
              <a:srgbClr val="5A78BE">
                <a:alpha val="35000"/>
              </a:srgbClr>
            </a:solidFill>
            <a:prstDash val="dash"/>
          </a:ln>
        </p:spPr>
      </p:sp>
      <p:sp>
        <p:nvSpPr>
          <p:cNvPr id="74" name="Text 65"/>
          <p:cNvSpPr txBox="1"/>
          <p:nvPr/>
        </p:nvSpPr>
        <p:spPr>
          <a:xfrm>
            <a:off x="9619754" y="3765352"/>
            <a:ext cx="852686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6B7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6 · 空闲</a:t>
            </a:r>
            <a:endParaRPr lang="en-US" sz="650" dirty="0"/>
          </a:p>
        </p:txBody>
      </p:sp>
      <p:pic>
        <p:nvPicPr>
          <p:cNvPr id="75" name="Image 7" descr="/tmp/claude-0/-home-claude/2b35665f-05e8-5c23-bf82-e38526784130/scratchpad/pptx/build/s4_r7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914" y="3571677"/>
            <a:ext cx="821035" cy="508000"/>
          </a:xfrm>
          <a:prstGeom prst="rect">
            <a:avLst/>
          </a:prstGeom>
        </p:spPr>
      </p:pic>
      <p:sp>
        <p:nvSpPr>
          <p:cNvPr id="76" name="Text 66"/>
          <p:cNvSpPr txBox="1"/>
          <p:nvPr/>
        </p:nvSpPr>
        <p:spPr>
          <a:xfrm>
            <a:off x="10661452" y="3695502"/>
            <a:ext cx="538460" cy="107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344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7</a:t>
            </a:r>
            <a:endParaRPr lang="en-US" sz="650" dirty="0"/>
          </a:p>
        </p:txBody>
      </p:sp>
      <p:sp>
        <p:nvSpPr>
          <p:cNvPr id="77" name="Text 67"/>
          <p:cNvSpPr txBox="1"/>
          <p:nvPr/>
        </p:nvSpPr>
        <p:spPr>
          <a:xfrm>
            <a:off x="10574834" y="3803452"/>
            <a:ext cx="71169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A · B0</a:t>
            </a:r>
            <a:endParaRPr lang="en-US" sz="800" dirty="0"/>
          </a:p>
        </p:txBody>
      </p:sp>
      <p:sp>
        <p:nvSpPr>
          <p:cNvPr id="78" name="Shape 68"/>
          <p:cNvSpPr/>
          <p:nvPr/>
        </p:nvSpPr>
        <p:spPr>
          <a:xfrm rot="2700000">
            <a:off x="711200" y="4778177"/>
            <a:ext cx="76200" cy="76200"/>
          </a:xfrm>
          <a:prstGeom prst="roundRect">
            <a:avLst>
              <a:gd name="adj" fmla="val 33333"/>
            </a:avLst>
          </a:prstGeom>
          <a:solidFill>
            <a:srgbClr val="78A0FF"/>
          </a:solidFill>
          <a:ln/>
        </p:spPr>
      </p:sp>
      <p:sp>
        <p:nvSpPr>
          <p:cNvPr id="79" name="Text 69"/>
          <p:cNvSpPr txBox="1"/>
          <p:nvPr/>
        </p:nvSpPr>
        <p:spPr>
          <a:xfrm>
            <a:off x="889000" y="4701977"/>
            <a:ext cx="563270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按需分配，近乎零浪费</a:t>
            </a:r>
            <a:endParaRPr lang="en-US" sz="1150" dirty="0"/>
          </a:p>
        </p:txBody>
      </p:sp>
      <p:sp>
        <p:nvSpPr>
          <p:cNvPr id="80" name="Text 70"/>
          <p:cNvSpPr txBox="1"/>
          <p:nvPr/>
        </p:nvSpPr>
        <p:spPr>
          <a:xfrm>
            <a:off x="889000" y="4943277"/>
            <a:ext cx="515493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块在生成过程中按需申请（默认每块 16 个 token），浪费仅出现在每个请求的最后一个块，KV Cache 显存浪费低于 4%。</a:t>
            </a:r>
            <a:endParaRPr lang="en-US" sz="1000" dirty="0"/>
          </a:p>
        </p:txBody>
      </p:sp>
      <p:sp>
        <p:nvSpPr>
          <p:cNvPr id="81" name="Shape 71"/>
          <p:cNvSpPr/>
          <p:nvPr/>
        </p:nvSpPr>
        <p:spPr>
          <a:xfrm rot="2700000">
            <a:off x="6273800" y="4778177"/>
            <a:ext cx="76200" cy="76200"/>
          </a:xfrm>
          <a:prstGeom prst="roundRect">
            <a:avLst>
              <a:gd name="adj" fmla="val 33333"/>
            </a:avLst>
          </a:prstGeom>
          <a:solidFill>
            <a:srgbClr val="8CBEFF"/>
          </a:solidFill>
          <a:ln/>
        </p:spPr>
      </p:sp>
      <p:sp>
        <p:nvSpPr>
          <p:cNvPr id="82" name="Text 72"/>
          <p:cNvSpPr txBox="1"/>
          <p:nvPr/>
        </p:nvSpPr>
        <p:spPr>
          <a:xfrm>
            <a:off x="6451600" y="4701977"/>
            <a:ext cx="563270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消除外部碎片</a:t>
            </a:r>
            <a:endParaRPr lang="en-US" sz="1150" dirty="0"/>
          </a:p>
        </p:txBody>
      </p:sp>
      <p:sp>
        <p:nvSpPr>
          <p:cNvPr id="83" name="Text 73"/>
          <p:cNvSpPr txBox="1"/>
          <p:nvPr/>
        </p:nvSpPr>
        <p:spPr>
          <a:xfrm>
            <a:off x="6451600" y="4943277"/>
            <a:ext cx="515493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所有块大小一致，任意空闲块都可被任意请求使用，无需连续显存，从而容纳更大的批处理规模。</a:t>
            </a:r>
            <a:endParaRPr lang="en-US" sz="1000" dirty="0"/>
          </a:p>
        </p:txBody>
      </p:sp>
      <p:sp>
        <p:nvSpPr>
          <p:cNvPr id="84" name="Shape 74"/>
          <p:cNvSpPr/>
          <p:nvPr/>
        </p:nvSpPr>
        <p:spPr>
          <a:xfrm rot="2700000">
            <a:off x="711200" y="5527477"/>
            <a:ext cx="76200" cy="76200"/>
          </a:xfrm>
          <a:prstGeom prst="roundRect">
            <a:avLst>
              <a:gd name="adj" fmla="val 33333"/>
            </a:avLst>
          </a:prstGeom>
          <a:solidFill>
            <a:srgbClr val="6ED2EB"/>
          </a:solidFill>
          <a:ln/>
        </p:spPr>
      </p:sp>
      <p:sp>
        <p:nvSpPr>
          <p:cNvPr id="85" name="Text 75"/>
          <p:cNvSpPr txBox="1"/>
          <p:nvPr/>
        </p:nvSpPr>
        <p:spPr>
          <a:xfrm>
            <a:off x="889000" y="5451277"/>
            <a:ext cx="563270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块级共享 + 写时复制</a:t>
            </a:r>
            <a:endParaRPr lang="en-US" sz="1150" dirty="0"/>
          </a:p>
        </p:txBody>
      </p:sp>
      <p:sp>
        <p:nvSpPr>
          <p:cNvPr id="86" name="Text 76"/>
          <p:cNvSpPr txBox="1"/>
          <p:nvPr/>
        </p:nvSpPr>
        <p:spPr>
          <a:xfrm>
            <a:off x="889000" y="5692577"/>
            <a:ext cx="515493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并行采样、Beam Search 可共享 prompt 对应的物理块，通过引用计数与 Copy-on-Write 管理；Beam Search 场景显存最高节省约 55%。</a:t>
            </a:r>
            <a:endParaRPr lang="en-US" sz="1000" dirty="0"/>
          </a:p>
        </p:txBody>
      </p:sp>
      <p:sp>
        <p:nvSpPr>
          <p:cNvPr id="87" name="Shape 77"/>
          <p:cNvSpPr/>
          <p:nvPr/>
        </p:nvSpPr>
        <p:spPr>
          <a:xfrm rot="2700000">
            <a:off x="6273800" y="5527477"/>
            <a:ext cx="76200" cy="76200"/>
          </a:xfrm>
          <a:prstGeom prst="roundRect">
            <a:avLst>
              <a:gd name="adj" fmla="val 33333"/>
            </a:avLst>
          </a:prstGeom>
          <a:solidFill>
            <a:srgbClr val="78D7B4"/>
          </a:solidFill>
          <a:ln/>
        </p:spPr>
      </p:sp>
      <p:sp>
        <p:nvSpPr>
          <p:cNvPr id="88" name="Text 78"/>
          <p:cNvSpPr txBox="1"/>
          <p:nvPr/>
        </p:nvSpPr>
        <p:spPr>
          <a:xfrm>
            <a:off x="6451600" y="5451277"/>
            <a:ext cx="534277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 Attention Kernel</a:t>
            </a:r>
            <a:endParaRPr lang="en-US" sz="1150" dirty="0"/>
          </a:p>
        </p:txBody>
      </p:sp>
      <p:sp>
        <p:nvSpPr>
          <p:cNvPr id="89" name="Text 79"/>
          <p:cNvSpPr txBox="1"/>
          <p:nvPr/>
        </p:nvSpPr>
        <p:spPr>
          <a:xfrm>
            <a:off x="6451600" y="5692577"/>
            <a:ext cx="534277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 计算时按块表逐块读取离散的 K / V，将分页管理与高效 GPU Kernel 结合。</a:t>
            </a:r>
            <a:endParaRPr lang="en-US" sz="1000" dirty="0"/>
          </a:p>
        </p:txBody>
      </p:sp>
      <p:sp>
        <p:nvSpPr>
          <p:cNvPr id="90" name="Shape 80"/>
          <p:cNvSpPr/>
          <p:nvPr/>
        </p:nvSpPr>
        <p:spPr>
          <a:xfrm>
            <a:off x="711200" y="6340277"/>
            <a:ext cx="10769600" cy="0"/>
          </a:xfrm>
          <a:prstGeom prst="line">
            <a:avLst/>
          </a:prstGeom>
          <a:noFill/>
          <a:ln w="9525">
            <a:solidFill>
              <a:srgbClr val="506EAA">
                <a:alpha val="16000"/>
              </a:srgbClr>
            </a:solidFill>
            <a:prstDash val="solid"/>
          </a:ln>
        </p:spPr>
      </p:sp>
      <p:sp>
        <p:nvSpPr>
          <p:cNvPr id="91" name="Text 81"/>
          <p:cNvSpPr txBox="1"/>
          <p:nvPr/>
        </p:nvSpPr>
        <p:spPr>
          <a:xfrm>
            <a:off x="711200" y="6460927"/>
            <a:ext cx="309849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示意图参考 Kwon et al., SOSP 2023 · 示例中块大小为 4 以便展示</a:t>
            </a:r>
            <a:endParaRPr lang="en-US" sz="750" dirty="0"/>
          </a:p>
        </p:txBody>
      </p:sp>
      <p:sp>
        <p:nvSpPr>
          <p:cNvPr id="92" name="Text 82"/>
          <p:cNvSpPr txBox="1"/>
          <p:nvPr/>
        </p:nvSpPr>
        <p:spPr>
          <a:xfrm>
            <a:off x="9594751" y="6473627"/>
            <a:ext cx="21123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 · FAST · CHEAP LLM SERVING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" y="355600"/>
            <a:ext cx="1823244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pic>
        <p:nvPicPr>
          <p:cNvPr id="3" name="Image 0" descr="/tmp/claude-0/-home-claude/2b35665f-05e8-5c23-bf82-e38526784130/scratchpad/pptx/build/s5_r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" y="425450"/>
            <a:ext cx="165100" cy="1651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35050" y="428625"/>
            <a:ext cx="155654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344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· 大模型推理框架介绍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9841508" y="434975"/>
            <a:ext cx="1680274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SCHEDULING</a:t>
            </a:r>
            <a:pPr algn="l" indent="0" marL="0">
              <a:buNone/>
            </a:pPr>
            <a:r>
              <a:rPr lang="en-US" sz="100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10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pPr algn="l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79450" y="889000"/>
            <a:ext cx="127000" cy="127000"/>
          </a:xfrm>
          <a:prstGeom prst="ellipse">
            <a:avLst/>
          </a:prstGeom>
          <a:solidFill>
            <a:srgbClr val="F27C7C">
              <a:alpha val="1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11200" y="920750"/>
            <a:ext cx="63500" cy="63500"/>
          </a:xfrm>
          <a:prstGeom prst="ellipse">
            <a:avLst/>
          </a:prstGeom>
          <a:solidFill>
            <a:srgbClr val="F27C7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0900" y="889000"/>
            <a:ext cx="1521619" cy="14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190" kern="0" dirty="0">
                <a:solidFill>
                  <a:srgbClr val="3F6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SCHEDULING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11200" y="1104900"/>
            <a:ext cx="12061952" cy="423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40"/>
              </a:lnSpc>
              <a:buNone/>
            </a:pPr>
            <a:r>
              <a:rPr lang="en-US" sz="2900" b="1" spc="-30" kern="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调度：连续批处理让 GPU 始终满载</a:t>
            </a:r>
            <a:endParaRPr lang="en-US" sz="2900" dirty="0"/>
          </a:p>
        </p:txBody>
      </p:sp>
      <p:sp>
        <p:nvSpPr>
          <p:cNvPr id="10" name="Shape 7"/>
          <p:cNvSpPr/>
          <p:nvPr/>
        </p:nvSpPr>
        <p:spPr>
          <a:xfrm>
            <a:off x="711200" y="1756966"/>
            <a:ext cx="5295900" cy="1885950"/>
          </a:xfrm>
          <a:prstGeom prst="roundRect">
            <a:avLst>
              <a:gd name="adj" fmla="val 9428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920750" y="1941116"/>
            <a:ext cx="2143268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静态批处理 Static Batching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76379" y="2042716"/>
            <a:ext cx="511671" cy="115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→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920750" y="2334816"/>
            <a:ext cx="546100" cy="115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 1</a:t>
            </a:r>
            <a:endParaRPr lang="en-US" sz="700" dirty="0"/>
          </a:p>
        </p:txBody>
      </p:sp>
      <p:pic>
        <p:nvPicPr>
          <p:cNvPr id="14" name="Image 1" descr="/tmp/claude-0/-home-claude/2b35665f-05e8-5c23-bf82-e38526784130/scratchpad/pptx/build/s5_r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250" y="2252266"/>
            <a:ext cx="1905000" cy="2540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47800" y="2328466"/>
            <a:ext cx="297557" cy="115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63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3308350" y="2252266"/>
            <a:ext cx="1663700" cy="266700"/>
          </a:xfrm>
          <a:prstGeom prst="roundRect">
            <a:avLst>
              <a:gd name="adj" fmla="val 23810"/>
            </a:avLst>
          </a:prstGeom>
          <a:ln w="9525">
            <a:solidFill>
              <a:srgbClr val="5A78BE">
                <a:alpha val="30000"/>
              </a:srgbClr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920750" y="2684066"/>
            <a:ext cx="546100" cy="115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 2</a:t>
            </a:r>
            <a:endParaRPr lang="en-US" sz="700" dirty="0"/>
          </a:p>
        </p:txBody>
      </p:sp>
      <p:pic>
        <p:nvPicPr>
          <p:cNvPr id="18" name="Image 2" descr="/tmp/claude-0/-home-claude/2b35665f-05e8-5c23-bf82-e38526784130/scratchpad/pptx/build/s5_r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5250" y="2607866"/>
            <a:ext cx="3556000" cy="2540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47800" y="2684066"/>
            <a:ext cx="297557" cy="115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63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</a:t>
            </a:r>
            <a:endParaRPr lang="en-US" sz="700" dirty="0"/>
          </a:p>
        </p:txBody>
      </p:sp>
      <p:sp>
        <p:nvSpPr>
          <p:cNvPr id="20" name="Text 15"/>
          <p:cNvSpPr txBox="1"/>
          <p:nvPr/>
        </p:nvSpPr>
        <p:spPr>
          <a:xfrm>
            <a:off x="920750" y="3033316"/>
            <a:ext cx="546100" cy="115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 3</a:t>
            </a:r>
            <a:endParaRPr lang="en-US" sz="700" dirty="0"/>
          </a:p>
        </p:txBody>
      </p:sp>
      <p:pic>
        <p:nvPicPr>
          <p:cNvPr id="21" name="Image 3" descr="/tmp/claude-0/-home-claude/2b35665f-05e8-5c23-bf82-e38526784130/scratchpad/pptx/build/s5_r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250" y="2950766"/>
            <a:ext cx="1143000" cy="2540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47800" y="3026966"/>
            <a:ext cx="297557" cy="115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63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R3</a:t>
            </a:r>
            <a:endParaRPr lang="en-US" sz="700" dirty="0"/>
          </a:p>
        </p:txBody>
      </p:sp>
      <p:sp>
        <p:nvSpPr>
          <p:cNvPr id="23" name="Shape 17"/>
          <p:cNvSpPr/>
          <p:nvPr/>
        </p:nvSpPr>
        <p:spPr>
          <a:xfrm>
            <a:off x="2546350" y="2950766"/>
            <a:ext cx="2425700" cy="266700"/>
          </a:xfrm>
          <a:prstGeom prst="roundRect">
            <a:avLst>
              <a:gd name="adj" fmla="val 23810"/>
            </a:avLst>
          </a:prstGeom>
          <a:ln w="9525">
            <a:solidFill>
              <a:srgbClr val="5A78BE">
                <a:alpha val="30000"/>
              </a:srgbClr>
            </a:solidFill>
            <a:prstDash val="dash"/>
          </a:ln>
        </p:spPr>
      </p:sp>
      <p:sp>
        <p:nvSpPr>
          <p:cNvPr id="24" name="Text 18"/>
          <p:cNvSpPr txBox="1"/>
          <p:nvPr/>
        </p:nvSpPr>
        <p:spPr>
          <a:xfrm>
            <a:off x="1365250" y="3306366"/>
            <a:ext cx="214326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25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空闲槽位须等待整批结束，R4、R5 排队中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6184900" y="1756966"/>
            <a:ext cx="5295900" cy="1885950"/>
          </a:xfrm>
          <a:prstGeom prst="roundRect">
            <a:avLst>
              <a:gd name="adj" fmla="val 9428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sp>
        <p:nvSpPr>
          <p:cNvPr id="26" name="Text 20"/>
          <p:cNvSpPr txBox="1"/>
          <p:nvPr/>
        </p:nvSpPr>
        <p:spPr>
          <a:xfrm>
            <a:off x="6394450" y="1941116"/>
            <a:ext cx="262655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连续批处理 Continuous Batching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10950079" y="2042716"/>
            <a:ext cx="511671" cy="115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→</a:t>
            </a:r>
            <a:endParaRPr lang="en-US" sz="700" dirty="0"/>
          </a:p>
        </p:txBody>
      </p:sp>
      <p:sp>
        <p:nvSpPr>
          <p:cNvPr id="28" name="Text 22"/>
          <p:cNvSpPr txBox="1"/>
          <p:nvPr/>
        </p:nvSpPr>
        <p:spPr>
          <a:xfrm>
            <a:off x="6394450" y="2328466"/>
            <a:ext cx="546100" cy="115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 1</a:t>
            </a:r>
            <a:endParaRPr lang="en-US" sz="700" dirty="0"/>
          </a:p>
        </p:txBody>
      </p:sp>
      <p:pic>
        <p:nvPicPr>
          <p:cNvPr id="29" name="Image 4" descr="/tmp/claude-0/-home-claude/2b35665f-05e8-5c23-bf82-e38526784130/scratchpad/pptx/build/s5_r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8950" y="2252266"/>
            <a:ext cx="1905000" cy="2540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921500" y="2328466"/>
            <a:ext cx="297557" cy="115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63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</a:t>
            </a:r>
            <a:endParaRPr lang="en-US" sz="700" dirty="0"/>
          </a:p>
        </p:txBody>
      </p:sp>
      <p:pic>
        <p:nvPicPr>
          <p:cNvPr id="31" name="Image 5" descr="/tmp/claude-0/-home-claude/2b35665f-05e8-5c23-bf82-e38526784130/scratchpad/pptx/build/s5_r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2050" y="2252266"/>
            <a:ext cx="1612900" cy="2540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64600" y="2328466"/>
            <a:ext cx="297557" cy="115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63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R5</a:t>
            </a:r>
            <a:endParaRPr lang="en-US" sz="700" dirty="0"/>
          </a:p>
        </p:txBody>
      </p:sp>
      <p:sp>
        <p:nvSpPr>
          <p:cNvPr id="33" name="Text 25"/>
          <p:cNvSpPr txBox="1"/>
          <p:nvPr/>
        </p:nvSpPr>
        <p:spPr>
          <a:xfrm>
            <a:off x="6394450" y="2671366"/>
            <a:ext cx="546100" cy="115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 2</a:t>
            </a:r>
            <a:endParaRPr lang="en-US" sz="700" dirty="0"/>
          </a:p>
        </p:txBody>
      </p:sp>
      <p:pic>
        <p:nvPicPr>
          <p:cNvPr id="34" name="Image 6" descr="/tmp/claude-0/-home-claude/2b35665f-05e8-5c23-bf82-e38526784130/scratchpad/pptx/build/s5_r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8950" y="2595166"/>
            <a:ext cx="3556000" cy="25400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921500" y="2671366"/>
            <a:ext cx="297557" cy="115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63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</a:t>
            </a:r>
            <a:endParaRPr lang="en-US" sz="700" dirty="0"/>
          </a:p>
        </p:txBody>
      </p:sp>
      <p:sp>
        <p:nvSpPr>
          <p:cNvPr id="36" name="Text 27"/>
          <p:cNvSpPr txBox="1"/>
          <p:nvPr/>
        </p:nvSpPr>
        <p:spPr>
          <a:xfrm>
            <a:off x="6394450" y="3014266"/>
            <a:ext cx="546100" cy="115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 3</a:t>
            </a:r>
            <a:endParaRPr lang="en-US" sz="700" dirty="0"/>
          </a:p>
        </p:txBody>
      </p:sp>
      <p:pic>
        <p:nvPicPr>
          <p:cNvPr id="37" name="Image 7" descr="/tmp/claude-0/-home-claude/2b35665f-05e8-5c23-bf82-e38526784130/scratchpad/pptx/build/s5_r7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8950" y="2938066"/>
            <a:ext cx="1143000" cy="25400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6921500" y="3014266"/>
            <a:ext cx="297557" cy="115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63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R3</a:t>
            </a:r>
            <a:endParaRPr lang="en-US" sz="700" dirty="0"/>
          </a:p>
        </p:txBody>
      </p:sp>
      <p:pic>
        <p:nvPicPr>
          <p:cNvPr id="39" name="Image 8" descr="/tmp/claude-0/-home-claude/2b35665f-05e8-5c23-bf82-e38526784130/scratchpad/pptx/build/s5_r8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0050" y="2938066"/>
            <a:ext cx="2374900" cy="25400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8102600" y="3014266"/>
            <a:ext cx="297557" cy="115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63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R4</a:t>
            </a:r>
            <a:endParaRPr lang="en-US" sz="700" dirty="0"/>
          </a:p>
        </p:txBody>
      </p:sp>
      <p:sp>
        <p:nvSpPr>
          <p:cNvPr id="41" name="Text 30"/>
          <p:cNvSpPr txBox="1"/>
          <p:nvPr/>
        </p:nvSpPr>
        <p:spPr>
          <a:xfrm>
            <a:off x="6838950" y="3280966"/>
            <a:ext cx="238963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F8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请求完成即释放，新请求在下一次迭代立即加入</a:t>
            </a:r>
            <a:endParaRPr lang="en-US" sz="800" dirty="0"/>
          </a:p>
        </p:txBody>
      </p:sp>
      <p:sp>
        <p:nvSpPr>
          <p:cNvPr id="42" name="Shape 31"/>
          <p:cNvSpPr/>
          <p:nvPr/>
        </p:nvSpPr>
        <p:spPr>
          <a:xfrm>
            <a:off x="711200" y="3871516"/>
            <a:ext cx="5314950" cy="1042392"/>
          </a:xfrm>
          <a:prstGeom prst="roundRect">
            <a:avLst>
              <a:gd name="adj" fmla="val 1705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43" name="Image 9" descr="/tmp/claude-0/-home-claude/2b35665f-05e8-5c23-bf82-e38526784130/scratchpad/pptx/build/s5_r9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2650" y="4030266"/>
            <a:ext cx="342900" cy="342900"/>
          </a:xfrm>
          <a:prstGeom prst="rect">
            <a:avLst/>
          </a:prstGeom>
        </p:spPr>
      </p:pic>
      <p:pic>
        <p:nvPicPr>
          <p:cNvPr id="44" name="Image 10" descr="/tmp/claude-0/-home-claude/2b35665f-05e8-5c23-bf82-e38526784130/scratchpad/pptx/build/s5_r10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5200" y="4112816"/>
            <a:ext cx="177800" cy="177800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1339850" y="4030266"/>
            <a:ext cx="505663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迭代级调度</a:t>
            </a:r>
            <a:endParaRPr lang="en-US" sz="1150" dirty="0"/>
          </a:p>
        </p:txBody>
      </p:sp>
      <p:sp>
        <p:nvSpPr>
          <p:cNvPr id="46" name="Text 33"/>
          <p:cNvSpPr txBox="1"/>
          <p:nvPr/>
        </p:nvSpPr>
        <p:spPr>
          <a:xfrm>
            <a:off x="1339850" y="4284266"/>
            <a:ext cx="4627721" cy="39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9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以每一次前向迭代为调度粒度（源自 Orca 的思想），请求可随时加入或退出批次，避免短请求被长请求拖累。</a:t>
            </a:r>
            <a:endParaRPr lang="en-US" sz="950" dirty="0"/>
          </a:p>
        </p:txBody>
      </p:sp>
      <p:sp>
        <p:nvSpPr>
          <p:cNvPr id="47" name="Shape 34"/>
          <p:cNvSpPr/>
          <p:nvPr/>
        </p:nvSpPr>
        <p:spPr>
          <a:xfrm>
            <a:off x="6165850" y="3871516"/>
            <a:ext cx="5314950" cy="1042392"/>
          </a:xfrm>
          <a:prstGeom prst="roundRect">
            <a:avLst>
              <a:gd name="adj" fmla="val 1705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48" name="Image 11" descr="/tmp/claude-0/-home-claude/2b35665f-05e8-5c23-bf82-e38526784130/scratchpad/pptx/build/s5_r1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37300" y="4030266"/>
            <a:ext cx="342900" cy="342900"/>
          </a:xfrm>
          <a:prstGeom prst="rect">
            <a:avLst/>
          </a:prstGeom>
        </p:spPr>
      </p:pic>
      <p:pic>
        <p:nvPicPr>
          <p:cNvPr id="49" name="Image 12" descr="/tmp/claude-0/-home-claude/2b35665f-05e8-5c23-bf82-e38526784130/scratchpad/pptx/build/s5_r1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9850" y="4112816"/>
            <a:ext cx="177800" cy="177800"/>
          </a:xfrm>
          <a:prstGeom prst="rect">
            <a:avLst/>
          </a:prstGeom>
        </p:spPr>
      </p:pic>
      <p:sp>
        <p:nvSpPr>
          <p:cNvPr id="50" name="Text 35"/>
          <p:cNvSpPr txBox="1"/>
          <p:nvPr/>
        </p:nvSpPr>
        <p:spPr>
          <a:xfrm>
            <a:off x="6794500" y="4030266"/>
            <a:ext cx="505663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显存不足时的抢占</a:t>
            </a:r>
            <a:endParaRPr lang="en-US" sz="1150" dirty="0"/>
          </a:p>
        </p:txBody>
      </p:sp>
      <p:sp>
        <p:nvSpPr>
          <p:cNvPr id="51" name="Text 36"/>
          <p:cNvSpPr txBox="1"/>
          <p:nvPr/>
        </p:nvSpPr>
        <p:spPr>
          <a:xfrm>
            <a:off x="6794500" y="4284266"/>
            <a:ext cx="4627721" cy="39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9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块耗尽时按先来先服务原则抢占最晚到达的请求：换出（Swap）到 CPU 内存，或释放后重新计算（Recompute）。</a:t>
            </a:r>
            <a:endParaRPr lang="en-US" sz="950" dirty="0"/>
          </a:p>
        </p:txBody>
      </p:sp>
      <p:sp>
        <p:nvSpPr>
          <p:cNvPr id="52" name="Shape 37"/>
          <p:cNvSpPr/>
          <p:nvPr/>
        </p:nvSpPr>
        <p:spPr>
          <a:xfrm>
            <a:off x="711200" y="5053608"/>
            <a:ext cx="5314950" cy="1042392"/>
          </a:xfrm>
          <a:prstGeom prst="roundRect">
            <a:avLst>
              <a:gd name="adj" fmla="val 1705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53" name="Image 13" descr="/tmp/claude-0/-home-claude/2b35665f-05e8-5c23-bf82-e38526784130/scratchpad/pptx/build/s5_r1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2650" y="5212358"/>
            <a:ext cx="342900" cy="342900"/>
          </a:xfrm>
          <a:prstGeom prst="rect">
            <a:avLst/>
          </a:prstGeom>
        </p:spPr>
      </p:pic>
      <p:pic>
        <p:nvPicPr>
          <p:cNvPr id="54" name="Image 14" descr="/tmp/claude-0/-home-claude/2b35665f-05e8-5c23-bf82-e38526784130/scratchpad/pptx/build/s5_r14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5200" y="5294908"/>
            <a:ext cx="177800" cy="177800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1339850" y="5212358"/>
            <a:ext cx="5056632" cy="189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Chunked Prefill</a:t>
            </a:r>
            <a:endParaRPr lang="en-US" sz="1150" dirty="0"/>
          </a:p>
        </p:txBody>
      </p:sp>
      <p:sp>
        <p:nvSpPr>
          <p:cNvPr id="56" name="Text 39"/>
          <p:cNvSpPr txBox="1"/>
          <p:nvPr/>
        </p:nvSpPr>
        <p:spPr>
          <a:xfrm>
            <a:off x="1339850" y="5421908"/>
            <a:ext cx="4627721" cy="39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9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将长 prompt 切成小块，与 decode 请求混合在同一批中执行，平衡首 token 延迟与生成速度，提升 GPU 利用率。</a:t>
            </a:r>
            <a:endParaRPr lang="en-US" sz="950" dirty="0"/>
          </a:p>
        </p:txBody>
      </p:sp>
      <p:sp>
        <p:nvSpPr>
          <p:cNvPr id="57" name="Shape 40"/>
          <p:cNvSpPr/>
          <p:nvPr/>
        </p:nvSpPr>
        <p:spPr>
          <a:xfrm>
            <a:off x="6165850" y="5053608"/>
            <a:ext cx="5314950" cy="1042392"/>
          </a:xfrm>
          <a:prstGeom prst="roundRect">
            <a:avLst>
              <a:gd name="adj" fmla="val 1705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58" name="Image 15" descr="/tmp/claude-0/-home-claude/2b35665f-05e8-5c23-bf82-e38526784130/scratchpad/pptx/build/s5_r15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37300" y="5212358"/>
            <a:ext cx="342900" cy="342900"/>
          </a:xfrm>
          <a:prstGeom prst="rect">
            <a:avLst/>
          </a:prstGeom>
        </p:spPr>
      </p:pic>
      <p:pic>
        <p:nvPicPr>
          <p:cNvPr id="59" name="Image 16" descr="/tmp/claude-0/-home-claude/2b35665f-05e8-5c23-bf82-e38526784130/scratchpad/pptx/build/s5_r16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19850" y="5294908"/>
            <a:ext cx="177800" cy="177800"/>
          </a:xfrm>
          <a:prstGeom prst="rect">
            <a:avLst/>
          </a:prstGeom>
        </p:spPr>
      </p:pic>
      <p:sp>
        <p:nvSpPr>
          <p:cNvPr id="60" name="Text 41"/>
          <p:cNvSpPr txBox="1"/>
          <p:nvPr/>
        </p:nvSpPr>
        <p:spPr>
          <a:xfrm>
            <a:off x="6794500" y="5212358"/>
            <a:ext cx="505663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自动前缀缓存 APC</a:t>
            </a:r>
            <a:endParaRPr lang="en-US" sz="1150" dirty="0"/>
          </a:p>
        </p:txBody>
      </p:sp>
      <p:sp>
        <p:nvSpPr>
          <p:cNvPr id="61" name="Text 42"/>
          <p:cNvSpPr txBox="1"/>
          <p:nvPr/>
        </p:nvSpPr>
        <p:spPr>
          <a:xfrm>
            <a:off x="6794500" y="5466358"/>
            <a:ext cx="4627721" cy="39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9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以块内容哈希识别相同前缀（系统提示词、多轮对话、few-shot 样例），命中后直接复用 KV 块、跳过重复 prefill。</a:t>
            </a:r>
            <a:endParaRPr lang="en-US" sz="950" dirty="0"/>
          </a:p>
        </p:txBody>
      </p:sp>
      <p:sp>
        <p:nvSpPr>
          <p:cNvPr id="62" name="Shape 43"/>
          <p:cNvSpPr/>
          <p:nvPr/>
        </p:nvSpPr>
        <p:spPr>
          <a:xfrm>
            <a:off x="711200" y="6324600"/>
            <a:ext cx="10769600" cy="0"/>
          </a:xfrm>
          <a:prstGeom prst="line">
            <a:avLst/>
          </a:prstGeom>
          <a:noFill/>
          <a:ln w="9525">
            <a:solidFill>
              <a:srgbClr val="506EAA">
                <a:alpha val="16000"/>
              </a:srgbClr>
            </a:solidFill>
            <a:prstDash val="solid"/>
          </a:ln>
        </p:spPr>
      </p:sp>
      <p:sp>
        <p:nvSpPr>
          <p:cNvPr id="63" name="Text 44"/>
          <p:cNvSpPr txBox="1"/>
          <p:nvPr/>
        </p:nvSpPr>
        <p:spPr>
          <a:xfrm>
            <a:off x="711200" y="6445250"/>
            <a:ext cx="433276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调度器在每一步决定：运行哪些请求、每个请求处理多少 token、需要分配或回收哪些 KV 块</a:t>
            </a:r>
            <a:endParaRPr lang="en-US" sz="750" dirty="0"/>
          </a:p>
        </p:txBody>
      </p:sp>
      <p:sp>
        <p:nvSpPr>
          <p:cNvPr id="64" name="Text 45"/>
          <p:cNvSpPr txBox="1"/>
          <p:nvPr/>
        </p:nvSpPr>
        <p:spPr>
          <a:xfrm>
            <a:off x="9594751" y="6457950"/>
            <a:ext cx="21123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 · FAST · CHEAP LLM SERVING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" y="355600"/>
            <a:ext cx="1823244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pic>
        <p:nvPicPr>
          <p:cNvPr id="3" name="Image 0" descr="/tmp/claude-0/-home-claude/2b35665f-05e8-5c23-bf82-e38526784130/scratchpad/pptx/build/s6_r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" y="425450"/>
            <a:ext cx="165100" cy="1651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35050" y="428625"/>
            <a:ext cx="155654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344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· 大模型推理框架介绍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9688711" y="434975"/>
            <a:ext cx="1836891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ARCHITECTURE</a:t>
            </a:r>
            <a:pPr algn="l" indent="0" marL="0">
              <a:buNone/>
            </a:pPr>
            <a:r>
              <a:rPr lang="en-US" sz="100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10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pPr algn="l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79450" y="889000"/>
            <a:ext cx="127000" cy="127000"/>
          </a:xfrm>
          <a:prstGeom prst="ellipse">
            <a:avLst/>
          </a:prstGeom>
          <a:solidFill>
            <a:srgbClr val="F27C7C">
              <a:alpha val="1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11200" y="920750"/>
            <a:ext cx="63500" cy="63500"/>
          </a:xfrm>
          <a:prstGeom prst="ellipse">
            <a:avLst/>
          </a:prstGeom>
          <a:solidFill>
            <a:srgbClr val="F27C7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0900" y="889000"/>
            <a:ext cx="1699121" cy="14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190" kern="0" dirty="0">
                <a:solidFill>
                  <a:srgbClr val="3F6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ARCHITECTURE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11200" y="1104900"/>
            <a:ext cx="12061952" cy="423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40"/>
              </a:lnSpc>
              <a:buNone/>
            </a:pPr>
            <a:r>
              <a:rPr lang="en-US" sz="2900" b="1" spc="-30" kern="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系统架构：V1 引擎的分层设计</a:t>
            </a:r>
            <a:endParaRPr lang="en-US" sz="2900" dirty="0"/>
          </a:p>
        </p:txBody>
      </p:sp>
      <p:sp>
        <p:nvSpPr>
          <p:cNvPr id="10" name="Shape 7"/>
          <p:cNvSpPr/>
          <p:nvPr/>
        </p:nvSpPr>
        <p:spPr>
          <a:xfrm>
            <a:off x="711200" y="1756966"/>
            <a:ext cx="6422628" cy="4339034"/>
          </a:xfrm>
          <a:prstGeom prst="roundRect">
            <a:avLst>
              <a:gd name="adj" fmla="val 4098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933450" y="2459633"/>
            <a:ext cx="338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spc="10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</a:t>
            </a:r>
            <a:endParaRPr lang="en-US" sz="7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00" spc="10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入口层</a:t>
            </a:r>
            <a:endParaRPr lang="en-US" sz="700" dirty="0"/>
          </a:p>
        </p:txBody>
      </p:sp>
      <p:pic>
        <p:nvPicPr>
          <p:cNvPr id="12" name="Image 1" descr="/tmp/claude-0/-home-claude/2b35665f-05e8-5c23-bf82-e38526784130/scratchpad/pptx/build/s6_r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250" y="2288183"/>
            <a:ext cx="2474714" cy="609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006600" y="2408833"/>
            <a:ext cx="247297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 API Server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2006600" y="2624733"/>
            <a:ext cx="247297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serve · /v1/chat/completions</a:t>
            </a:r>
            <a:endParaRPr lang="en-US" sz="800" dirty="0"/>
          </a:p>
        </p:txBody>
      </p:sp>
      <p:pic>
        <p:nvPicPr>
          <p:cNvPr id="15" name="Image 2" descr="/tmp/claude-0/-home-claude/2b35665f-05e8-5c23-bf82-e38526784130/scratchpad/pptx/build/s6_r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6864" y="2288183"/>
            <a:ext cx="2474714" cy="609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570214" y="2408833"/>
            <a:ext cx="247297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离线推理 LLM 类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4570214" y="2624733"/>
            <a:ext cx="247297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llm.generate() / llm.chat()</a:t>
            </a:r>
            <a:endParaRPr lang="en-US" sz="800" dirty="0"/>
          </a:p>
        </p:txBody>
      </p:sp>
      <p:pic>
        <p:nvPicPr>
          <p:cNvPr id="18" name="Image 3" descr="/tmp/claude-0/-home-claude/2b35665f-05e8-5c23-bf82-e38526784130/scratchpad/pptx/build/s6_r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3250" y="2948583"/>
            <a:ext cx="152400" cy="1397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33450" y="3310533"/>
            <a:ext cx="541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spc="10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7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00" spc="10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前端进程</a:t>
            </a:r>
            <a:endParaRPr lang="en-US" sz="700" dirty="0"/>
          </a:p>
        </p:txBody>
      </p:sp>
      <p:pic>
        <p:nvPicPr>
          <p:cNvPr id="20" name="Image 4" descr="/tmp/claude-0/-home-claude/2b35665f-05e8-5c23-bf82-e38526784130/scratchpad/pptx/build/s6_r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3250" y="3139083"/>
            <a:ext cx="5038328" cy="609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2006600" y="3259733"/>
            <a:ext cx="534422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AsyncLLM / 输入处理</a:t>
            </a:r>
            <a:endParaRPr lang="en-US" sz="1050" dirty="0"/>
          </a:p>
        </p:txBody>
      </p:sp>
      <p:sp>
        <p:nvSpPr>
          <p:cNvPr id="22" name="Text 15"/>
          <p:cNvSpPr txBox="1"/>
          <p:nvPr/>
        </p:nvSpPr>
        <p:spPr>
          <a:xfrm>
            <a:off x="2006600" y="3475633"/>
            <a:ext cx="534422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分词、多模态预处理、请求管理与流式输出</a:t>
            </a:r>
            <a:endParaRPr lang="en-US" sz="800" dirty="0"/>
          </a:p>
        </p:txBody>
      </p:sp>
      <p:pic>
        <p:nvPicPr>
          <p:cNvPr id="23" name="Image 5" descr="/tmp/claude-0/-home-claude/2b35665f-05e8-5c23-bf82-e38526784130/scratchpad/pptx/build/s6_r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3250" y="3799483"/>
            <a:ext cx="152400" cy="1397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33450" y="4161433"/>
            <a:ext cx="7438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spc="10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 CORE</a:t>
            </a:r>
            <a:endParaRPr lang="en-US" sz="7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00" spc="10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独立进程</a:t>
            </a:r>
            <a:endParaRPr lang="en-US" sz="700" dirty="0"/>
          </a:p>
        </p:txBody>
      </p:sp>
      <p:pic>
        <p:nvPicPr>
          <p:cNvPr id="25" name="Image 6" descr="/tmp/claude-0/-home-claude/2b35665f-05e8-5c23-bf82-e38526784130/scratchpad/pptx/build/s6_r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3250" y="3989983"/>
            <a:ext cx="2474714" cy="60960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2006600" y="4110633"/>
            <a:ext cx="247297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Scheduler 调度器</a:t>
            </a:r>
            <a:endParaRPr lang="en-US" sz="1050" dirty="0"/>
          </a:p>
        </p:txBody>
      </p:sp>
      <p:sp>
        <p:nvSpPr>
          <p:cNvPr id="27" name="Text 18"/>
          <p:cNvSpPr txBox="1"/>
          <p:nvPr/>
        </p:nvSpPr>
        <p:spPr>
          <a:xfrm>
            <a:off x="2006600" y="4326533"/>
            <a:ext cx="247297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token 预算，不再区分 prefill / decode</a:t>
            </a:r>
            <a:endParaRPr lang="en-US" sz="800" dirty="0"/>
          </a:p>
        </p:txBody>
      </p:sp>
      <p:pic>
        <p:nvPicPr>
          <p:cNvPr id="28" name="Image 7" descr="/tmp/claude-0/-home-claude/2b35665f-05e8-5c23-bf82-e38526784130/scratchpad/pptx/build/s6_r7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6864" y="3989983"/>
            <a:ext cx="2474714" cy="60960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4570214" y="4110633"/>
            <a:ext cx="2472976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Cache Manager</a:t>
            </a:r>
            <a:endParaRPr lang="en-US" sz="1050" dirty="0"/>
          </a:p>
        </p:txBody>
      </p:sp>
      <p:sp>
        <p:nvSpPr>
          <p:cNvPr id="30" name="Text 20"/>
          <p:cNvSpPr txBox="1"/>
          <p:nvPr/>
        </p:nvSpPr>
        <p:spPr>
          <a:xfrm>
            <a:off x="4570214" y="4288433"/>
            <a:ext cx="247297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块分配、回收与前缀缓存</a:t>
            </a:r>
            <a:endParaRPr lang="en-US" sz="800" dirty="0"/>
          </a:p>
        </p:txBody>
      </p:sp>
      <p:pic>
        <p:nvPicPr>
          <p:cNvPr id="31" name="Image 8" descr="/tmp/claude-0/-home-claude/2b35665f-05e8-5c23-bf82-e38526784130/scratchpad/pptx/build/s6_r8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3250" y="4650383"/>
            <a:ext cx="152400" cy="139700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933450" y="5069483"/>
            <a:ext cx="541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spc="10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EXECUTOR</a:t>
            </a:r>
            <a:endParaRPr lang="en-US" sz="7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00" spc="10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执行层</a:t>
            </a:r>
            <a:endParaRPr lang="en-US" sz="700" dirty="0"/>
          </a:p>
        </p:txBody>
      </p:sp>
      <p:pic>
        <p:nvPicPr>
          <p:cNvPr id="33" name="Image 9" descr="/tmp/claude-0/-home-claude/2b35665f-05e8-5c23-bf82-e38526784130/scratchpad/pptx/build/s6_r9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73250" y="4840883"/>
            <a:ext cx="1620143" cy="723900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2006600" y="4961533"/>
            <a:ext cx="1543943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· GPU 0</a:t>
            </a:r>
            <a:endParaRPr lang="en-US" sz="1050" dirty="0"/>
          </a:p>
        </p:txBody>
      </p:sp>
      <p:sp>
        <p:nvSpPr>
          <p:cNvPr id="35" name="Text 23"/>
          <p:cNvSpPr txBox="1"/>
          <p:nvPr/>
        </p:nvSpPr>
        <p:spPr>
          <a:xfrm>
            <a:off x="2006600" y="5139333"/>
            <a:ext cx="13872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ModelRunner · Attention Backend</a:t>
            </a:r>
            <a:endParaRPr lang="en-US" sz="800" dirty="0"/>
          </a:p>
        </p:txBody>
      </p:sp>
      <p:pic>
        <p:nvPicPr>
          <p:cNvPr id="36" name="Image 10" descr="/tmp/claude-0/-home-claude/2b35665f-05e8-5c23-bf82-e38526784130/scratchpad/pptx/build/s6_r10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82293" y="4840883"/>
            <a:ext cx="1620143" cy="723900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3715643" y="4961533"/>
            <a:ext cx="1543943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· GPU 1</a:t>
            </a:r>
            <a:endParaRPr lang="en-US" sz="1050" dirty="0"/>
          </a:p>
        </p:txBody>
      </p:sp>
      <p:sp>
        <p:nvSpPr>
          <p:cNvPr id="38" name="Text 25"/>
          <p:cNvSpPr txBox="1"/>
          <p:nvPr/>
        </p:nvSpPr>
        <p:spPr>
          <a:xfrm>
            <a:off x="3715643" y="5139333"/>
            <a:ext cx="13872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ModelRunner · Attention Backend</a:t>
            </a:r>
            <a:endParaRPr lang="en-US" sz="800" dirty="0"/>
          </a:p>
        </p:txBody>
      </p:sp>
      <p:pic>
        <p:nvPicPr>
          <p:cNvPr id="39" name="Image 11" descr="/tmp/claude-0/-home-claude/2b35665f-05e8-5c23-bf82-e38526784130/scratchpad/pptx/build/s6_r1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91336" y="4840883"/>
            <a:ext cx="1620143" cy="723900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5424686" y="4961533"/>
            <a:ext cx="1543943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· GPU N</a:t>
            </a:r>
            <a:endParaRPr lang="en-US" sz="1050" dirty="0"/>
          </a:p>
        </p:txBody>
      </p:sp>
      <p:sp>
        <p:nvSpPr>
          <p:cNvPr id="41" name="Text 27"/>
          <p:cNvSpPr txBox="1"/>
          <p:nvPr/>
        </p:nvSpPr>
        <p:spPr>
          <a:xfrm>
            <a:off x="5424686" y="5139333"/>
            <a:ext cx="154394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 / PP / DP / EP 并行</a:t>
            </a:r>
            <a:endParaRPr lang="en-US" sz="800" dirty="0"/>
          </a:p>
        </p:txBody>
      </p:sp>
      <p:sp>
        <p:nvSpPr>
          <p:cNvPr id="42" name="Shape 28"/>
          <p:cNvSpPr/>
          <p:nvPr/>
        </p:nvSpPr>
        <p:spPr>
          <a:xfrm>
            <a:off x="7337028" y="1756966"/>
            <a:ext cx="4143673" cy="4339034"/>
          </a:xfrm>
          <a:prstGeom prst="roundRect">
            <a:avLst>
              <a:gd name="adj" fmla="val 4291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sp>
        <p:nvSpPr>
          <p:cNvPr id="43" name="Text 29"/>
          <p:cNvSpPr txBox="1"/>
          <p:nvPr/>
        </p:nvSpPr>
        <p:spPr>
          <a:xfrm>
            <a:off x="7559278" y="1953816"/>
            <a:ext cx="414307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 ENGINE · 设计要点</a:t>
            </a:r>
            <a:endParaRPr lang="en-US" sz="800" dirty="0"/>
          </a:p>
        </p:txBody>
      </p:sp>
      <p:sp>
        <p:nvSpPr>
          <p:cNvPr id="44" name="Shape 30"/>
          <p:cNvSpPr/>
          <p:nvPr/>
        </p:nvSpPr>
        <p:spPr>
          <a:xfrm>
            <a:off x="7559278" y="2195116"/>
            <a:ext cx="3699173" cy="0"/>
          </a:xfrm>
          <a:prstGeom prst="line">
            <a:avLst/>
          </a:prstGeom>
          <a:noFill/>
          <a:ln w="9525">
            <a:solidFill>
              <a:srgbClr val="506EAA">
                <a:alpha val="14000"/>
              </a:srgbClr>
            </a:solidFill>
            <a:prstDash val="solid"/>
          </a:ln>
        </p:spPr>
      </p:sp>
      <p:sp>
        <p:nvSpPr>
          <p:cNvPr id="45" name="Shape 31"/>
          <p:cNvSpPr/>
          <p:nvPr/>
        </p:nvSpPr>
        <p:spPr>
          <a:xfrm>
            <a:off x="7559278" y="2385616"/>
            <a:ext cx="63500" cy="63500"/>
          </a:xfrm>
          <a:prstGeom prst="ellipse">
            <a:avLst/>
          </a:prstGeom>
          <a:solidFill>
            <a:srgbClr val="78A0FF"/>
          </a:solidFill>
          <a:ln/>
        </p:spPr>
      </p:sp>
      <p:sp>
        <p:nvSpPr>
          <p:cNvPr id="46" name="Text 32"/>
          <p:cNvSpPr txBox="1"/>
          <p:nvPr/>
        </p:nvSpPr>
        <p:spPr>
          <a:xfrm>
            <a:off x="7698978" y="2315766"/>
            <a:ext cx="889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多进程解耦</a:t>
            </a:r>
            <a:endParaRPr lang="en-US" sz="1100" dirty="0"/>
          </a:p>
        </p:txBody>
      </p:sp>
      <p:sp>
        <p:nvSpPr>
          <p:cNvPr id="47" name="Text 33"/>
          <p:cNvSpPr txBox="1"/>
          <p:nvPr/>
        </p:nvSpPr>
        <p:spPr>
          <a:xfrm>
            <a:off x="7698978" y="2557066"/>
            <a:ext cx="3648459" cy="385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9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处理、分词与引擎核心运行在不同进程，CPU 开销与 GPU 计算重叠。</a:t>
            </a:r>
            <a:endParaRPr lang="en-US" sz="950" dirty="0"/>
          </a:p>
        </p:txBody>
      </p:sp>
      <p:sp>
        <p:nvSpPr>
          <p:cNvPr id="48" name="Shape 34"/>
          <p:cNvSpPr/>
          <p:nvPr/>
        </p:nvSpPr>
        <p:spPr>
          <a:xfrm>
            <a:off x="7559278" y="3082727"/>
            <a:ext cx="3699173" cy="0"/>
          </a:xfrm>
          <a:prstGeom prst="line">
            <a:avLst/>
          </a:prstGeom>
          <a:noFill/>
          <a:ln w="9525">
            <a:solidFill>
              <a:srgbClr val="506EAA">
                <a:alpha val="14000"/>
              </a:srgbClr>
            </a:solidFill>
            <a:prstDash val="solid"/>
          </a:ln>
        </p:spPr>
      </p:sp>
      <p:sp>
        <p:nvSpPr>
          <p:cNvPr id="49" name="Shape 35"/>
          <p:cNvSpPr/>
          <p:nvPr/>
        </p:nvSpPr>
        <p:spPr>
          <a:xfrm>
            <a:off x="7559278" y="3273227"/>
            <a:ext cx="63500" cy="63500"/>
          </a:xfrm>
          <a:prstGeom prst="ellipse">
            <a:avLst/>
          </a:prstGeom>
          <a:solidFill>
            <a:srgbClr val="8CBEFF"/>
          </a:solidFill>
          <a:ln/>
        </p:spPr>
      </p:sp>
      <p:sp>
        <p:nvSpPr>
          <p:cNvPr id="50" name="Text 36"/>
          <p:cNvSpPr txBox="1"/>
          <p:nvPr/>
        </p:nvSpPr>
        <p:spPr>
          <a:xfrm>
            <a:off x="7698978" y="3203377"/>
            <a:ext cx="889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统一调度器</a:t>
            </a:r>
            <a:endParaRPr lang="en-US" sz="1100" dirty="0"/>
          </a:p>
        </p:txBody>
      </p:sp>
      <p:sp>
        <p:nvSpPr>
          <p:cNvPr id="51" name="Text 37"/>
          <p:cNvSpPr txBox="1"/>
          <p:nvPr/>
        </p:nvSpPr>
        <p:spPr>
          <a:xfrm>
            <a:off x="7698978" y="3444677"/>
            <a:ext cx="3648459" cy="385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9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以「每个请求本步处理多少 token」统一表达 prefill、decode 与 chunked prefill。</a:t>
            </a:r>
            <a:endParaRPr lang="en-US" sz="950" dirty="0"/>
          </a:p>
        </p:txBody>
      </p:sp>
      <p:sp>
        <p:nvSpPr>
          <p:cNvPr id="52" name="Shape 38"/>
          <p:cNvSpPr/>
          <p:nvPr/>
        </p:nvSpPr>
        <p:spPr>
          <a:xfrm>
            <a:off x="7559278" y="3970338"/>
            <a:ext cx="3699173" cy="0"/>
          </a:xfrm>
          <a:prstGeom prst="line">
            <a:avLst/>
          </a:prstGeom>
          <a:noFill/>
          <a:ln w="9525">
            <a:solidFill>
              <a:srgbClr val="506EAA">
                <a:alpha val="14000"/>
              </a:srgbClr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>
            <a:off x="7559278" y="4160838"/>
            <a:ext cx="63500" cy="63500"/>
          </a:xfrm>
          <a:prstGeom prst="ellipse">
            <a:avLst/>
          </a:prstGeom>
          <a:solidFill>
            <a:srgbClr val="6ED2EB"/>
          </a:solidFill>
          <a:ln/>
        </p:spPr>
      </p:sp>
      <p:sp>
        <p:nvSpPr>
          <p:cNvPr id="54" name="Text 40"/>
          <p:cNvSpPr txBox="1"/>
          <p:nvPr/>
        </p:nvSpPr>
        <p:spPr>
          <a:xfrm>
            <a:off x="7698978" y="4090987"/>
            <a:ext cx="11684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零开销前缀缓存</a:t>
            </a:r>
            <a:endParaRPr lang="en-US" sz="1100" dirty="0"/>
          </a:p>
        </p:txBody>
      </p:sp>
      <p:sp>
        <p:nvSpPr>
          <p:cNvPr id="55" name="Text 41"/>
          <p:cNvSpPr txBox="1"/>
          <p:nvPr/>
        </p:nvSpPr>
        <p:spPr>
          <a:xfrm>
            <a:off x="7698978" y="4332288"/>
            <a:ext cx="3986609" cy="19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9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前缀缓存在缓存命中率为 0 时几乎不引入额外开销，可默认开启。</a:t>
            </a:r>
            <a:endParaRPr lang="en-US" sz="950" dirty="0"/>
          </a:p>
        </p:txBody>
      </p:sp>
      <p:sp>
        <p:nvSpPr>
          <p:cNvPr id="56" name="Shape 42"/>
          <p:cNvSpPr/>
          <p:nvPr/>
        </p:nvSpPr>
        <p:spPr>
          <a:xfrm>
            <a:off x="7559278" y="4664968"/>
            <a:ext cx="3699173" cy="0"/>
          </a:xfrm>
          <a:prstGeom prst="line">
            <a:avLst/>
          </a:prstGeom>
          <a:noFill/>
          <a:ln w="9525">
            <a:solidFill>
              <a:srgbClr val="506EAA">
                <a:alpha val="14000"/>
              </a:srgbClr>
            </a:solidFill>
            <a:prstDash val="solid"/>
          </a:ln>
        </p:spPr>
      </p:sp>
      <p:sp>
        <p:nvSpPr>
          <p:cNvPr id="57" name="Shape 43"/>
          <p:cNvSpPr/>
          <p:nvPr/>
        </p:nvSpPr>
        <p:spPr>
          <a:xfrm>
            <a:off x="7559278" y="4855468"/>
            <a:ext cx="63500" cy="63500"/>
          </a:xfrm>
          <a:prstGeom prst="ellipse">
            <a:avLst/>
          </a:prstGeom>
          <a:solidFill>
            <a:srgbClr val="78D7B4"/>
          </a:solidFill>
          <a:ln/>
        </p:spPr>
      </p:sp>
      <p:sp>
        <p:nvSpPr>
          <p:cNvPr id="58" name="Text 44"/>
          <p:cNvSpPr txBox="1"/>
          <p:nvPr/>
        </p:nvSpPr>
        <p:spPr>
          <a:xfrm>
            <a:off x="7698978" y="4785618"/>
            <a:ext cx="10287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编译与图优化</a:t>
            </a:r>
            <a:endParaRPr lang="en-US" sz="1100" dirty="0"/>
          </a:p>
        </p:txBody>
      </p:sp>
      <p:sp>
        <p:nvSpPr>
          <p:cNvPr id="59" name="Text 45"/>
          <p:cNvSpPr txBox="1"/>
          <p:nvPr/>
        </p:nvSpPr>
        <p:spPr>
          <a:xfrm>
            <a:off x="7698978" y="5026918"/>
            <a:ext cx="3986609" cy="19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9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torch.compile 与分段 CUDA Graph 结合，降低 kernel 启动开销。</a:t>
            </a:r>
            <a:endParaRPr lang="en-US" sz="950" dirty="0"/>
          </a:p>
        </p:txBody>
      </p:sp>
      <p:sp>
        <p:nvSpPr>
          <p:cNvPr id="60" name="Shape 46"/>
          <p:cNvSpPr/>
          <p:nvPr/>
        </p:nvSpPr>
        <p:spPr>
          <a:xfrm>
            <a:off x="711200" y="6324600"/>
            <a:ext cx="10769600" cy="0"/>
          </a:xfrm>
          <a:prstGeom prst="line">
            <a:avLst/>
          </a:prstGeom>
          <a:noFill/>
          <a:ln w="9525">
            <a:solidFill>
              <a:srgbClr val="506EAA">
                <a:alpha val="16000"/>
              </a:srgbClr>
            </a:solidFill>
            <a:prstDash val="solid"/>
          </a:ln>
        </p:spPr>
      </p:sp>
      <p:sp>
        <p:nvSpPr>
          <p:cNvPr id="61" name="Text 47"/>
          <p:cNvSpPr txBox="1"/>
          <p:nvPr/>
        </p:nvSpPr>
        <p:spPr>
          <a:xfrm>
            <a:off x="711200" y="6445250"/>
            <a:ext cx="418496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参考：vLLM V1 技术博客（2025.01）与官方文档 docs.vllm.ai · 模块名称以实际版本为准</a:t>
            </a:r>
            <a:endParaRPr lang="en-US" sz="750" dirty="0"/>
          </a:p>
        </p:txBody>
      </p:sp>
      <p:sp>
        <p:nvSpPr>
          <p:cNvPr id="62" name="Text 48"/>
          <p:cNvSpPr txBox="1"/>
          <p:nvPr/>
        </p:nvSpPr>
        <p:spPr>
          <a:xfrm>
            <a:off x="9594751" y="6457950"/>
            <a:ext cx="21123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 · FAST · CHEAP LLM SERVING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" y="355600"/>
            <a:ext cx="1823244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pic>
        <p:nvPicPr>
          <p:cNvPr id="3" name="Image 0" descr="/tmp/claude-0/-home-claude/2b35665f-05e8-5c23-bf82-e38526784130/scratchpad/pptx/build/s7_r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" y="425450"/>
            <a:ext cx="165100" cy="1651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35050" y="428625"/>
            <a:ext cx="155654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344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· 大模型推理框架介绍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9994305" y="434975"/>
            <a:ext cx="1523658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FEATURES</a:t>
            </a:r>
            <a:pPr algn="l" indent="0" marL="0">
              <a:buNone/>
            </a:pPr>
            <a:r>
              <a:rPr lang="en-US" sz="100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10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pPr algn="l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79450" y="889000"/>
            <a:ext cx="127000" cy="127000"/>
          </a:xfrm>
          <a:prstGeom prst="ellipse">
            <a:avLst/>
          </a:prstGeom>
          <a:solidFill>
            <a:srgbClr val="F27C7C">
              <a:alpha val="1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11200" y="920750"/>
            <a:ext cx="63500" cy="63500"/>
          </a:xfrm>
          <a:prstGeom prst="ellipse">
            <a:avLst/>
          </a:prstGeom>
          <a:solidFill>
            <a:srgbClr val="F27C7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0900" y="889000"/>
            <a:ext cx="1344216" cy="14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190" kern="0" dirty="0">
                <a:solidFill>
                  <a:srgbClr val="3F6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FEATURES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11200" y="1104900"/>
            <a:ext cx="7350697" cy="423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40"/>
              </a:lnSpc>
              <a:buNone/>
            </a:pPr>
            <a:r>
              <a:rPr lang="en-US" sz="2900" b="1" spc="-30" kern="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功能矩阵：从单卡实验到集群级生产部署</a:t>
            </a:r>
            <a:endParaRPr lang="en-US" sz="2900" dirty="0"/>
          </a:p>
        </p:txBody>
      </p:sp>
      <p:sp>
        <p:nvSpPr>
          <p:cNvPr id="10" name="Shape 7"/>
          <p:cNvSpPr/>
          <p:nvPr/>
        </p:nvSpPr>
        <p:spPr>
          <a:xfrm>
            <a:off x="8082657" y="1229916"/>
            <a:ext cx="552648" cy="247650"/>
          </a:xfrm>
          <a:prstGeom prst="roundRect">
            <a:avLst>
              <a:gd name="adj" fmla="val 50000"/>
            </a:avLst>
          </a:prstGeom>
          <a:solidFill>
            <a:srgbClr val="78A0FF">
              <a:alpha val="16000"/>
            </a:srgbClr>
          </a:solidFill>
          <a:ln w="9525">
            <a:solidFill>
              <a:srgbClr val="78A0FF">
                <a:alpha val="35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03307" y="1287066"/>
            <a:ext cx="501848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3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711505" y="1229916"/>
            <a:ext cx="539948" cy="247650"/>
          </a:xfrm>
          <a:prstGeom prst="roundRect">
            <a:avLst>
              <a:gd name="adj" fmla="val 50000"/>
            </a:avLst>
          </a:prstGeom>
          <a:solidFill>
            <a:srgbClr val="8CBEFF">
              <a:alpha val="16000"/>
            </a:srgbClr>
          </a:solidFill>
          <a:ln w="9525">
            <a:solidFill>
              <a:srgbClr val="8CBEFF">
                <a:alpha val="3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832155" y="1287066"/>
            <a:ext cx="489148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3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327654" y="1229916"/>
            <a:ext cx="775097" cy="247650"/>
          </a:xfrm>
          <a:prstGeom prst="roundRect">
            <a:avLst>
              <a:gd name="adj" fmla="val 50000"/>
            </a:avLst>
          </a:prstGeom>
          <a:solidFill>
            <a:srgbClr val="6ED2EB">
              <a:alpha val="16000"/>
            </a:srgbClr>
          </a:solidFill>
          <a:ln w="9525">
            <a:solidFill>
              <a:srgbClr val="6ED2EB">
                <a:alpha val="3500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448304" y="1287066"/>
            <a:ext cx="724297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3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0178951" y="1229916"/>
            <a:ext cx="577850" cy="247650"/>
          </a:xfrm>
          <a:prstGeom prst="roundRect">
            <a:avLst>
              <a:gd name="adj" fmla="val 50000"/>
            </a:avLst>
          </a:prstGeom>
          <a:solidFill>
            <a:srgbClr val="78D7B4">
              <a:alpha val="16000"/>
            </a:srgbClr>
          </a:solidFill>
          <a:ln w="9525">
            <a:solidFill>
              <a:srgbClr val="78D7B4">
                <a:alpha val="35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299601" y="1287066"/>
            <a:ext cx="5270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3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Mistral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0833001" y="1229916"/>
            <a:ext cx="647799" cy="247650"/>
          </a:xfrm>
          <a:prstGeom prst="roundRect">
            <a:avLst>
              <a:gd name="adj" fmla="val 50000"/>
            </a:avLst>
          </a:prstGeom>
          <a:solidFill>
            <a:srgbClr val="FFDC82">
              <a:alpha val="16000"/>
            </a:srgbClr>
          </a:solidFill>
          <a:ln w="9525">
            <a:solidFill>
              <a:srgbClr val="FFDC82">
                <a:alpha val="3500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953651" y="1287066"/>
            <a:ext cx="59699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3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Gemma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11200" y="1756966"/>
            <a:ext cx="2578100" cy="1953617"/>
          </a:xfrm>
          <a:prstGeom prst="roundRect">
            <a:avLst>
              <a:gd name="adj" fmla="val 9101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21" name="Image 1" descr="/tmp/claude-0/-home-claude/2b35665f-05e8-5c23-bf82-e38526784130/scratchpad/pptx/build/s7_r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1941116"/>
            <a:ext cx="368300" cy="368300"/>
          </a:xfrm>
          <a:prstGeom prst="rect">
            <a:avLst/>
          </a:prstGeom>
        </p:spPr>
      </p:pic>
      <p:pic>
        <p:nvPicPr>
          <p:cNvPr id="22" name="Image 2" descr="/tmp/claude-0/-home-claude/2b35665f-05e8-5c23-bf82-e38526784130/scratchpad/pptx/build/s7_r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2036366"/>
            <a:ext cx="177800" cy="1778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95350" y="2411016"/>
            <a:ext cx="24749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自动前缀缓存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895350" y="2741216"/>
            <a:ext cx="2265045" cy="39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9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复用相同前缀的 KV 块，显著降低多轮对话与长系统提示的首 token 延迟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3441700" y="1756966"/>
            <a:ext cx="2578100" cy="1953617"/>
          </a:xfrm>
          <a:prstGeom prst="roundRect">
            <a:avLst>
              <a:gd name="adj" fmla="val 9101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26" name="Image 3" descr="/tmp/claude-0/-home-claude/2b35665f-05e8-5c23-bf82-e38526784130/scratchpad/pptx/build/s7_r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850" y="1941116"/>
            <a:ext cx="368300" cy="368300"/>
          </a:xfrm>
          <a:prstGeom prst="rect">
            <a:avLst/>
          </a:prstGeom>
        </p:spPr>
      </p:pic>
      <p:pic>
        <p:nvPicPr>
          <p:cNvPr id="27" name="Image 4" descr="/tmp/claude-0/-home-claude/2b35665f-05e8-5c23-bf82-e38526784130/scratchpad/pptx/build/s7_r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1100" y="2036366"/>
            <a:ext cx="177800" cy="1778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3625850" y="2411016"/>
            <a:ext cx="24749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推测解码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3625850" y="2741216"/>
            <a:ext cx="2265045" cy="39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9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n-gram、EAGLE、草稿模型等方案，以小代价预测多个 token 并一次验证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172200" y="1756966"/>
            <a:ext cx="2578100" cy="1953617"/>
          </a:xfrm>
          <a:prstGeom prst="roundRect">
            <a:avLst>
              <a:gd name="adj" fmla="val 9101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31" name="Image 5" descr="/tmp/claude-0/-home-claude/2b35665f-05e8-5c23-bf82-e38526784130/scratchpad/pptx/build/s7_r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6350" y="1941116"/>
            <a:ext cx="368300" cy="368300"/>
          </a:xfrm>
          <a:prstGeom prst="rect">
            <a:avLst/>
          </a:prstGeom>
        </p:spPr>
      </p:pic>
      <p:pic>
        <p:nvPicPr>
          <p:cNvPr id="32" name="Image 6" descr="/tmp/claude-0/-home-claude/2b35665f-05e8-5c23-bf82-e38526784130/scratchpad/pptx/build/s7_r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1600" y="2036366"/>
            <a:ext cx="177800" cy="1778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356350" y="2411016"/>
            <a:ext cx="24749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量化推理</a:t>
            </a:r>
            <a:endParaRPr lang="en-US" sz="1250" dirty="0"/>
          </a:p>
        </p:txBody>
      </p:sp>
      <p:sp>
        <p:nvSpPr>
          <p:cNvPr id="34" name="Text 25"/>
          <p:cNvSpPr txBox="1"/>
          <p:nvPr/>
        </p:nvSpPr>
        <p:spPr>
          <a:xfrm>
            <a:off x="6356350" y="2741216"/>
            <a:ext cx="2265045" cy="39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9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GPTQ、AWQ、INT8、FP8 等权重 / 激活量化，以及 FP8 KV Cache</a:t>
            </a:r>
            <a:endParaRPr lang="en-US" sz="950" dirty="0"/>
          </a:p>
        </p:txBody>
      </p:sp>
      <p:sp>
        <p:nvSpPr>
          <p:cNvPr id="35" name="Shape 26"/>
          <p:cNvSpPr/>
          <p:nvPr/>
        </p:nvSpPr>
        <p:spPr>
          <a:xfrm>
            <a:off x="8902700" y="1756966"/>
            <a:ext cx="2578100" cy="1953617"/>
          </a:xfrm>
          <a:prstGeom prst="roundRect">
            <a:avLst>
              <a:gd name="adj" fmla="val 9101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36" name="Image 7" descr="/tmp/claude-0/-home-claude/2b35665f-05e8-5c23-bf82-e38526784130/scratchpad/pptx/build/s7_r7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6850" y="1941116"/>
            <a:ext cx="368300" cy="368300"/>
          </a:xfrm>
          <a:prstGeom prst="rect">
            <a:avLst/>
          </a:prstGeom>
        </p:spPr>
      </p:pic>
      <p:pic>
        <p:nvPicPr>
          <p:cNvPr id="37" name="Image 8" descr="/tmp/claude-0/-home-claude/2b35665f-05e8-5c23-bf82-e38526784130/scratchpad/pptx/build/s7_r8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2100" y="2036366"/>
            <a:ext cx="177800" cy="17780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9086850" y="2411016"/>
            <a:ext cx="24749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分布式并行</a:t>
            </a:r>
            <a:endParaRPr lang="en-US" sz="1250" dirty="0"/>
          </a:p>
        </p:txBody>
      </p:sp>
      <p:sp>
        <p:nvSpPr>
          <p:cNvPr id="39" name="Text 28"/>
          <p:cNvSpPr txBox="1"/>
          <p:nvPr/>
        </p:nvSpPr>
        <p:spPr>
          <a:xfrm>
            <a:off x="9086850" y="2741216"/>
            <a:ext cx="2265045" cy="39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9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张量并行、流水线并行、数据并行与专家并行（MoE），支持多机多卡部署</a:t>
            </a:r>
            <a:endParaRPr lang="en-US" sz="950" dirty="0"/>
          </a:p>
        </p:txBody>
      </p:sp>
      <p:sp>
        <p:nvSpPr>
          <p:cNvPr id="40" name="Shape 29"/>
          <p:cNvSpPr/>
          <p:nvPr/>
        </p:nvSpPr>
        <p:spPr>
          <a:xfrm>
            <a:off x="711200" y="3862983"/>
            <a:ext cx="2578100" cy="1953617"/>
          </a:xfrm>
          <a:prstGeom prst="roundRect">
            <a:avLst>
              <a:gd name="adj" fmla="val 9101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41" name="Image 9" descr="/tmp/claude-0/-home-claude/2b35665f-05e8-5c23-bf82-e38526784130/scratchpad/pptx/build/s7_r9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350" y="4047133"/>
            <a:ext cx="368300" cy="368300"/>
          </a:xfrm>
          <a:prstGeom prst="rect">
            <a:avLst/>
          </a:prstGeom>
        </p:spPr>
      </p:pic>
      <p:pic>
        <p:nvPicPr>
          <p:cNvPr id="42" name="Image 10" descr="/tmp/claude-0/-home-claude/2b35665f-05e8-5c23-bf82-e38526784130/scratchpad/pptx/build/s7_r10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0600" y="4142383"/>
            <a:ext cx="177800" cy="177800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895350" y="4517033"/>
            <a:ext cx="24749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Multi-LoRA 服务</a:t>
            </a:r>
            <a:endParaRPr lang="en-US" sz="1250" dirty="0"/>
          </a:p>
        </p:txBody>
      </p:sp>
      <p:sp>
        <p:nvSpPr>
          <p:cNvPr id="44" name="Text 31"/>
          <p:cNvSpPr txBox="1"/>
          <p:nvPr/>
        </p:nvSpPr>
        <p:spPr>
          <a:xfrm>
            <a:off x="895350" y="4847233"/>
            <a:ext cx="2265045" cy="39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9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同一基座模型同时挂载多个 LoRA 适配器，按请求动态选择</a:t>
            </a:r>
            <a:endParaRPr lang="en-US" sz="950" dirty="0"/>
          </a:p>
        </p:txBody>
      </p:sp>
      <p:sp>
        <p:nvSpPr>
          <p:cNvPr id="45" name="Shape 32"/>
          <p:cNvSpPr/>
          <p:nvPr/>
        </p:nvSpPr>
        <p:spPr>
          <a:xfrm>
            <a:off x="3441700" y="3862983"/>
            <a:ext cx="2578100" cy="1953617"/>
          </a:xfrm>
          <a:prstGeom prst="roundRect">
            <a:avLst>
              <a:gd name="adj" fmla="val 9101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46" name="Image 11" descr="/tmp/claude-0/-home-claude/2b35665f-05e8-5c23-bf82-e38526784130/scratchpad/pptx/build/s7_r1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25850" y="4047133"/>
            <a:ext cx="368300" cy="368300"/>
          </a:xfrm>
          <a:prstGeom prst="rect">
            <a:avLst/>
          </a:prstGeom>
        </p:spPr>
      </p:pic>
      <p:pic>
        <p:nvPicPr>
          <p:cNvPr id="47" name="Image 12" descr="/tmp/claude-0/-home-claude/2b35665f-05e8-5c23-bf82-e38526784130/scratchpad/pptx/build/s7_r1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21100" y="4142383"/>
            <a:ext cx="177800" cy="177800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3625850" y="4517033"/>
            <a:ext cx="24749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结构化输出</a:t>
            </a:r>
            <a:endParaRPr lang="en-US" sz="1250" dirty="0"/>
          </a:p>
        </p:txBody>
      </p:sp>
      <p:sp>
        <p:nvSpPr>
          <p:cNvPr id="49" name="Text 34"/>
          <p:cNvSpPr txBox="1"/>
          <p:nvPr/>
        </p:nvSpPr>
        <p:spPr>
          <a:xfrm>
            <a:off x="3625850" y="4847233"/>
            <a:ext cx="2265045" cy="39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9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JSON Schema、正则或语法约束的引导解码，保证输出格式可解析</a:t>
            </a:r>
            <a:endParaRPr lang="en-US" sz="950" dirty="0"/>
          </a:p>
        </p:txBody>
      </p:sp>
      <p:sp>
        <p:nvSpPr>
          <p:cNvPr id="50" name="Shape 35"/>
          <p:cNvSpPr/>
          <p:nvPr/>
        </p:nvSpPr>
        <p:spPr>
          <a:xfrm>
            <a:off x="6172200" y="3862983"/>
            <a:ext cx="2578100" cy="1953617"/>
          </a:xfrm>
          <a:prstGeom prst="roundRect">
            <a:avLst>
              <a:gd name="adj" fmla="val 9101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51" name="Image 13" descr="/tmp/claude-0/-home-claude/2b35665f-05e8-5c23-bf82-e38526784130/scratchpad/pptx/build/s7_r1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56350" y="4047133"/>
            <a:ext cx="368300" cy="368300"/>
          </a:xfrm>
          <a:prstGeom prst="rect">
            <a:avLst/>
          </a:prstGeom>
        </p:spPr>
      </p:pic>
      <p:pic>
        <p:nvPicPr>
          <p:cNvPr id="52" name="Image 14" descr="/tmp/claude-0/-home-claude/2b35665f-05e8-5c23-bf82-e38526784130/scratchpad/pptx/build/s7_r14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51600" y="4142383"/>
            <a:ext cx="177800" cy="177800"/>
          </a:xfrm>
          <a:prstGeom prst="rect">
            <a:avLst/>
          </a:prstGeom>
        </p:spPr>
      </p:pic>
      <p:sp>
        <p:nvSpPr>
          <p:cNvPr id="53" name="Text 36"/>
          <p:cNvSpPr txBox="1"/>
          <p:nvPr/>
        </p:nvSpPr>
        <p:spPr>
          <a:xfrm>
            <a:off x="6356350" y="4517033"/>
            <a:ext cx="24749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多模态模型</a:t>
            </a:r>
            <a:endParaRPr lang="en-US" sz="1250" dirty="0"/>
          </a:p>
        </p:txBody>
      </p:sp>
      <p:sp>
        <p:nvSpPr>
          <p:cNvPr id="54" name="Text 37"/>
          <p:cNvSpPr txBox="1"/>
          <p:nvPr/>
        </p:nvSpPr>
        <p:spPr>
          <a:xfrm>
            <a:off x="6356350" y="4847233"/>
            <a:ext cx="2265045" cy="39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9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支持图像、视频、音频等多模态输入的主流视觉语言模型</a:t>
            </a:r>
            <a:endParaRPr lang="en-US" sz="950" dirty="0"/>
          </a:p>
        </p:txBody>
      </p:sp>
      <p:sp>
        <p:nvSpPr>
          <p:cNvPr id="55" name="Shape 38"/>
          <p:cNvSpPr/>
          <p:nvPr/>
        </p:nvSpPr>
        <p:spPr>
          <a:xfrm>
            <a:off x="8902700" y="3862983"/>
            <a:ext cx="2578100" cy="1953617"/>
          </a:xfrm>
          <a:prstGeom prst="roundRect">
            <a:avLst>
              <a:gd name="adj" fmla="val 9101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56" name="Image 15" descr="/tmp/claude-0/-home-claude/2b35665f-05e8-5c23-bf82-e38526784130/scratchpad/pptx/build/s7_r15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86850" y="4047133"/>
            <a:ext cx="368300" cy="368300"/>
          </a:xfrm>
          <a:prstGeom prst="rect">
            <a:avLst/>
          </a:prstGeom>
        </p:spPr>
      </p:pic>
      <p:pic>
        <p:nvPicPr>
          <p:cNvPr id="57" name="Image 16" descr="/tmp/claude-0/-home-claude/2b35665f-05e8-5c23-bf82-e38526784130/scratchpad/pptx/build/s7_r16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82100" y="4142383"/>
            <a:ext cx="177800" cy="177800"/>
          </a:xfrm>
          <a:prstGeom prst="rect">
            <a:avLst/>
          </a:prstGeom>
        </p:spPr>
      </p:pic>
      <p:sp>
        <p:nvSpPr>
          <p:cNvPr id="58" name="Text 39"/>
          <p:cNvSpPr txBox="1"/>
          <p:nvPr/>
        </p:nvSpPr>
        <p:spPr>
          <a:xfrm>
            <a:off x="9086850" y="4517033"/>
            <a:ext cx="24749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多硬件后端</a:t>
            </a:r>
            <a:endParaRPr lang="en-US" sz="1250" dirty="0"/>
          </a:p>
        </p:txBody>
      </p:sp>
      <p:sp>
        <p:nvSpPr>
          <p:cNvPr id="59" name="Text 40"/>
          <p:cNvSpPr txBox="1"/>
          <p:nvPr/>
        </p:nvSpPr>
        <p:spPr>
          <a:xfrm>
            <a:off x="9086850" y="4847233"/>
            <a:ext cx="2265045" cy="39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9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 GPU、AMD GPU、Intel CPU / GPU、Google TPU、AWS Neuron 等</a:t>
            </a:r>
            <a:endParaRPr lang="en-US" sz="950" dirty="0"/>
          </a:p>
        </p:txBody>
      </p:sp>
      <p:sp>
        <p:nvSpPr>
          <p:cNvPr id="60" name="Shape 41"/>
          <p:cNvSpPr/>
          <p:nvPr/>
        </p:nvSpPr>
        <p:spPr>
          <a:xfrm>
            <a:off x="711200" y="6045200"/>
            <a:ext cx="10769600" cy="533400"/>
          </a:xfrm>
          <a:prstGeom prst="roundRect">
            <a:avLst>
              <a:gd name="adj" fmla="val 23810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pic>
        <p:nvPicPr>
          <p:cNvPr id="61" name="Image 17" descr="/tmp/claude-0/-home-claude/2b35665f-05e8-5c23-bf82-e38526784130/scratchpad/pptx/build/s7_r17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5350" y="6165850"/>
            <a:ext cx="292100" cy="292100"/>
          </a:xfrm>
          <a:prstGeom prst="rect">
            <a:avLst/>
          </a:prstGeom>
        </p:spPr>
      </p:pic>
      <p:pic>
        <p:nvPicPr>
          <p:cNvPr id="62" name="Image 18" descr="/tmp/claude-0/-home-claude/2b35665f-05e8-5c23-bf82-e38526784130/scratchpad/pptx/build/s7_r18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2500" y="6223000"/>
            <a:ext cx="177800" cy="177800"/>
          </a:xfrm>
          <a:prstGeom prst="rect">
            <a:avLst/>
          </a:prstGeom>
        </p:spPr>
      </p:pic>
      <p:sp>
        <p:nvSpPr>
          <p:cNvPr id="63" name="Text 42"/>
          <p:cNvSpPr txBox="1"/>
          <p:nvPr/>
        </p:nvSpPr>
        <p:spPr>
          <a:xfrm>
            <a:off x="1301750" y="6216650"/>
            <a:ext cx="92339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3D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兼容接口</a:t>
            </a:r>
            <a:pPr algn="l" indent="0" marL="0">
              <a:buNone/>
            </a:pPr>
            <a:r>
              <a:rPr lang="en-US" sz="1050" dirty="0">
                <a:solidFill>
                  <a:srgbClr val="2E3D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：现有基于 OpenAI SDK 的应用只需修改 </a:t>
            </a:r>
            <a:pPr algn="l" indent="0" marL="0">
              <a:buNone/>
            </a:pPr>
            <a:r>
              <a:rPr lang="en-US" sz="1050" dirty="0">
                <a:solidFill>
                  <a:srgbClr val="2A4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base_url</a:t>
            </a:r>
            <a:pPr algn="l" indent="0" marL="0">
              <a:buNone/>
            </a:pPr>
            <a:r>
              <a:rPr lang="en-US" sz="1050" dirty="0">
                <a:solidFill>
                  <a:srgbClr val="2E3D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即可迁移；同时支持流式输出、Embedding 与 Reward 等任务类型。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" y="355600"/>
            <a:ext cx="1823244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pic>
        <p:nvPicPr>
          <p:cNvPr id="3" name="Image 0" descr="/tmp/claude-0/-home-claude/2b35665f-05e8-5c23-bf82-e38526784130/scratchpad/pptx/build/s8_r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" y="425450"/>
            <a:ext cx="165100" cy="1651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35050" y="428625"/>
            <a:ext cx="155654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344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· 大模型推理框架介绍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9765109" y="434975"/>
            <a:ext cx="1758583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PERFORMANCE</a:t>
            </a:r>
            <a:pPr algn="l" indent="0" marL="0">
              <a:buNone/>
            </a:pPr>
            <a:r>
              <a:rPr lang="en-US" sz="100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10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pPr algn="l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79450" y="889000"/>
            <a:ext cx="127000" cy="127000"/>
          </a:xfrm>
          <a:prstGeom prst="ellipse">
            <a:avLst/>
          </a:prstGeom>
          <a:solidFill>
            <a:srgbClr val="F27C7C">
              <a:alpha val="1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11200" y="920750"/>
            <a:ext cx="63500" cy="63500"/>
          </a:xfrm>
          <a:prstGeom prst="ellipse">
            <a:avLst/>
          </a:prstGeom>
          <a:solidFill>
            <a:srgbClr val="F27C7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0900" y="889000"/>
            <a:ext cx="1610420" cy="14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190" kern="0" dirty="0">
                <a:solidFill>
                  <a:srgbClr val="3F6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PERFORMANCE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11200" y="1104900"/>
            <a:ext cx="12061952" cy="423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40"/>
              </a:lnSpc>
              <a:buNone/>
            </a:pPr>
            <a:r>
              <a:rPr lang="en-US" sz="2900" b="1" spc="-30" kern="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性能表现：显存利用率决定吞吐上限</a:t>
            </a:r>
            <a:endParaRPr lang="en-US" sz="2900" dirty="0"/>
          </a:p>
        </p:txBody>
      </p:sp>
      <p:sp>
        <p:nvSpPr>
          <p:cNvPr id="10" name="Shape 7"/>
          <p:cNvSpPr/>
          <p:nvPr/>
        </p:nvSpPr>
        <p:spPr>
          <a:xfrm>
            <a:off x="711200" y="1756966"/>
            <a:ext cx="6070005" cy="4339034"/>
          </a:xfrm>
          <a:prstGeom prst="roundRect">
            <a:avLst>
              <a:gd name="adj" fmla="val 4098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971550" y="1979216"/>
            <a:ext cx="6215221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Cache 显存有效利用率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71550" y="2252266"/>
            <a:ext cx="621522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存放真实 token 状态的显存占比（越高越好）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71550" y="3225800"/>
            <a:ext cx="127000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4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Orca (Max)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178050" y="3152775"/>
            <a:ext cx="3644305" cy="292100"/>
          </a:xfrm>
          <a:prstGeom prst="roundRect">
            <a:avLst>
              <a:gd name="adj" fmla="val 30435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90000"/>
              </a:srgbClr>
            </a:solidFill>
            <a:prstDash val="solid"/>
          </a:ln>
        </p:spPr>
      </p:sp>
      <p:pic>
        <p:nvPicPr>
          <p:cNvPr id="15" name="Image 1" descr="/tmp/claude-0/-home-claude/2b35665f-05e8-5c23-bf82-e38526784130/scratchpad/pptx/build/s8_r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400" y="3159125"/>
            <a:ext cx="740767" cy="2794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758855" y="3209925"/>
            <a:ext cx="76200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20.4%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971550" y="3657600"/>
            <a:ext cx="127000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4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Orca (Pow2)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178050" y="3584575"/>
            <a:ext cx="3644305" cy="292100"/>
          </a:xfrm>
          <a:prstGeom prst="roundRect">
            <a:avLst>
              <a:gd name="adj" fmla="val 30435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90000"/>
              </a:srgbClr>
            </a:solidFill>
            <a:prstDash val="solid"/>
          </a:ln>
        </p:spPr>
      </p:sp>
      <p:pic>
        <p:nvPicPr>
          <p:cNvPr id="19" name="Image 2" descr="/tmp/claude-0/-home-claude/2b35665f-05e8-5c23-bf82-e38526784130/scratchpad/pptx/build/s8_r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4400" y="3590925"/>
            <a:ext cx="973237" cy="2794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758855" y="3641725"/>
            <a:ext cx="76200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26.8%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971550" y="4089400"/>
            <a:ext cx="127000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4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Orca (Oracle)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2178050" y="4016375"/>
            <a:ext cx="3644305" cy="292100"/>
          </a:xfrm>
          <a:prstGeom prst="roundRect">
            <a:avLst>
              <a:gd name="adj" fmla="val 30435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90000"/>
              </a:srgbClr>
            </a:solidFill>
            <a:prstDash val="solid"/>
          </a:ln>
        </p:spPr>
      </p:sp>
      <p:pic>
        <p:nvPicPr>
          <p:cNvPr id="23" name="Image 3" descr="/tmp/claude-0/-home-claude/2b35665f-05e8-5c23-bf82-e38526784130/scratchpad/pptx/build/s8_r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4400" y="4022725"/>
            <a:ext cx="1387177" cy="2794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758855" y="4073525"/>
            <a:ext cx="76200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38.2%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971550" y="4521200"/>
            <a:ext cx="127000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2178050" y="4448175"/>
            <a:ext cx="3644305" cy="292100"/>
          </a:xfrm>
          <a:prstGeom prst="roundRect">
            <a:avLst>
              <a:gd name="adj" fmla="val 30435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90000"/>
              </a:srgbClr>
            </a:solidFill>
            <a:prstDash val="solid"/>
          </a:ln>
        </p:spPr>
      </p:sp>
      <p:pic>
        <p:nvPicPr>
          <p:cNvPr id="27" name="Image 4" descr="/tmp/claude-0/-home-claude/2b35665f-05e8-5c23-bf82-e38526784130/scratchpad/pptx/build/s8_r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4400" y="4454525"/>
            <a:ext cx="3497163" cy="2794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758855" y="4505325"/>
            <a:ext cx="76200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96.3%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971550" y="5475684"/>
            <a:ext cx="5688037" cy="39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9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传统方案中大量显存用于预留与碎片，vLLM 通过分页管理将有效利用率提升至 </a:t>
            </a:r>
            <a:pPr algn="l" indent="0" marL="0">
              <a:lnSpc>
                <a:spcPts val="1570"/>
              </a:lnSpc>
              <a:buNone/>
            </a:pPr>
            <a:r>
              <a:rPr lang="en-US" sz="9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96% 以上</a:t>
            </a:r>
            <a:pPr algn="l" indent="0" marL="0">
              <a:lnSpc>
                <a:spcPts val="1570"/>
              </a:lnSpc>
              <a:buNone/>
            </a:pPr>
            <a:r>
              <a:rPr lang="en-US" sz="9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，同等显存下可容纳更多并发请求。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984405" y="1756966"/>
            <a:ext cx="4496395" cy="1733550"/>
          </a:xfrm>
          <a:prstGeom prst="roundRect">
            <a:avLst>
              <a:gd name="adj" fmla="val 10256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sp>
        <p:nvSpPr>
          <p:cNvPr id="31" name="Text 24"/>
          <p:cNvSpPr txBox="1"/>
          <p:nvPr/>
        </p:nvSpPr>
        <p:spPr>
          <a:xfrm>
            <a:off x="7206655" y="1953816"/>
            <a:ext cx="4538123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吞吐提升（vLLM 博客，2023）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7206655" y="2353866"/>
            <a:ext cx="156140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 HF Transformers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10400407" y="2341166"/>
            <a:ext cx="104864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4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14× – 24×</a:t>
            </a:r>
            <a:endParaRPr lang="en-US" sz="1500" dirty="0"/>
          </a:p>
        </p:txBody>
      </p:sp>
      <p:sp>
        <p:nvSpPr>
          <p:cNvPr id="34" name="Shape 27"/>
          <p:cNvSpPr/>
          <p:nvPr/>
        </p:nvSpPr>
        <p:spPr>
          <a:xfrm>
            <a:off x="7206655" y="2633266"/>
            <a:ext cx="4051895" cy="101600"/>
          </a:xfrm>
          <a:prstGeom prst="roundRect">
            <a:avLst>
              <a:gd name="adj" fmla="val 50000"/>
            </a:avLst>
          </a:prstGeom>
          <a:solidFill>
            <a:srgbClr val="78A0FF">
              <a:alpha val="14000"/>
            </a:srgbClr>
          </a:solidFill>
          <a:ln/>
        </p:spPr>
      </p:sp>
      <p:pic>
        <p:nvPicPr>
          <p:cNvPr id="35" name="Image 5" descr="/tmp/claude-0/-home-claude/2b35665f-05e8-5c23-bf82-e38526784130/scratchpad/pptx/build/s8_r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6491" y="2633266"/>
            <a:ext cx="1559917" cy="10160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206655" y="2912666"/>
            <a:ext cx="93136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 HF TGI</a:t>
            </a:r>
            <a:endParaRPr lang="en-US" sz="1050" dirty="0"/>
          </a:p>
        </p:txBody>
      </p:sp>
      <p:sp>
        <p:nvSpPr>
          <p:cNvPr id="37" name="Text 29"/>
          <p:cNvSpPr txBox="1"/>
          <p:nvPr/>
        </p:nvSpPr>
        <p:spPr>
          <a:xfrm>
            <a:off x="10294541" y="2899966"/>
            <a:ext cx="115450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4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2.2× – 3.5×</a:t>
            </a:r>
            <a:endParaRPr lang="en-US" sz="1500" dirty="0"/>
          </a:p>
        </p:txBody>
      </p:sp>
      <p:sp>
        <p:nvSpPr>
          <p:cNvPr id="38" name="Shape 30"/>
          <p:cNvSpPr/>
          <p:nvPr/>
        </p:nvSpPr>
        <p:spPr>
          <a:xfrm>
            <a:off x="7206655" y="3192066"/>
            <a:ext cx="4051895" cy="101600"/>
          </a:xfrm>
          <a:prstGeom prst="roundRect">
            <a:avLst>
              <a:gd name="adj" fmla="val 50000"/>
            </a:avLst>
          </a:prstGeom>
          <a:solidFill>
            <a:srgbClr val="78A0FF">
              <a:alpha val="14000"/>
            </a:srgbClr>
          </a:solidFill>
          <a:ln/>
        </p:spPr>
      </p:sp>
      <p:pic>
        <p:nvPicPr>
          <p:cNvPr id="39" name="Image 6" descr="/tmp/claude-0/-home-claude/2b35665f-05e8-5c23-bf82-e38526784130/scratchpad/pptx/build/s8_r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1043" y="3192066"/>
            <a:ext cx="202505" cy="101600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6984405" y="3642916"/>
            <a:ext cx="4496395" cy="2453084"/>
          </a:xfrm>
          <a:prstGeom prst="roundRect">
            <a:avLst>
              <a:gd name="adj" fmla="val 7248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sp>
        <p:nvSpPr>
          <p:cNvPr id="41" name="Text 32"/>
          <p:cNvSpPr txBox="1"/>
          <p:nvPr/>
        </p:nvSpPr>
        <p:spPr>
          <a:xfrm>
            <a:off x="7206655" y="3839766"/>
            <a:ext cx="4538123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论文结论（SOSP 2023）</a:t>
            </a:r>
            <a:endParaRPr lang="en-US" sz="1200" dirty="0"/>
          </a:p>
        </p:txBody>
      </p:sp>
      <p:sp>
        <p:nvSpPr>
          <p:cNvPr id="42" name="Text 33"/>
          <p:cNvSpPr txBox="1"/>
          <p:nvPr/>
        </p:nvSpPr>
        <p:spPr>
          <a:xfrm>
            <a:off x="7206655" y="4125516"/>
            <a:ext cx="1105892" cy="447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gradFill rotWithShape="1">
                  <a:gsLst>
                    <a:gs pos="0">
                      <a:srgbClr val="2F66EE"/>
                    </a:gs>
                    <a:gs pos="50000">
                      <a:srgbClr val="4F8DFA"/>
                    </a:gs>
                    <a:gs pos="100000">
                      <a:srgbClr val="35B3DA"/>
                    </a:gs>
                  </a:gsLst>
                  <a:lin ang="0" scaled="0"/>
                </a:gra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2–4×</a:t>
            </a:r>
            <a:endParaRPr lang="en-US" sz="3200" dirty="0"/>
          </a:p>
        </p:txBody>
      </p:sp>
      <p:sp>
        <p:nvSpPr>
          <p:cNvPr id="43" name="Text 34"/>
          <p:cNvSpPr txBox="1"/>
          <p:nvPr/>
        </p:nvSpPr>
        <p:spPr>
          <a:xfrm>
            <a:off x="7206655" y="4635996"/>
            <a:ext cx="4153193" cy="39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9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在相同延迟水平下，相比 FasterTransformer 与 Orca 的吞吐提升；序列越长、模型越大、解码算法越复杂，优势越明显。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711200" y="6324600"/>
            <a:ext cx="10769600" cy="0"/>
          </a:xfrm>
          <a:prstGeom prst="line">
            <a:avLst/>
          </a:prstGeom>
          <a:noFill/>
          <a:ln w="9525">
            <a:solidFill>
              <a:srgbClr val="506EAA">
                <a:alpha val="16000"/>
              </a:srgbClr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711200" y="6445250"/>
            <a:ext cx="556236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数据来源：Kwon et al., SOSP 2023（Fig.2 · OPT-13B）；vLLM 官方博客 2023.06。实际性能取决于硬件、模型与负载</a:t>
            </a:r>
            <a:endParaRPr lang="en-US" sz="750" dirty="0"/>
          </a:p>
        </p:txBody>
      </p:sp>
      <p:sp>
        <p:nvSpPr>
          <p:cNvPr id="46" name="Text 37"/>
          <p:cNvSpPr txBox="1"/>
          <p:nvPr/>
        </p:nvSpPr>
        <p:spPr>
          <a:xfrm>
            <a:off x="9594751" y="6457950"/>
            <a:ext cx="21123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 · FAST · CHEAP LLM SERVING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" y="355600"/>
            <a:ext cx="1823244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pic>
        <p:nvPicPr>
          <p:cNvPr id="3" name="Image 0" descr="/tmp/claude-0/-home-claude/2b35665f-05e8-5c23-bf82-e38526784130/scratchpad/pptx/build/s9_r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" y="425450"/>
            <a:ext cx="165100" cy="1651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35050" y="428625"/>
            <a:ext cx="155654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344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· 大模型推理框架介绍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9841508" y="434975"/>
            <a:ext cx="1680274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QUICKSTART</a:t>
            </a:r>
            <a:pPr algn="l" indent="0" marL="0">
              <a:buNone/>
            </a:pPr>
            <a:r>
              <a:rPr lang="en-US" sz="100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10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pPr algn="l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79450" y="889000"/>
            <a:ext cx="127000" cy="127000"/>
          </a:xfrm>
          <a:prstGeom prst="ellipse">
            <a:avLst/>
          </a:prstGeom>
          <a:solidFill>
            <a:srgbClr val="F27C7C">
              <a:alpha val="1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11200" y="920750"/>
            <a:ext cx="63500" cy="63500"/>
          </a:xfrm>
          <a:prstGeom prst="ellipse">
            <a:avLst/>
          </a:prstGeom>
          <a:solidFill>
            <a:srgbClr val="F27C7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0900" y="889000"/>
            <a:ext cx="1521619" cy="14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190" kern="0" dirty="0">
                <a:solidFill>
                  <a:srgbClr val="3F6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QUICKSTART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11200" y="1104900"/>
            <a:ext cx="12061952" cy="423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40"/>
              </a:lnSpc>
              <a:buNone/>
            </a:pPr>
            <a:r>
              <a:rPr lang="en-US" sz="2900" b="1" spc="-30" kern="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快速上手：三步部署一个推理服务</a:t>
            </a:r>
            <a:endParaRPr lang="en-US" sz="2900" dirty="0"/>
          </a:p>
        </p:txBody>
      </p:sp>
      <p:sp>
        <p:nvSpPr>
          <p:cNvPr id="10" name="Shape 7"/>
          <p:cNvSpPr/>
          <p:nvPr/>
        </p:nvSpPr>
        <p:spPr>
          <a:xfrm>
            <a:off x="711200" y="1756966"/>
            <a:ext cx="5289550" cy="1109266"/>
          </a:xfrm>
          <a:prstGeom prst="roundRect">
            <a:avLst>
              <a:gd name="adj" fmla="val 16029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11" name="Image 1" descr="/tmp/claude-0/-home-claude/2b35665f-05e8-5c23-bf82-e38526784130/scratchpad/pptx/build/s9_r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1890316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06450" y="1896666"/>
            <a:ext cx="5207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377950" y="1890316"/>
            <a:ext cx="497128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1377950" y="2169716"/>
            <a:ext cx="4438650" cy="337741"/>
          </a:xfrm>
          <a:prstGeom prst="roundRect">
            <a:avLst>
              <a:gd name="adj" fmla="val 22562"/>
            </a:avLst>
          </a:prstGeom>
          <a:solidFill>
            <a:srgbClr val="ECF2FF">
              <a:alpha val="80000"/>
            </a:srgbClr>
          </a:solidFill>
          <a:ln w="9525">
            <a:solidFill>
              <a:srgbClr val="78A0FF">
                <a:alpha val="2500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485900" y="2252266"/>
            <a:ext cx="4729480" cy="172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vllm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1377950" y="2570956"/>
            <a:ext cx="497128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5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建议使用独立的 Python 虚拟环境，并确认 CUDA / 驱动版本匹配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11200" y="2980531"/>
            <a:ext cx="5289550" cy="1281906"/>
          </a:xfrm>
          <a:prstGeom prst="roundRect">
            <a:avLst>
              <a:gd name="adj" fmla="val 1387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18" name="Image 2" descr="/tmp/claude-0/-home-claude/2b35665f-05e8-5c23-bf82-e38526784130/scratchpad/pptx/build/s9_r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3113881"/>
            <a:ext cx="342900" cy="3429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06450" y="3120231"/>
            <a:ext cx="5207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377950" y="3113881"/>
            <a:ext cx="497128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 OpenAI 兼容服务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1377950" y="3393281"/>
            <a:ext cx="4438650" cy="510381"/>
          </a:xfrm>
          <a:prstGeom prst="roundRect">
            <a:avLst>
              <a:gd name="adj" fmla="val 14930"/>
            </a:avLst>
          </a:prstGeom>
          <a:solidFill>
            <a:srgbClr val="ECF2FF">
              <a:alpha val="80000"/>
            </a:srgbClr>
          </a:solidFill>
          <a:ln w="9525">
            <a:solidFill>
              <a:srgbClr val="78A0FF">
                <a:alpha val="25000"/>
              </a:srgb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1485900" y="3475831"/>
            <a:ext cx="4328319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 serve Qwen/Qwen2.5-7B-Instruct \</a:t>
            </a:r>
            <a:endParaRPr lang="en-US" sz="850" dirty="0"/>
          </a:p>
          <a:p>
            <a:pPr algn="l" indent="0" marL="0">
              <a:lnSpc>
                <a:spcPts val="136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--tensor-parallel-size 2 --max-model-len 8192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1377950" y="3967163"/>
            <a:ext cx="497128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5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默认监听 8000 端口，模型可替换为任意受支持的 HuggingFace 模型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711200" y="4376738"/>
            <a:ext cx="5289550" cy="1281906"/>
          </a:xfrm>
          <a:prstGeom prst="roundRect">
            <a:avLst>
              <a:gd name="adj" fmla="val 1387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pic>
        <p:nvPicPr>
          <p:cNvPr id="25" name="Image 3" descr="/tmp/claude-0/-home-claude/2b35665f-05e8-5c23-bf82-e38526784130/scratchpad/pptx/build/s9_r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4510088"/>
            <a:ext cx="342900" cy="3429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06450" y="4516438"/>
            <a:ext cx="5207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1377950" y="4510088"/>
            <a:ext cx="497128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调用接口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1377950" y="4789488"/>
            <a:ext cx="4438650" cy="510381"/>
          </a:xfrm>
          <a:prstGeom prst="roundRect">
            <a:avLst>
              <a:gd name="adj" fmla="val 14930"/>
            </a:avLst>
          </a:prstGeom>
          <a:solidFill>
            <a:srgbClr val="ECF2FF">
              <a:alpha val="80000"/>
            </a:srgbClr>
          </a:solidFill>
          <a:ln w="9525">
            <a:solidFill>
              <a:srgbClr val="78A0FF">
                <a:alpha val="25000"/>
              </a:srgbClr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1485900" y="4872038"/>
            <a:ext cx="4328319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localhost:8000/v1/chat/completions \</a:t>
            </a:r>
            <a:endParaRPr lang="en-US" sz="850" dirty="0"/>
          </a:p>
          <a:p>
            <a:pPr algn="l" indent="0" marL="0">
              <a:lnSpc>
                <a:spcPts val="136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-d @req.json</a:t>
            </a:r>
            <a:endParaRPr lang="en-US" sz="850" dirty="0"/>
          </a:p>
        </p:txBody>
      </p:sp>
      <p:sp>
        <p:nvSpPr>
          <p:cNvPr id="30" name="Text 24"/>
          <p:cNvSpPr txBox="1"/>
          <p:nvPr/>
        </p:nvSpPr>
        <p:spPr>
          <a:xfrm>
            <a:off x="1377950" y="5363369"/>
            <a:ext cx="497128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50" dirty="0">
                <a:solidFill>
                  <a:srgbClr val="5F6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也可直接使用 OpenAI Python SDK，将 base_url 指向本地服务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6191250" y="1756966"/>
            <a:ext cx="5289550" cy="2485628"/>
          </a:xfrm>
          <a:prstGeom prst="roundRect">
            <a:avLst>
              <a:gd name="adj" fmla="val 7153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sp>
        <p:nvSpPr>
          <p:cNvPr id="32" name="Text 26"/>
          <p:cNvSpPr txBox="1"/>
          <p:nvPr/>
        </p:nvSpPr>
        <p:spPr>
          <a:xfrm>
            <a:off x="6375400" y="1915716"/>
            <a:ext cx="169158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离线批量推理 · Python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10966450" y="1985566"/>
            <a:ext cx="76200" cy="76200"/>
          </a:xfrm>
          <a:prstGeom prst="ellipse">
            <a:avLst/>
          </a:prstGeom>
          <a:solidFill>
            <a:srgbClr val="F4A3A3"/>
          </a:solidFill>
          <a:ln/>
        </p:spPr>
      </p:sp>
      <p:sp>
        <p:nvSpPr>
          <p:cNvPr id="34" name="Shape 28"/>
          <p:cNvSpPr/>
          <p:nvPr/>
        </p:nvSpPr>
        <p:spPr>
          <a:xfrm>
            <a:off x="11093450" y="1985566"/>
            <a:ext cx="76200" cy="76200"/>
          </a:xfrm>
          <a:prstGeom prst="ellipse">
            <a:avLst/>
          </a:prstGeom>
          <a:solidFill>
            <a:srgbClr val="FFE08A"/>
          </a:solidFill>
          <a:ln/>
        </p:spPr>
      </p:sp>
      <p:sp>
        <p:nvSpPr>
          <p:cNvPr id="35" name="Shape 29"/>
          <p:cNvSpPr/>
          <p:nvPr/>
        </p:nvSpPr>
        <p:spPr>
          <a:xfrm>
            <a:off x="11220450" y="1985566"/>
            <a:ext cx="76200" cy="76200"/>
          </a:xfrm>
          <a:prstGeom prst="ellipse">
            <a:avLst/>
          </a:prstGeom>
          <a:solidFill>
            <a:srgbClr val="9FE0C6"/>
          </a:solidFill>
          <a:ln/>
        </p:spPr>
      </p:sp>
      <p:sp>
        <p:nvSpPr>
          <p:cNvPr id="36" name="Shape 30"/>
          <p:cNvSpPr/>
          <p:nvPr/>
        </p:nvSpPr>
        <p:spPr>
          <a:xfrm>
            <a:off x="6375400" y="2220516"/>
            <a:ext cx="4921250" cy="1863328"/>
          </a:xfrm>
          <a:prstGeom prst="roundRect">
            <a:avLst>
              <a:gd name="adj" fmla="val 5453"/>
            </a:avLst>
          </a:prstGeom>
          <a:solidFill>
            <a:srgbClr val="F0F5FF">
              <a:alpha val="85000"/>
            </a:srgbClr>
          </a:solidFill>
          <a:ln w="9525">
            <a:solidFill>
              <a:srgbClr val="78A0FF">
                <a:alpha val="22000"/>
              </a:srgbClr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508750" y="2315766"/>
            <a:ext cx="4770914" cy="1672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1F5F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vllm 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1F5F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LLM, SamplingParams</a:t>
            </a:r>
            <a:endParaRPr lang="en-US" sz="850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2A5B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(model=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2F8C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"Qwen/Qwen2.5-7B-Instruct"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tensor_parallel_size=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C25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2A5B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SamplingParams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(temperature=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C25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top_p=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C25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max_tokens=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C25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 = llm.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2A5B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2F8C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"简要介绍 PagedAttention"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params)</a:t>
            </a:r>
            <a:endParaRPr lang="en-US" sz="850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1F5F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 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1F5F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outputs:</a:t>
            </a:r>
            <a:endParaRPr lang="en-US" sz="850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2A5B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(o.outputs[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C25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1320"/>
              </a:lnSpc>
              <a:buNone/>
            </a:pPr>
            <a:r>
              <a:rPr lang="en-US" sz="850" dirty="0">
                <a:solidFill>
                  <a:srgbClr val="1E2F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].text)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6191250" y="4356894"/>
            <a:ext cx="5289550" cy="2221706"/>
          </a:xfrm>
          <a:prstGeom prst="roundRect">
            <a:avLst>
              <a:gd name="adj" fmla="val 8003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sp>
        <p:nvSpPr>
          <p:cNvPr id="39" name="Text 33"/>
          <p:cNvSpPr txBox="1"/>
          <p:nvPr/>
        </p:nvSpPr>
        <p:spPr>
          <a:xfrm>
            <a:off x="6375400" y="4490244"/>
            <a:ext cx="5511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常用调优参数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6375400" y="4718844"/>
            <a:ext cx="4921250" cy="0"/>
          </a:xfrm>
          <a:prstGeom prst="line">
            <a:avLst/>
          </a:prstGeom>
          <a:noFill/>
          <a:ln w="9525">
            <a:solidFill>
              <a:srgbClr val="506EAA">
                <a:alpha val="14000"/>
              </a:srgbClr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6375400" y="4775994"/>
            <a:ext cx="5511800" cy="14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A4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--gpu-memory-utilization</a:t>
            </a:r>
            <a:endParaRPr lang="en-US" sz="850" dirty="0"/>
          </a:p>
        </p:txBody>
      </p:sp>
      <p:sp>
        <p:nvSpPr>
          <p:cNvPr id="42" name="Text 36"/>
          <p:cNvSpPr txBox="1"/>
          <p:nvPr/>
        </p:nvSpPr>
        <p:spPr>
          <a:xfrm>
            <a:off x="6375400" y="4928394"/>
            <a:ext cx="55118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预留给模型与 KV Cache 的显存比例，默认 0.9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6375400" y="5137944"/>
            <a:ext cx="4921250" cy="0"/>
          </a:xfrm>
          <a:prstGeom prst="line">
            <a:avLst/>
          </a:prstGeom>
          <a:noFill/>
          <a:ln w="9525">
            <a:solidFill>
              <a:srgbClr val="506EAA">
                <a:alpha val="14000"/>
              </a:srgbClr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6375400" y="5195094"/>
            <a:ext cx="5511800" cy="14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A4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--max-model-len</a:t>
            </a:r>
            <a:endParaRPr lang="en-US" sz="850" dirty="0"/>
          </a:p>
        </p:txBody>
      </p:sp>
      <p:sp>
        <p:nvSpPr>
          <p:cNvPr id="45" name="Text 39"/>
          <p:cNvSpPr txBox="1"/>
          <p:nvPr/>
        </p:nvSpPr>
        <p:spPr>
          <a:xfrm>
            <a:off x="6375400" y="5347494"/>
            <a:ext cx="55118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最大上下文长度，调小可换取更多并发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6375400" y="5557044"/>
            <a:ext cx="4921250" cy="0"/>
          </a:xfrm>
          <a:prstGeom prst="line">
            <a:avLst/>
          </a:prstGeom>
          <a:noFill/>
          <a:ln w="9525">
            <a:solidFill>
              <a:srgbClr val="506EAA">
                <a:alpha val="14000"/>
              </a:srgbClr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6375400" y="5614194"/>
            <a:ext cx="5511800" cy="14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A4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--max-num-seqs</a:t>
            </a:r>
            <a:endParaRPr lang="en-US" sz="850" dirty="0"/>
          </a:p>
        </p:txBody>
      </p:sp>
      <p:sp>
        <p:nvSpPr>
          <p:cNvPr id="48" name="Text 42"/>
          <p:cNvSpPr txBox="1"/>
          <p:nvPr/>
        </p:nvSpPr>
        <p:spPr>
          <a:xfrm>
            <a:off x="6375400" y="5766594"/>
            <a:ext cx="55118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单步最大并发序列数，影响吞吐与延迟</a:t>
            </a:r>
            <a:endParaRPr lang="en-US" sz="850" dirty="0"/>
          </a:p>
        </p:txBody>
      </p:sp>
      <p:sp>
        <p:nvSpPr>
          <p:cNvPr id="49" name="Shape 43"/>
          <p:cNvSpPr/>
          <p:nvPr/>
        </p:nvSpPr>
        <p:spPr>
          <a:xfrm>
            <a:off x="6375400" y="5976144"/>
            <a:ext cx="4921250" cy="0"/>
          </a:xfrm>
          <a:prstGeom prst="line">
            <a:avLst/>
          </a:prstGeom>
          <a:noFill/>
          <a:ln w="9525">
            <a:solidFill>
              <a:srgbClr val="506EAA">
                <a:alpha val="14000"/>
              </a:srgbClr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6375400" y="6033294"/>
            <a:ext cx="5511800" cy="14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A4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--quantization</a:t>
            </a:r>
            <a:endParaRPr lang="en-US" sz="850" dirty="0"/>
          </a:p>
        </p:txBody>
      </p:sp>
      <p:sp>
        <p:nvSpPr>
          <p:cNvPr id="51" name="Text 45"/>
          <p:cNvSpPr txBox="1"/>
          <p:nvPr/>
        </p:nvSpPr>
        <p:spPr>
          <a:xfrm>
            <a:off x="6375400" y="6185694"/>
            <a:ext cx="55118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选择量化方案，如 awq、gptq、fp8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" y="355600"/>
            <a:ext cx="1823244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pic>
        <p:nvPicPr>
          <p:cNvPr id="3" name="Image 0" descr="/tmp/claude-0/-home-claude/2b35665f-05e8-5c23-bf82-e38526784130/scratchpad/pptx/build/s10_r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" y="425450"/>
            <a:ext cx="165100" cy="1651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35050" y="428625"/>
            <a:ext cx="155654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344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· 大模型推理框架介绍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10459641" y="434975"/>
            <a:ext cx="1046688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pPr algn="l" indent="0" marL="0">
              <a:buNone/>
            </a:pPr>
            <a:r>
              <a:rPr lang="en-US" sz="100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10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pPr algn="l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79450" y="904875"/>
            <a:ext cx="127000" cy="127000"/>
          </a:xfrm>
          <a:prstGeom prst="ellipse">
            <a:avLst/>
          </a:prstGeom>
          <a:solidFill>
            <a:srgbClr val="F27C7C">
              <a:alpha val="1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11200" y="936625"/>
            <a:ext cx="63500" cy="63500"/>
          </a:xfrm>
          <a:prstGeom prst="ellipse">
            <a:avLst/>
          </a:prstGeom>
          <a:solidFill>
            <a:srgbClr val="F27C7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0900" y="889000"/>
            <a:ext cx="1341338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50" spc="190" kern="0" dirty="0">
                <a:solidFill>
                  <a:srgbClr val="3F6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 · 总结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11200" y="1136650"/>
            <a:ext cx="5817616" cy="423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40"/>
              </a:lnSpc>
              <a:buNone/>
            </a:pPr>
            <a:r>
              <a:rPr lang="en-US" sz="2900" b="1" spc="-30" kern="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三个关键结论</a:t>
            </a:r>
            <a:endParaRPr lang="en-US" sz="2900" dirty="0"/>
          </a:p>
        </p:txBody>
      </p:sp>
      <p:sp>
        <p:nvSpPr>
          <p:cNvPr id="10" name="Shape 7"/>
          <p:cNvSpPr/>
          <p:nvPr/>
        </p:nvSpPr>
        <p:spPr>
          <a:xfrm>
            <a:off x="711200" y="1699816"/>
            <a:ext cx="5194300" cy="1461988"/>
          </a:xfrm>
          <a:prstGeom prst="roundRect">
            <a:avLst>
              <a:gd name="adj" fmla="val 1216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933450" y="2278360"/>
            <a:ext cx="52953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2A4FB8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01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50280" y="2178050"/>
            <a:ext cx="340231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显存是 LLM 推理的第一瓶颈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450280" y="2470150"/>
            <a:ext cx="3402314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Cache 的管理方式直接决定批大小与吞吐上限。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11200" y="3301504"/>
            <a:ext cx="5194300" cy="1461988"/>
          </a:xfrm>
          <a:prstGeom prst="roundRect">
            <a:avLst>
              <a:gd name="adj" fmla="val 1216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933450" y="3880048"/>
            <a:ext cx="52953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2A4FB8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1450280" y="3779738"/>
            <a:ext cx="388315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PagedAttention 是核心创新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450280" y="4071838"/>
            <a:ext cx="3883152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分页式块管理几乎消除碎片，并支持块级共享与写时复制。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11200" y="4903192"/>
            <a:ext cx="5194300" cy="1675309"/>
          </a:xfrm>
          <a:prstGeom prst="roundRect">
            <a:avLst>
              <a:gd name="adj" fmla="val 10613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933450" y="5588397"/>
            <a:ext cx="52953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2A4FB8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1450280" y="5381427"/>
            <a:ext cx="474092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系统级协同带来工程红利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450280" y="5673527"/>
            <a:ext cx="43387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3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连续批处理、前缀缓存、推测解码与量化共同构成完整的高性能服务栈。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286500" y="1568450"/>
            <a:ext cx="3427984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spc="-240" kern="0" dirty="0">
                <a:gradFill rotWithShape="1">
                  <a:gsLst>
                    <a:gs pos="0">
                      <a:srgbClr val="2F66EE"/>
                    </a:gs>
                    <a:gs pos="50000">
                      <a:srgbClr val="4F8DFA"/>
                    </a:gs>
                    <a:gs pos="100000">
                      <a:srgbClr val="35B3DA"/>
                    </a:gs>
                  </a:gsLst>
                  <a:lin ang="0" scaled="0"/>
                </a:gra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6000" dirty="0"/>
          </a:p>
        </p:txBody>
      </p:sp>
      <p:sp>
        <p:nvSpPr>
          <p:cNvPr id="23" name="Text 20"/>
          <p:cNvSpPr txBox="1"/>
          <p:nvPr/>
        </p:nvSpPr>
        <p:spPr>
          <a:xfrm>
            <a:off x="6286500" y="2419350"/>
            <a:ext cx="3427984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欢迎提问与交流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286500" y="2800350"/>
            <a:ext cx="342798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[汇报人姓名] · [邮箱 / 联系方式]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575800" y="1333500"/>
            <a:ext cx="1905000" cy="1905000"/>
          </a:xfrm>
          <a:prstGeom prst="ellipse">
            <a:avLst/>
          </a:prstGeom>
          <a:ln w="9525">
            <a:solidFill>
              <a:srgbClr val="4F86F7">
                <a:alpha val="28000"/>
              </a:srgbClr>
            </a:solidFill>
            <a:prstDash val="solid"/>
          </a:ln>
        </p:spPr>
      </p:sp>
      <p:pic>
        <p:nvPicPr>
          <p:cNvPr id="26" name="Image 1" descr="/tmp/claude-0/-home-claude/2b35665f-05e8-5c23-bf82-e38526784130/scratchpad/pptx/build/s10_r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400" y="1447800"/>
            <a:ext cx="1181100" cy="118110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9690100" y="2082800"/>
            <a:ext cx="1003300" cy="1003300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9893796" y="2387600"/>
            <a:ext cx="786408" cy="107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50" spc="13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650" dirty="0"/>
          </a:p>
        </p:txBody>
      </p:sp>
      <p:sp>
        <p:nvSpPr>
          <p:cNvPr id="29" name="Text 25"/>
          <p:cNvSpPr txBox="1"/>
          <p:nvPr/>
        </p:nvSpPr>
        <p:spPr>
          <a:xfrm>
            <a:off x="9955014" y="2533650"/>
            <a:ext cx="663873" cy="280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spc="-20" kern="0" dirty="0">
                <a:solidFill>
                  <a:srgbClr val="1424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lang="en-US" sz="1700" dirty="0"/>
          </a:p>
        </p:txBody>
      </p:sp>
      <p:sp>
        <p:nvSpPr>
          <p:cNvPr id="30" name="Shape 26"/>
          <p:cNvSpPr/>
          <p:nvPr/>
        </p:nvSpPr>
        <p:spPr>
          <a:xfrm>
            <a:off x="6286500" y="5105499"/>
            <a:ext cx="5194300" cy="1473101"/>
          </a:xfrm>
          <a:prstGeom prst="roundRect">
            <a:avLst>
              <a:gd name="adj" fmla="val 1207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0" dist="76200" dir="5400000">
              <a:srgbClr val="2846A0">
                <a:alpha val="13000"/>
              </a:srgbClr>
            </a:outerShdw>
          </a:effectLst>
        </p:spPr>
      </p:sp>
      <p:sp>
        <p:nvSpPr>
          <p:cNvPr id="31" name="Text 27"/>
          <p:cNvSpPr txBox="1"/>
          <p:nvPr/>
        </p:nvSpPr>
        <p:spPr>
          <a:xfrm>
            <a:off x="6483350" y="5276949"/>
            <a:ext cx="537667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5F6E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</a:t>
            </a:r>
            <a:endParaRPr lang="en-US" sz="750" dirty="0"/>
          </a:p>
        </p:txBody>
      </p:sp>
      <p:sp>
        <p:nvSpPr>
          <p:cNvPr id="32" name="Text 28"/>
          <p:cNvSpPr txBox="1"/>
          <p:nvPr/>
        </p:nvSpPr>
        <p:spPr>
          <a:xfrm>
            <a:off x="6483350" y="5467449"/>
            <a:ext cx="4920615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4A5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 W. Kwon et al. Efficient Memory Management for Large Language Model Serving with PagedAttention. SOSP 2023.</a:t>
            </a:r>
            <a:endParaRPr lang="en-US" sz="800" dirty="0"/>
          </a:p>
        </p:txBody>
      </p:sp>
      <p:sp>
        <p:nvSpPr>
          <p:cNvPr id="33" name="Text 29"/>
          <p:cNvSpPr txBox="1"/>
          <p:nvPr/>
        </p:nvSpPr>
        <p:spPr>
          <a:xfrm>
            <a:off x="6483350" y="5833170"/>
            <a:ext cx="5376672" cy="157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4A5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 vLLM Blog: Easy, Fast, and Cheap LLM Serving with PagedAttention, 2023.</a:t>
            </a:r>
            <a:endParaRPr lang="en-US" sz="800" dirty="0"/>
          </a:p>
        </p:txBody>
      </p:sp>
      <p:sp>
        <p:nvSpPr>
          <p:cNvPr id="34" name="Text 30"/>
          <p:cNvSpPr txBox="1"/>
          <p:nvPr/>
        </p:nvSpPr>
        <p:spPr>
          <a:xfrm>
            <a:off x="6483350" y="6041430"/>
            <a:ext cx="5376672" cy="157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4A5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 vLLM V1: A Major Upgrade to vLLM's Core Architecture, 2025.</a:t>
            </a:r>
            <a:endParaRPr lang="en-US" sz="800" dirty="0"/>
          </a:p>
        </p:txBody>
      </p:sp>
      <p:sp>
        <p:nvSpPr>
          <p:cNvPr id="35" name="Text 31"/>
          <p:cNvSpPr txBox="1"/>
          <p:nvPr/>
        </p:nvSpPr>
        <p:spPr>
          <a:xfrm>
            <a:off x="6483350" y="6249690"/>
            <a:ext cx="5376672" cy="157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4A5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 github.com/vllm-project/vllm · docs.vllm.ai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大模型推理框架 vLLM 介绍</dc:title>
  <dc:subject>PptxGenJS Presentation</dc:subject>
  <dc:creator>PptxGenJS</dc:creator>
  <cp:lastModifiedBy>PptxGenJS</cp:lastModifiedBy>
  <cp:revision>1</cp:revision>
  <dcterms:created xsi:type="dcterms:W3CDTF">2026-09-24T12:38:28Z</dcterms:created>
  <dcterms:modified xsi:type="dcterms:W3CDTF">2026-09-24T12:38:28Z</dcterms:modified>
</cp:coreProperties>
</file>